
<file path=[Content_Types].xml><?xml version="1.0" encoding="utf-8"?>
<Types xmlns="http://schemas.openxmlformats.org/package/2006/content-types">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1.xml" ContentType="application/vnd.openxmlformats-officedocument.presentationml.notesSlide+xml"/>
  <Override PartName="/ppt/charts/chart7.xml" ContentType="application/vnd.openxmlformats-officedocument.drawingml.chart+xml"/>
  <Override PartName="/ppt/notesSlides/notesSlide12.xml" ContentType="application/vnd.openxmlformats-officedocument.presentationml.notesSlide+xml"/>
  <Override PartName="/ppt/charts/chart8.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75" r:id="rId4"/>
    <p:sldId id="258" r:id="rId5"/>
    <p:sldId id="259" r:id="rId6"/>
    <p:sldId id="260" r:id="rId7"/>
    <p:sldId id="261" r:id="rId8"/>
    <p:sldId id="263" r:id="rId9"/>
    <p:sldId id="264" r:id="rId10"/>
    <p:sldId id="267" r:id="rId11"/>
    <p:sldId id="268" r:id="rId12"/>
    <p:sldId id="269" r:id="rId13"/>
    <p:sldId id="270" r:id="rId14"/>
    <p:sldId id="271" r:id="rId15"/>
    <p:sldId id="273" r:id="rId16"/>
    <p:sldId id="276" r:id="rId17"/>
    <p:sldId id="274"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82" dt="2026-09-17T20:26:30.798"/>
    <p1510:client id="{3B4EA5B8-83D5-9748-1500-278D2D55027C}" v="592" dt="2026-09-17T11:37:47.5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1A"/>
                </a:solidFill>
                <a:latin typeface="Times New Roman"/>
              </a:defRPr>
            </a:pPr>
            <a:r>
              <a:rPr lang="en-US" sz="1200" b="0" i="0" u="none" strike="noStrike">
                <a:solidFill>
                  <a:srgbClr val="1A1A1A"/>
                </a:solidFill>
                <a:latin typeface="Times New Roman"/>
              </a:rPr>
              <a:t>1. Sırada Belirtilen Gelir Kaynağı (%)</a:t>
            </a:r>
          </a:p>
        </c:rich>
      </c:tx>
      <c:overlay val="0"/>
    </c:title>
    <c:autoTitleDeleted val="0"/>
    <c:plotArea>
      <c:layout/>
      <c:barChart>
        <c:barDir val="col"/>
        <c:grouping val="clustered"/>
        <c:varyColors val="0"/>
        <c:ser>
          <c:idx val="0"/>
          <c:order val="0"/>
          <c:tx>
            <c:strRef>
              <c:f>Sheet1!$B$1</c:f>
              <c:strCache>
                <c:ptCount val="1"/>
                <c:pt idx="0">
                  <c:v>Tarımsal üretim faaliyetleri</c:v>
                </c:pt>
              </c:strCache>
            </c:strRef>
          </c:tx>
          <c:spPr>
            <a:solidFill>
              <a:srgbClr val="4472C4"/>
            </a:solidFill>
            <a:effectLst/>
          </c:spPr>
          <c:invertIfNegative val="0"/>
          <c:dLbls>
            <c:numFmt formatCode="0.0" sourceLinked="0"/>
            <c:spPr>
              <a:noFill/>
              <a:ln>
                <a:noFill/>
              </a:ln>
              <a:effectLst/>
            </c:spPr>
            <c:txPr>
              <a:bodyPr/>
              <a:lstStyle/>
              <a:p>
                <a:pPr>
                  <a:defRPr sz="1000" b="0" i="0" u="none" strike="noStrike">
                    <a:solidFill>
                      <a:srgbClr val="1A1A1A"/>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ŞANLIURFA</c:v>
                </c:pt>
                <c:pt idx="1">
                  <c:v>GAZİANTEP</c:v>
                </c:pt>
                <c:pt idx="2">
                  <c:v>KİLİS</c:v>
                </c:pt>
              </c:strCache>
            </c:strRef>
          </c:cat>
          <c:val>
            <c:numRef>
              <c:f>Sheet1!$B$2:$B$4</c:f>
              <c:numCache>
                <c:formatCode>General</c:formatCode>
                <c:ptCount val="3"/>
                <c:pt idx="0">
                  <c:v>74.400000000000006</c:v>
                </c:pt>
                <c:pt idx="1">
                  <c:v>72</c:v>
                </c:pt>
                <c:pt idx="2">
                  <c:v>83.1</c:v>
                </c:pt>
              </c:numCache>
            </c:numRef>
          </c:val>
          <c:extLst>
            <c:ext xmlns:c16="http://schemas.microsoft.com/office/drawing/2014/chart" uri="{C3380CC4-5D6E-409C-BE32-E72D297353CC}">
              <c16:uniqueId val="{00000000-E17E-4126-A158-983BA85B1272}"/>
            </c:ext>
          </c:extLst>
        </c:ser>
        <c:ser>
          <c:idx val="1"/>
          <c:order val="1"/>
          <c:tx>
            <c:strRef>
              <c:f>Sheet1!$C$1</c:f>
              <c:strCache>
                <c:ptCount val="1"/>
                <c:pt idx="0">
                  <c:v>Hayvancılık faaliyetleri</c:v>
                </c:pt>
              </c:strCache>
            </c:strRef>
          </c:tx>
          <c:spPr>
            <a:solidFill>
              <a:srgbClr val="ED7D31"/>
            </a:solidFill>
            <a:effectLst/>
          </c:spPr>
          <c:invertIfNegative val="0"/>
          <c:dLbls>
            <c:numFmt formatCode="0.0" sourceLinked="0"/>
            <c:spPr>
              <a:noFill/>
              <a:ln>
                <a:noFill/>
              </a:ln>
              <a:effectLst/>
            </c:spPr>
            <c:txPr>
              <a:bodyPr/>
              <a:lstStyle/>
              <a:p>
                <a:pPr>
                  <a:defRPr sz="1000" b="0" i="0" u="none" strike="noStrike">
                    <a:solidFill>
                      <a:srgbClr val="1A1A1A"/>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ŞANLIURFA</c:v>
                </c:pt>
                <c:pt idx="1">
                  <c:v>GAZİANTEP</c:v>
                </c:pt>
                <c:pt idx="2">
                  <c:v>KİLİS</c:v>
                </c:pt>
              </c:strCache>
            </c:strRef>
          </c:cat>
          <c:val>
            <c:numRef>
              <c:f>Sheet1!$C$2:$C$4</c:f>
              <c:numCache>
                <c:formatCode>General</c:formatCode>
                <c:ptCount val="3"/>
                <c:pt idx="0">
                  <c:v>18.7</c:v>
                </c:pt>
                <c:pt idx="1">
                  <c:v>7.6</c:v>
                </c:pt>
                <c:pt idx="2">
                  <c:v>5.6</c:v>
                </c:pt>
              </c:numCache>
            </c:numRef>
          </c:val>
          <c:extLst>
            <c:ext xmlns:c16="http://schemas.microsoft.com/office/drawing/2014/chart" uri="{C3380CC4-5D6E-409C-BE32-E72D297353CC}">
              <c16:uniqueId val="{00000001-E17E-4126-A158-983BA85B127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95959"/>
                </a:solidFill>
                <a:latin typeface="Times New Roman"/>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9525"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Times New Roman"/>
              </a:defRPr>
            </a:pPr>
            <a:endParaRPr lang="en-US"/>
          </a:p>
        </c:txPr>
        <c:crossAx val="2094734554"/>
        <c:crosses val="autoZero"/>
        <c:crossBetween val="between"/>
      </c:valAx>
      <c:spPr>
        <a:noFill/>
        <a:ln>
          <a:noFill/>
        </a:ln>
        <a:effectLst/>
      </c:spPr>
    </c:plotArea>
    <c:legend>
      <c:legendPos val="b"/>
      <c:overlay val="0"/>
      <c:txPr>
        <a:bodyPr/>
        <a:lstStyle/>
        <a:p>
          <a:pPr>
            <a:defRPr sz="1000">
              <a:latin typeface="Times New Roman"/>
              <a:cs typeface="Times New Roman"/>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1A"/>
                </a:solidFill>
                <a:latin typeface="Times New Roman"/>
              </a:defRPr>
            </a:pPr>
            <a:r>
              <a:rPr lang="en-US" sz="1200" b="0" i="0" u="none" strike="noStrike">
                <a:solidFill>
                  <a:srgbClr val="1A1A1A"/>
                </a:solidFill>
                <a:latin typeface="Times New Roman"/>
              </a:rPr>
              <a:t>Satış Yeri Kapsamı (349 kayıt)</a:t>
            </a:r>
          </a:p>
        </c:rich>
      </c:tx>
      <c:overlay val="0"/>
    </c:title>
    <c:autoTitleDeleted val="0"/>
    <c:plotArea>
      <c:layout/>
      <c:pieChart>
        <c:varyColors val="1"/>
        <c:ser>
          <c:idx val="0"/>
          <c:order val="0"/>
          <c:tx>
            <c:strRef>
              <c:f>Sheet1!$B$1</c:f>
              <c:strCache>
                <c:ptCount val="1"/>
                <c:pt idx="0">
                  <c:v>Satış Kapsamı</c:v>
                </c:pt>
              </c:strCache>
            </c:strRef>
          </c:tx>
          <c:spPr>
            <a:solidFill>
              <a:schemeClr val="accent1"/>
            </a:solidFill>
            <a:ln w="9525" cap="flat">
              <a:solidFill>
                <a:srgbClr val="F9F9F9"/>
              </a:solidFill>
              <a:prstDash val="solid"/>
              <a:round/>
            </a:ln>
            <a:effectLst/>
          </c:spPr>
          <c:dPt>
            <c:idx val="0"/>
            <c:bubble3D val="0"/>
            <c:spPr>
              <a:solidFill>
                <a:srgbClr val="4472C4"/>
              </a:solidFill>
              <a:effectLst/>
            </c:spPr>
            <c:extLst>
              <c:ext xmlns:c16="http://schemas.microsoft.com/office/drawing/2014/chart" uri="{C3380CC4-5D6E-409C-BE32-E72D297353CC}">
                <c16:uniqueId val="{00000001-FB63-4D67-92E3-83ABBB632643}"/>
              </c:ext>
            </c:extLst>
          </c:dPt>
          <c:dPt>
            <c:idx val="1"/>
            <c:bubble3D val="0"/>
            <c:spPr>
              <a:solidFill>
                <a:srgbClr val="ED7D31"/>
              </a:solidFill>
              <a:effectLst/>
            </c:spPr>
            <c:extLst>
              <c:ext xmlns:c16="http://schemas.microsoft.com/office/drawing/2014/chart" uri="{C3380CC4-5D6E-409C-BE32-E72D297353CC}">
                <c16:uniqueId val="{00000003-FB63-4D67-92E3-83ABBB632643}"/>
              </c:ext>
            </c:extLst>
          </c:dPt>
          <c:dLbls>
            <c:dLbl>
              <c:idx val="0"/>
              <c:numFmt formatCode="0.0%" sourceLinked="0"/>
              <c:spPr/>
              <c:txPr>
                <a:bodyPr/>
                <a:lstStyle/>
                <a:p>
                  <a:pPr>
                    <a:defRPr sz="1100" b="0" i="0" u="none" strike="noStrike">
                      <a:solidFill>
                        <a:srgbClr val="FFFFFF"/>
                      </a:solidFill>
                      <a:latin typeface="Times New Roman"/>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B63-4D67-92E3-83ABBB632643}"/>
                </c:ext>
              </c:extLst>
            </c:dLbl>
            <c:dLbl>
              <c:idx val="1"/>
              <c:numFmt formatCode="0.0%" sourceLinked="0"/>
              <c:spPr/>
              <c:txPr>
                <a:bodyPr/>
                <a:lstStyle/>
                <a:p>
                  <a:pPr>
                    <a:defRPr sz="1100" b="0" i="0" u="none" strike="noStrike">
                      <a:solidFill>
                        <a:srgbClr val="FFFFFF"/>
                      </a:solidFill>
                      <a:latin typeface="Times New Roman"/>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B63-4D67-92E3-83ABBB632643}"/>
                </c:ext>
              </c:extLst>
            </c:dLbl>
            <c:numFmt formatCode="0.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Kendi il sınırları içinde</c:v>
                </c:pt>
                <c:pt idx="1">
                  <c:v>İl dışına satış</c:v>
                </c:pt>
              </c:strCache>
            </c:strRef>
          </c:cat>
          <c:val>
            <c:numRef>
              <c:f>Sheet1!$B$2:$B$3</c:f>
              <c:numCache>
                <c:formatCode>General</c:formatCode>
                <c:ptCount val="2"/>
                <c:pt idx="0">
                  <c:v>0.88300000000000001</c:v>
                </c:pt>
                <c:pt idx="1">
                  <c:v>0.11700000000000001</c:v>
                </c:pt>
              </c:numCache>
            </c:numRef>
          </c:val>
          <c:extLst>
            <c:ext xmlns:c16="http://schemas.microsoft.com/office/drawing/2014/chart" uri="{C3380CC4-5D6E-409C-BE32-E72D297353CC}">
              <c16:uniqueId val="{00000004-FB63-4D67-92E3-83ABBB632643}"/>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000">
              <a:latin typeface="Times New Roman"/>
              <a:cs typeface="Times New Roman"/>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1A"/>
                </a:solidFill>
                <a:latin typeface="Times New Roman"/>
              </a:defRPr>
            </a:pPr>
            <a:r>
              <a:rPr lang="en-US" sz="1200" b="0" i="0" u="none" strike="noStrike">
                <a:solidFill>
                  <a:srgbClr val="1A1A1A"/>
                </a:solidFill>
                <a:latin typeface="Times New Roman"/>
              </a:rPr>
              <a:t>En Yaygın 6 Üretim Faaliyeti</a:t>
            </a:r>
          </a:p>
        </c:rich>
      </c:tx>
      <c:overlay val="0"/>
    </c:title>
    <c:autoTitleDeleted val="0"/>
    <c:plotArea>
      <c:layout/>
      <c:barChart>
        <c:barDir val="bar"/>
        <c:grouping val="clustered"/>
        <c:varyColors val="0"/>
        <c:ser>
          <c:idx val="0"/>
          <c:order val="0"/>
          <c:tx>
            <c:strRef>
              <c:f>Sheet1!$B$1</c:f>
              <c:strCache>
                <c:ptCount val="1"/>
                <c:pt idx="0">
                  <c:v>Yerleşim sayısı</c:v>
                </c:pt>
              </c:strCache>
            </c:strRef>
          </c:tx>
          <c:spPr>
            <a:solidFill>
              <a:srgbClr val="4472C4"/>
            </a:solidFill>
            <a:effectLst/>
          </c:spPr>
          <c:invertIfNegative val="0"/>
          <c:dLbls>
            <c:numFmt formatCode="#,##0" sourceLinked="0"/>
            <c:spPr>
              <a:noFill/>
              <a:ln>
                <a:noFill/>
              </a:ln>
              <a:effectLst/>
            </c:spPr>
            <c:txPr>
              <a:bodyPr/>
              <a:lstStyle/>
              <a:p>
                <a:pPr>
                  <a:defRPr sz="950" b="0" i="0" u="none" strike="noStrike">
                    <a:solidFill>
                      <a:srgbClr val="1A1A1A"/>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Tahıl / Baklagil</c:v>
                </c:pt>
                <c:pt idx="1">
                  <c:v>Küçükbaş Hayvancılık</c:v>
                </c:pt>
                <c:pt idx="2">
                  <c:v>Büyükbaş Hayvancılık</c:v>
                </c:pt>
                <c:pt idx="3">
                  <c:v>Sebze (Sera Dışı)</c:v>
                </c:pt>
                <c:pt idx="4">
                  <c:v>Süt Ürünleri</c:v>
                </c:pt>
                <c:pt idx="5">
                  <c:v>Meyve (Sera Dışı)</c:v>
                </c:pt>
              </c:strCache>
            </c:strRef>
          </c:cat>
          <c:val>
            <c:numRef>
              <c:f>Sheet1!$B$2:$B$7</c:f>
              <c:numCache>
                <c:formatCode>General</c:formatCode>
                <c:ptCount val="6"/>
                <c:pt idx="0">
                  <c:v>332</c:v>
                </c:pt>
                <c:pt idx="1">
                  <c:v>326</c:v>
                </c:pt>
                <c:pt idx="2">
                  <c:v>318</c:v>
                </c:pt>
                <c:pt idx="3">
                  <c:v>199</c:v>
                </c:pt>
                <c:pt idx="4">
                  <c:v>189</c:v>
                </c:pt>
                <c:pt idx="5">
                  <c:v>156</c:v>
                </c:pt>
              </c:numCache>
            </c:numRef>
          </c:val>
          <c:extLst>
            <c:ext xmlns:c16="http://schemas.microsoft.com/office/drawing/2014/chart" uri="{C3380CC4-5D6E-409C-BE32-E72D297353CC}">
              <c16:uniqueId val="{00000000-293E-4799-9361-B3AFEB2D6A8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1A1A"/>
                </a:solidFill>
                <a:latin typeface="Times New Roman"/>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95959"/>
                </a:solidFill>
                <a:latin typeface="Times New Roman"/>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1A"/>
                </a:solidFill>
                <a:latin typeface="Times New Roman"/>
              </a:defRPr>
            </a:pPr>
            <a:r>
              <a:rPr lang="en-US" sz="1200" b="0" i="0" u="none" strike="noStrike">
                <a:solidFill>
                  <a:srgbClr val="1A1A1A"/>
                </a:solidFill>
                <a:latin typeface="Times New Roman"/>
              </a:rPr>
              <a:t>Hizmetin Yerleşimde Bulunmama Oranı (%)</a:t>
            </a:r>
          </a:p>
        </c:rich>
      </c:tx>
      <c:overlay val="0"/>
    </c:title>
    <c:autoTitleDeleted val="0"/>
    <c:plotArea>
      <c:layout/>
      <c:barChart>
        <c:barDir val="bar"/>
        <c:grouping val="clustered"/>
        <c:varyColors val="0"/>
        <c:ser>
          <c:idx val="0"/>
          <c:order val="0"/>
          <c:tx>
            <c:strRef>
              <c:f>Sheet1!$B$1</c:f>
              <c:strCache>
                <c:ptCount val="1"/>
                <c:pt idx="0">
                  <c:v>Yerleşimde bulunmama oranı (%)</c:v>
                </c:pt>
              </c:strCache>
            </c:strRef>
          </c:tx>
          <c:spPr>
            <a:solidFill>
              <a:srgbClr val="4472C4"/>
            </a:solidFill>
            <a:effectLst/>
          </c:spPr>
          <c:invertIfNegative val="0"/>
          <c:dLbls>
            <c:numFmt formatCode="#,##0" sourceLinked="0"/>
            <c:spPr>
              <a:noFill/>
              <a:ln>
                <a:noFill/>
              </a:ln>
              <a:effectLst/>
            </c:spPr>
            <c:txPr>
              <a:bodyPr/>
              <a:lstStyle/>
              <a:p>
                <a:pPr>
                  <a:defRPr sz="1000" b="0" i="0" u="none" strike="noStrike">
                    <a:solidFill>
                      <a:srgbClr val="1A1A1A"/>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Hastane</c:v>
                </c:pt>
                <c:pt idx="1">
                  <c:v>Meslek Lisesi</c:v>
                </c:pt>
                <c:pt idx="2">
                  <c:v>Lise</c:v>
                </c:pt>
                <c:pt idx="3">
                  <c:v>Pazar (Meyve-Sebze)</c:v>
                </c:pt>
                <c:pt idx="4">
                  <c:v>Eczane / İlaç</c:v>
                </c:pt>
                <c:pt idx="5">
                  <c:v>Aile Sağlığı Merkezi</c:v>
                </c:pt>
                <c:pt idx="6">
                  <c:v>Ortaokul</c:v>
                </c:pt>
                <c:pt idx="7">
                  <c:v>İlkokul</c:v>
                </c:pt>
              </c:strCache>
            </c:strRef>
          </c:cat>
          <c:val>
            <c:numRef>
              <c:f>Sheet1!$B$2:$B$9</c:f>
              <c:numCache>
                <c:formatCode>General</c:formatCode>
                <c:ptCount val="8"/>
                <c:pt idx="0">
                  <c:v>98.4</c:v>
                </c:pt>
                <c:pt idx="1">
                  <c:v>96.8</c:v>
                </c:pt>
                <c:pt idx="2">
                  <c:v>94.4</c:v>
                </c:pt>
                <c:pt idx="3">
                  <c:v>93</c:v>
                </c:pt>
                <c:pt idx="4">
                  <c:v>87.3</c:v>
                </c:pt>
                <c:pt idx="5">
                  <c:v>84.8</c:v>
                </c:pt>
                <c:pt idx="6">
                  <c:v>66.900000000000006</c:v>
                </c:pt>
                <c:pt idx="7">
                  <c:v>39</c:v>
                </c:pt>
              </c:numCache>
            </c:numRef>
          </c:val>
          <c:extLst>
            <c:ext xmlns:c16="http://schemas.microsoft.com/office/drawing/2014/chart" uri="{C3380CC4-5D6E-409C-BE32-E72D297353CC}">
              <c16:uniqueId val="{00000000-B23C-4929-9DC9-C61BD415C78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1A"/>
                </a:solidFill>
                <a:latin typeface="Times New Roman"/>
              </a:defRPr>
            </a:pPr>
            <a:endParaRPr lang="en-US"/>
          </a:p>
        </c:txPr>
        <c:crossAx val="2094734552"/>
        <c:crosses val="autoZero"/>
        <c:auto val="1"/>
        <c:lblAlgn val="ctr"/>
        <c:lblOffset val="100"/>
        <c:noMultiLvlLbl val="1"/>
      </c:catAx>
      <c:valAx>
        <c:axId val="2094734552"/>
        <c:scaling>
          <c:orientation val="minMax"/>
          <c:max val="100"/>
        </c:scaling>
        <c:delete val="0"/>
        <c:axPos val="b"/>
        <c:majorGridlines>
          <c:spPr>
            <a:ln w="9525"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95959"/>
                </a:solidFill>
                <a:latin typeface="Times New Roman"/>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A1A1A"/>
                </a:solidFill>
                <a:latin typeface="Times New Roman"/>
              </a:defRPr>
            </a:pPr>
            <a:r>
              <a:rPr lang="en-US" sz="1150" b="0" i="0" u="none" strike="noStrike">
                <a:solidFill>
                  <a:srgbClr val="1A1A1A"/>
                </a:solidFill>
                <a:latin typeface="Times New Roman"/>
              </a:rPr>
              <a:t>İl Bazında Gidiş / Geliş Oranı (%)</a:t>
            </a:r>
          </a:p>
        </c:rich>
      </c:tx>
      <c:overlay val="0"/>
    </c:title>
    <c:autoTitleDeleted val="0"/>
    <c:plotArea>
      <c:layout/>
      <c:barChart>
        <c:barDir val="col"/>
        <c:grouping val="clustered"/>
        <c:varyColors val="0"/>
        <c:ser>
          <c:idx val="0"/>
          <c:order val="0"/>
          <c:tx>
            <c:strRef>
              <c:f>Sheet1!$B$1</c:f>
              <c:strCache>
                <c:ptCount val="1"/>
                <c:pt idx="0">
                  <c:v>Dışa hareketlilik (%)</c:v>
                </c:pt>
              </c:strCache>
            </c:strRef>
          </c:tx>
          <c:spPr>
            <a:solidFill>
              <a:srgbClr val="4472C4"/>
            </a:solidFill>
            <a:effectLst/>
          </c:spPr>
          <c:invertIfNegative val="0"/>
          <c:dLbls>
            <c:numFmt formatCode="#,##0" sourceLinked="0"/>
            <c:spPr>
              <a:noFill/>
              <a:ln>
                <a:noFill/>
              </a:ln>
              <a:effectLst/>
            </c:spPr>
            <c:txPr>
              <a:bodyPr/>
              <a:lstStyle/>
              <a:p>
                <a:pPr>
                  <a:defRPr sz="900" b="0" i="0" u="none" strike="noStrike">
                    <a:solidFill>
                      <a:srgbClr val="1A1A1A"/>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ŞANLIURFA</c:v>
                </c:pt>
                <c:pt idx="1">
                  <c:v>GAZİANTEP</c:v>
                </c:pt>
                <c:pt idx="2">
                  <c:v>KİLİS</c:v>
                </c:pt>
              </c:strCache>
            </c:strRef>
          </c:cat>
          <c:val>
            <c:numRef>
              <c:f>Sheet1!$B$2:$B$4</c:f>
              <c:numCache>
                <c:formatCode>General</c:formatCode>
                <c:ptCount val="3"/>
                <c:pt idx="0">
                  <c:v>79</c:v>
                </c:pt>
                <c:pt idx="1">
                  <c:v>74.2</c:v>
                </c:pt>
                <c:pt idx="2">
                  <c:v>53.2</c:v>
                </c:pt>
              </c:numCache>
            </c:numRef>
          </c:val>
          <c:extLst>
            <c:ext xmlns:c16="http://schemas.microsoft.com/office/drawing/2014/chart" uri="{C3380CC4-5D6E-409C-BE32-E72D297353CC}">
              <c16:uniqueId val="{00000000-BD8B-4625-9168-D4ACB194258C}"/>
            </c:ext>
          </c:extLst>
        </c:ser>
        <c:ser>
          <c:idx val="1"/>
          <c:order val="1"/>
          <c:tx>
            <c:strRef>
              <c:f>Sheet1!$C$1</c:f>
              <c:strCache>
                <c:ptCount val="1"/>
                <c:pt idx="0">
                  <c:v>İçe hareketlilik (%)</c:v>
                </c:pt>
              </c:strCache>
            </c:strRef>
          </c:tx>
          <c:spPr>
            <a:solidFill>
              <a:srgbClr val="ED7D31"/>
            </a:solidFill>
            <a:effectLst/>
          </c:spPr>
          <c:invertIfNegative val="0"/>
          <c:dLbls>
            <c:numFmt formatCode="#,##0" sourceLinked="0"/>
            <c:spPr>
              <a:noFill/>
              <a:ln>
                <a:noFill/>
              </a:ln>
              <a:effectLst/>
            </c:spPr>
            <c:txPr>
              <a:bodyPr/>
              <a:lstStyle/>
              <a:p>
                <a:pPr>
                  <a:defRPr sz="900" b="0" i="0" u="none" strike="noStrike">
                    <a:solidFill>
                      <a:srgbClr val="1A1A1A"/>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ŞANLIURFA</c:v>
                </c:pt>
                <c:pt idx="1">
                  <c:v>GAZİANTEP</c:v>
                </c:pt>
                <c:pt idx="2">
                  <c:v>KİLİS</c:v>
                </c:pt>
              </c:strCache>
            </c:strRef>
          </c:cat>
          <c:val>
            <c:numRef>
              <c:f>Sheet1!$C$2:$C$4</c:f>
              <c:numCache>
                <c:formatCode>General</c:formatCode>
                <c:ptCount val="3"/>
                <c:pt idx="0">
                  <c:v>25.4</c:v>
                </c:pt>
                <c:pt idx="1">
                  <c:v>32.299999999999997</c:v>
                </c:pt>
                <c:pt idx="2">
                  <c:v>45.2</c:v>
                </c:pt>
              </c:numCache>
            </c:numRef>
          </c:val>
          <c:extLst>
            <c:ext xmlns:c16="http://schemas.microsoft.com/office/drawing/2014/chart" uri="{C3380CC4-5D6E-409C-BE32-E72D297353CC}">
              <c16:uniqueId val="{00000001-BD8B-4625-9168-D4ACB194258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Times New Roman"/>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9525"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95959"/>
                </a:solidFill>
                <a:latin typeface="Times New Roman"/>
              </a:defRPr>
            </a:pPr>
            <a:endParaRPr lang="en-US"/>
          </a:p>
        </c:txPr>
        <c:crossAx val="2094734554"/>
        <c:crosses val="autoZero"/>
        <c:crossBetween val="between"/>
      </c:valAx>
      <c:spPr>
        <a:noFill/>
        <a:ln>
          <a:noFill/>
        </a:ln>
        <a:effectLst/>
      </c:spPr>
    </c:plotArea>
    <c:legend>
      <c:legendPos val="b"/>
      <c:overlay val="0"/>
      <c:txPr>
        <a:bodyPr/>
        <a:lstStyle/>
        <a:p>
          <a:pPr>
            <a:defRPr sz="950">
              <a:latin typeface="Times New Roman"/>
              <a:cs typeface="Times New Roman"/>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A1A1A"/>
                </a:solidFill>
                <a:latin typeface="Times New Roman"/>
              </a:defRPr>
            </a:pPr>
            <a:r>
              <a:rPr lang="en-US" sz="1150" b="0" i="0" u="none" strike="noStrike">
                <a:solidFill>
                  <a:srgbClr val="1A1A1A"/>
                </a:solidFill>
                <a:latin typeface="Times New Roman"/>
              </a:rPr>
              <a:t>Gidiş Türü Dağılımı</a:t>
            </a:r>
          </a:p>
        </c:rich>
      </c:tx>
      <c:overlay val="0"/>
    </c:title>
    <c:autoTitleDeleted val="0"/>
    <c:plotArea>
      <c:layout/>
      <c:barChart>
        <c:barDir val="bar"/>
        <c:grouping val="clustered"/>
        <c:varyColors val="0"/>
        <c:ser>
          <c:idx val="0"/>
          <c:order val="0"/>
          <c:tx>
            <c:strRef>
              <c:f>Sheet1!$B$1</c:f>
              <c:strCache>
                <c:ptCount val="1"/>
                <c:pt idx="0">
                  <c:v>Kayıt sayısı</c:v>
                </c:pt>
              </c:strCache>
            </c:strRef>
          </c:tx>
          <c:spPr>
            <a:solidFill>
              <a:srgbClr val="4472C4"/>
            </a:solidFill>
            <a:effectLst/>
          </c:spPr>
          <c:invertIfNegative val="0"/>
          <c:dLbls>
            <c:numFmt formatCode="#,##0" sourceLinked="0"/>
            <c:spPr>
              <a:noFill/>
              <a:ln>
                <a:noFill/>
              </a:ln>
              <a:effectLst/>
            </c:spPr>
            <c:txPr>
              <a:bodyPr/>
              <a:lstStyle/>
              <a:p>
                <a:pPr>
                  <a:defRPr sz="950" b="0" i="0" u="none" strike="noStrike">
                    <a:solidFill>
                      <a:srgbClr val="1A1A1A"/>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Mevsimlik tarım işç.</c:v>
                </c:pt>
                <c:pt idx="1">
                  <c:v>Mevsimlik inşaat işç.</c:v>
                </c:pt>
                <c:pt idx="2">
                  <c:v>Düzenli günlük çalışma</c:v>
                </c:pt>
                <c:pt idx="3">
                  <c:v>Mevsimlik turizm işç.</c:v>
                </c:pt>
                <c:pt idx="4">
                  <c:v>Diğer işler</c:v>
                </c:pt>
              </c:strCache>
            </c:strRef>
          </c:cat>
          <c:val>
            <c:numRef>
              <c:f>Sheet1!$B$2:$B$6</c:f>
              <c:numCache>
                <c:formatCode>General</c:formatCode>
                <c:ptCount val="5"/>
                <c:pt idx="0">
                  <c:v>134</c:v>
                </c:pt>
                <c:pt idx="1">
                  <c:v>57</c:v>
                </c:pt>
                <c:pt idx="2">
                  <c:v>55</c:v>
                </c:pt>
                <c:pt idx="3">
                  <c:v>30</c:v>
                </c:pt>
                <c:pt idx="4">
                  <c:v>26</c:v>
                </c:pt>
              </c:numCache>
            </c:numRef>
          </c:val>
          <c:extLst>
            <c:ext xmlns:c16="http://schemas.microsoft.com/office/drawing/2014/chart" uri="{C3380CC4-5D6E-409C-BE32-E72D297353CC}">
              <c16:uniqueId val="{00000000-3ED6-4F3B-8AF6-16FCFC85B6E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A1A1A"/>
                </a:solidFill>
                <a:latin typeface="Times New Roman"/>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95959"/>
                </a:solidFill>
                <a:latin typeface="Times New Roman"/>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1A"/>
                </a:solidFill>
                <a:latin typeface="Times New Roman"/>
              </a:defRPr>
            </a:pPr>
            <a:r>
              <a:rPr lang="en-US" sz="1200" b="0" i="0" u="none" strike="noStrike">
                <a:solidFill>
                  <a:srgbClr val="1A1A1A"/>
                </a:solidFill>
                <a:latin typeface="Times New Roman"/>
              </a:rPr>
              <a:t>Son 5 Yılda "Azaldı" Yönünde Algı Bildiren Yerleşim Oranı (%)</a:t>
            </a:r>
          </a:p>
        </c:rich>
      </c:tx>
      <c:overlay val="0"/>
    </c:title>
    <c:autoTitleDeleted val="0"/>
    <c:plotArea>
      <c:layout/>
      <c:barChart>
        <c:barDir val="bar"/>
        <c:grouping val="clustered"/>
        <c:varyColors val="0"/>
        <c:ser>
          <c:idx val="0"/>
          <c:order val="0"/>
          <c:tx>
            <c:strRef>
              <c:f>Sheet1!$B$1</c:f>
              <c:strCache>
                <c:ptCount val="1"/>
                <c:pt idx="0">
                  <c:v>"Azaldı" diyen yerleşim oranı (%)</c:v>
                </c:pt>
              </c:strCache>
            </c:strRef>
          </c:tx>
          <c:spPr>
            <a:solidFill>
              <a:srgbClr val="4472C4"/>
            </a:solidFill>
            <a:effectLst/>
          </c:spPr>
          <c:invertIfNegative val="0"/>
          <c:dLbls>
            <c:numFmt formatCode="#,##0" sourceLinked="0"/>
            <c:spPr>
              <a:noFill/>
              <a:ln>
                <a:noFill/>
              </a:ln>
              <a:effectLst/>
            </c:spPr>
            <c:txPr>
              <a:bodyPr/>
              <a:lstStyle/>
              <a:p>
                <a:pPr>
                  <a:defRPr sz="1100" b="0" i="0" u="none" strike="noStrike">
                    <a:solidFill>
                      <a:srgbClr val="1A1A1A"/>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Gençlerin tarımdaki payı</c:v>
                </c:pt>
                <c:pt idx="1">
                  <c:v>Su kaynakları</c:v>
                </c:pt>
                <c:pt idx="2">
                  <c:v>Tarımsal üretim miktarı</c:v>
                </c:pt>
                <c:pt idx="3">
                  <c:v>Hayvancılık</c:v>
                </c:pt>
              </c:strCache>
            </c:strRef>
          </c:cat>
          <c:val>
            <c:numRef>
              <c:f>Sheet1!$B$2:$B$5</c:f>
              <c:numCache>
                <c:formatCode>General</c:formatCode>
                <c:ptCount val="4"/>
                <c:pt idx="0">
                  <c:v>83.8</c:v>
                </c:pt>
                <c:pt idx="1">
                  <c:v>76.599999999999994</c:v>
                </c:pt>
                <c:pt idx="2">
                  <c:v>75.5</c:v>
                </c:pt>
                <c:pt idx="3">
                  <c:v>69.8</c:v>
                </c:pt>
              </c:numCache>
            </c:numRef>
          </c:val>
          <c:extLst>
            <c:ext xmlns:c16="http://schemas.microsoft.com/office/drawing/2014/chart" uri="{C3380CC4-5D6E-409C-BE32-E72D297353CC}">
              <c16:uniqueId val="{00000000-C369-442B-A141-343FD2F9C87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A"/>
                </a:solidFill>
                <a:latin typeface="Times New Roman"/>
              </a:defRPr>
            </a:pPr>
            <a:endParaRPr lang="en-US"/>
          </a:p>
        </c:txPr>
        <c:crossAx val="2094734552"/>
        <c:crosses val="autoZero"/>
        <c:auto val="1"/>
        <c:lblAlgn val="ctr"/>
        <c:lblOffset val="100"/>
        <c:noMultiLvlLbl val="1"/>
      </c:catAx>
      <c:valAx>
        <c:axId val="2094734552"/>
        <c:scaling>
          <c:orientation val="minMax"/>
          <c:max val="100"/>
        </c:scaling>
        <c:delete val="0"/>
        <c:axPos val="b"/>
        <c:majorGridlines>
          <c:spPr>
            <a:ln w="9525"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95959"/>
                </a:solidFill>
                <a:latin typeface="Times New Roman"/>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1A"/>
                </a:solidFill>
                <a:latin typeface="Times New Roman"/>
              </a:defRPr>
            </a:pPr>
            <a:r>
              <a:rPr lang="en-US" sz="1200" b="0" i="0" u="none" strike="noStrike">
                <a:solidFill>
                  <a:srgbClr val="1A1A1A"/>
                </a:solidFill>
                <a:latin typeface="Times New Roman"/>
              </a:rPr>
              <a:t>1. Sırada Belirtilen Tehdit — İl Karşılaştırması (%)</a:t>
            </a:r>
          </a:p>
        </c:rich>
      </c:tx>
      <c:overlay val="0"/>
    </c:title>
    <c:autoTitleDeleted val="0"/>
    <c:plotArea>
      <c:layout/>
      <c:barChart>
        <c:barDir val="col"/>
        <c:grouping val="clustered"/>
        <c:varyColors val="0"/>
        <c:ser>
          <c:idx val="0"/>
          <c:order val="0"/>
          <c:tx>
            <c:strRef>
              <c:f>Sheet1!$B$1</c:f>
              <c:strCache>
                <c:ptCount val="1"/>
                <c:pt idx="0">
                  <c:v>Şanlıurfa</c:v>
                </c:pt>
              </c:strCache>
            </c:strRef>
          </c:tx>
          <c:spPr>
            <a:solidFill>
              <a:srgbClr val="4472C4"/>
            </a:solidFill>
            <a:effectLst/>
          </c:spPr>
          <c:invertIfNegative val="0"/>
          <c:dLbls>
            <c:numFmt formatCode="#,##0" sourceLinked="0"/>
            <c:spPr>
              <a:noFill/>
              <a:ln>
                <a:noFill/>
              </a:ln>
              <a:effectLst/>
            </c:spPr>
            <c:txPr>
              <a:bodyPr/>
              <a:lstStyle/>
              <a:p>
                <a:pPr>
                  <a:defRPr sz="950" b="0" i="0" u="none" strike="noStrike">
                    <a:solidFill>
                      <a:srgbClr val="1A1A1A"/>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 yoksunluğu</c:v>
                </c:pt>
                <c:pt idx="1">
                  <c:v>Girdi maliyeti</c:v>
                </c:pt>
              </c:strCache>
            </c:strRef>
          </c:cat>
          <c:val>
            <c:numRef>
              <c:f>Sheet1!$B$2:$B$3</c:f>
              <c:numCache>
                <c:formatCode>General</c:formatCode>
                <c:ptCount val="2"/>
                <c:pt idx="0">
                  <c:v>47.1</c:v>
                </c:pt>
                <c:pt idx="1">
                  <c:v>36.200000000000003</c:v>
                </c:pt>
              </c:numCache>
            </c:numRef>
          </c:val>
          <c:extLst>
            <c:ext xmlns:c16="http://schemas.microsoft.com/office/drawing/2014/chart" uri="{C3380CC4-5D6E-409C-BE32-E72D297353CC}">
              <c16:uniqueId val="{00000000-188B-4404-97E7-C810888A03B8}"/>
            </c:ext>
          </c:extLst>
        </c:ser>
        <c:ser>
          <c:idx val="1"/>
          <c:order val="1"/>
          <c:tx>
            <c:strRef>
              <c:f>Sheet1!$C$1</c:f>
              <c:strCache>
                <c:ptCount val="1"/>
                <c:pt idx="0">
                  <c:v>Gaziantep</c:v>
                </c:pt>
              </c:strCache>
            </c:strRef>
          </c:tx>
          <c:spPr>
            <a:solidFill>
              <a:srgbClr val="ED7D31"/>
            </a:solidFill>
            <a:effectLst/>
          </c:spPr>
          <c:invertIfNegative val="0"/>
          <c:dLbls>
            <c:numFmt formatCode="#,##0" sourceLinked="0"/>
            <c:spPr>
              <a:noFill/>
              <a:ln>
                <a:noFill/>
              </a:ln>
              <a:effectLst/>
            </c:spPr>
            <c:txPr>
              <a:bodyPr/>
              <a:lstStyle/>
              <a:p>
                <a:pPr>
                  <a:defRPr sz="950" b="0" i="0" u="none" strike="noStrike">
                    <a:solidFill>
                      <a:srgbClr val="1A1A1A"/>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 yoksunluğu</c:v>
                </c:pt>
                <c:pt idx="1">
                  <c:v>Girdi maliyeti</c:v>
                </c:pt>
              </c:strCache>
            </c:strRef>
          </c:cat>
          <c:val>
            <c:numRef>
              <c:f>Sheet1!$C$2:$C$3</c:f>
              <c:numCache>
                <c:formatCode>General</c:formatCode>
                <c:ptCount val="2"/>
                <c:pt idx="0">
                  <c:v>43</c:v>
                </c:pt>
                <c:pt idx="1">
                  <c:v>37.200000000000003</c:v>
                </c:pt>
              </c:numCache>
            </c:numRef>
          </c:val>
          <c:extLst>
            <c:ext xmlns:c16="http://schemas.microsoft.com/office/drawing/2014/chart" uri="{C3380CC4-5D6E-409C-BE32-E72D297353CC}">
              <c16:uniqueId val="{00000001-188B-4404-97E7-C810888A03B8}"/>
            </c:ext>
          </c:extLst>
        </c:ser>
        <c:ser>
          <c:idx val="2"/>
          <c:order val="2"/>
          <c:tx>
            <c:strRef>
              <c:f>Sheet1!$D$1</c:f>
              <c:strCache>
                <c:ptCount val="1"/>
                <c:pt idx="0">
                  <c:v>Kilis</c:v>
                </c:pt>
              </c:strCache>
            </c:strRef>
          </c:tx>
          <c:spPr>
            <a:solidFill>
              <a:srgbClr val="548235"/>
            </a:solidFill>
            <a:effectLst/>
          </c:spPr>
          <c:invertIfNegative val="0"/>
          <c:dLbls>
            <c:numFmt formatCode="#,##0" sourceLinked="0"/>
            <c:spPr>
              <a:noFill/>
              <a:ln>
                <a:noFill/>
              </a:ln>
              <a:effectLst/>
            </c:spPr>
            <c:txPr>
              <a:bodyPr/>
              <a:lstStyle/>
              <a:p>
                <a:pPr>
                  <a:defRPr sz="950" b="0" i="0" u="none" strike="noStrike">
                    <a:solidFill>
                      <a:srgbClr val="1A1A1A"/>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 yoksunluğu</c:v>
                </c:pt>
                <c:pt idx="1">
                  <c:v>Girdi maliyeti</c:v>
                </c:pt>
              </c:strCache>
            </c:strRef>
          </c:cat>
          <c:val>
            <c:numRef>
              <c:f>Sheet1!$D$2:$D$3</c:f>
              <c:numCache>
                <c:formatCode>General</c:formatCode>
                <c:ptCount val="2"/>
                <c:pt idx="0">
                  <c:v>42</c:v>
                </c:pt>
                <c:pt idx="1">
                  <c:v>37.700000000000003</c:v>
                </c:pt>
              </c:numCache>
            </c:numRef>
          </c:val>
          <c:extLst>
            <c:ext xmlns:c16="http://schemas.microsoft.com/office/drawing/2014/chart" uri="{C3380CC4-5D6E-409C-BE32-E72D297353CC}">
              <c16:uniqueId val="{00000002-188B-4404-97E7-C810888A03B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1A"/>
                </a:solidFill>
                <a:latin typeface="Times New Roman"/>
              </a:defRPr>
            </a:pPr>
            <a:endParaRPr lang="en-US"/>
          </a:p>
        </c:txPr>
        <c:crossAx val="2094734552"/>
        <c:crosses val="autoZero"/>
        <c:auto val="1"/>
        <c:lblAlgn val="ctr"/>
        <c:lblOffset val="100"/>
        <c:noMultiLvlLbl val="1"/>
      </c:catAx>
      <c:valAx>
        <c:axId val="2094734552"/>
        <c:scaling>
          <c:orientation val="minMax"/>
          <c:max val="60"/>
        </c:scaling>
        <c:delete val="0"/>
        <c:axPos val="l"/>
        <c:majorGridlines>
          <c:spPr>
            <a:ln w="9525"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Times New Roman"/>
              </a:defRPr>
            </a:pPr>
            <a:endParaRPr lang="en-US"/>
          </a:p>
        </c:txPr>
        <c:crossAx val="2094734554"/>
        <c:crosses val="autoZero"/>
        <c:crossBetween val="between"/>
      </c:valAx>
      <c:spPr>
        <a:noFill/>
        <a:ln>
          <a:noFill/>
        </a:ln>
        <a:effectLst/>
      </c:spPr>
    </c:plotArea>
    <c:legend>
      <c:legendPos val="b"/>
      <c:overlay val="0"/>
      <c:txPr>
        <a:bodyPr/>
        <a:lstStyle/>
        <a:p>
          <a:pPr>
            <a:defRPr sz="1000">
              <a:latin typeface="Times New Roman"/>
              <a:cs typeface="Times New Roman"/>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38F23C07-5C35-4F1A-ACB3-2065F9F55764}" type="datetimeFigureOut">
              <a:t>9/17/2026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46576E2-FD08-4A8C-8768-411B2A5F2DD4}" type="slidenum">
              <a:t>‹#›</a:t>
            </a:fld>
            <a:endParaRPr lang="en-US"/>
          </a:p>
        </p:txBody>
      </p:sp>
    </p:spTree>
    <p:extLst>
      <p:ext uri="{BB962C8B-B14F-4D97-AF65-F5344CB8AC3E}">
        <p14:creationId xmlns:p14="http://schemas.microsoft.com/office/powerpoint/2010/main" val="337232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chart" Target="../charts/chart6.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tmpl_cover_bg.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699" y="2767948"/>
            <a:ext cx="12194795" cy="1005840"/>
          </a:xfrm>
          <a:prstGeom prst="rect">
            <a:avLst/>
          </a:prstGeom>
          <a:noFill/>
          <a:ln/>
        </p:spPr>
        <p:txBody>
          <a:bodyPr wrap="square" lIns="91440" tIns="45720" rIns="91440" bIns="45720" rtlCol="0" anchor="ctr"/>
          <a:lstStyle/>
          <a:p>
            <a:pPr marL="0" indent="0" algn="ctr">
              <a:buNone/>
            </a:pPr>
            <a:r>
              <a:rPr lang="en-US" sz="3200" b="1" dirty="0">
                <a:solidFill>
                  <a:srgbClr val="FFFFFF"/>
                </a:solidFill>
                <a:latin typeface="Times New Roman"/>
                <a:ea typeface="Times New Roman" pitchFamily="34" charset="-122"/>
                <a:cs typeface="Times New Roman"/>
              </a:rPr>
              <a:t>YER-SİS Anket Çalışmasının Değerlendirilmesi</a:t>
            </a:r>
            <a:endParaRPr lang="en-US" sz="3200">
              <a:latin typeface="Times New Roman"/>
              <a:ea typeface="Calibri" panose="020F0502020204030204"/>
              <a:cs typeface="Times New Roman"/>
            </a:endParaRPr>
          </a:p>
        </p:txBody>
      </p:sp>
      <p:sp>
        <p:nvSpPr>
          <p:cNvPr id="5" name="Text 2"/>
          <p:cNvSpPr/>
          <p:nvPr/>
        </p:nvSpPr>
        <p:spPr>
          <a:xfrm>
            <a:off x="-6290" y="4121372"/>
            <a:ext cx="12194794" cy="365760"/>
          </a:xfrm>
          <a:prstGeom prst="rect">
            <a:avLst/>
          </a:prstGeom>
          <a:noFill/>
          <a:ln/>
        </p:spPr>
        <p:txBody>
          <a:bodyPr wrap="square" lIns="91440" tIns="45720" rIns="91440" bIns="45720" rtlCol="0" anchor="ctr"/>
          <a:lstStyle/>
          <a:p>
            <a:pPr marL="0" indent="0" algn="ctr">
              <a:buNone/>
            </a:pPr>
            <a:r>
              <a:rPr lang="en-US" sz="3000" dirty="0">
                <a:solidFill>
                  <a:srgbClr val="FFFFFF"/>
                </a:solidFill>
                <a:latin typeface="Times New Roman"/>
                <a:ea typeface="Times New Roman" pitchFamily="34" charset="-122"/>
                <a:cs typeface="Times New Roman"/>
              </a:rPr>
              <a:t>Hazırlayan: Mehdi Burak Erdem</a:t>
            </a:r>
            <a:endParaRPr lang="en-US" sz="3000">
              <a:latin typeface="Times New Roman"/>
              <a:ea typeface="Calibri"/>
              <a:cs typeface="Times New Roman"/>
            </a:endParaRPr>
          </a:p>
        </p:txBody>
      </p:sp>
      <p:sp>
        <p:nvSpPr>
          <p:cNvPr id="8" name="Text 2">
            <a:extLst>
              <a:ext uri="{FF2B5EF4-FFF2-40B4-BE49-F238E27FC236}">
                <a16:creationId xmlns:a16="http://schemas.microsoft.com/office/drawing/2014/main" id="{3E3EF01A-E60E-15D9-DF1D-42231ADF76E9}"/>
              </a:ext>
            </a:extLst>
          </p:cNvPr>
          <p:cNvSpPr/>
          <p:nvPr/>
        </p:nvSpPr>
        <p:spPr>
          <a:xfrm>
            <a:off x="700" y="5358747"/>
            <a:ext cx="12187804" cy="365760"/>
          </a:xfrm>
          <a:prstGeom prst="rect">
            <a:avLst/>
          </a:prstGeom>
          <a:noFill/>
          <a:ln/>
        </p:spPr>
        <p:txBody>
          <a:bodyPr wrap="square" lIns="91440" tIns="45720" rIns="91440" bIns="45720" rtlCol="0" anchor="ctr"/>
          <a:lstStyle/>
          <a:p>
            <a:pPr algn="ctr"/>
            <a:r>
              <a:rPr lang="en-US" sz="2800" dirty="0">
                <a:solidFill>
                  <a:srgbClr val="FFFFFF"/>
                </a:solidFill>
                <a:latin typeface="Times New Roman"/>
                <a:cs typeface="Times New Roman"/>
              </a:rPr>
              <a:t>14 Eylül 2026</a:t>
            </a:r>
            <a:endParaRPr lang="en-US" sz="2800">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rtlCol="0" anchor="ctr"/>
          <a:lstStyle/>
          <a:p>
            <a:pPr marL="0" indent="0" algn="l">
              <a:buNone/>
            </a:pPr>
            <a:r>
              <a:rPr lang="en-US" sz="2400" b="1" dirty="0">
                <a:solidFill>
                  <a:srgbClr val="FFFFFF"/>
                </a:solidFill>
                <a:latin typeface="Times New Roman" pitchFamily="34" charset="0"/>
                <a:ea typeface="Times New Roman" pitchFamily="34" charset="-122"/>
                <a:cs typeface="Times New Roman" pitchFamily="34" charset="-120"/>
              </a:rPr>
              <a:t>Sunum Akışı</a:t>
            </a:r>
            <a:endParaRPr lang="en-US" sz="2400" dirty="0"/>
          </a:p>
        </p:txBody>
      </p:sp>
      <p:sp>
        <p:nvSpPr>
          <p:cNvPr id="4" name="Text 1"/>
          <p:cNvSpPr/>
          <p:nvPr/>
        </p:nvSpPr>
        <p:spPr>
          <a:xfrm>
            <a:off x="914400" y="1554480"/>
            <a:ext cx="9601200" cy="457200"/>
          </a:xfrm>
          <a:prstGeom prst="rect">
            <a:avLst/>
          </a:prstGeom>
          <a:noFill/>
          <a:ln/>
        </p:spPr>
        <p:txBody>
          <a:bodyPr wrap="square" lIns="91440" tIns="45720" rIns="91440" bIns="45720" rtlCol="0" anchor="ctr"/>
          <a:lstStyle/>
          <a:p>
            <a:pPr marL="0" indent="0">
              <a:buNone/>
            </a:pPr>
            <a:r>
              <a:rPr lang="en-US" sz="1700" dirty="0">
                <a:solidFill>
                  <a:srgbClr val="1A1A1A"/>
                </a:solidFill>
                <a:latin typeface="Times New Roman"/>
                <a:ea typeface="Times New Roman" pitchFamily="34" charset="-122"/>
                <a:cs typeface="Times New Roman"/>
              </a:rPr>
              <a:t>•  YER-</a:t>
            </a:r>
            <a:r>
              <a:rPr lang="en-US" sz="1600" dirty="0" err="1">
                <a:solidFill>
                  <a:srgbClr val="1A1A1A"/>
                </a:solidFill>
                <a:latin typeface="Times New Roman"/>
                <a:ea typeface="Times New Roman" pitchFamily="34" charset="-122"/>
                <a:cs typeface="Times New Roman"/>
              </a:rPr>
              <a:t>SİS'in</a:t>
            </a:r>
            <a:r>
              <a:rPr lang="en-US" sz="1600" dirty="0">
                <a:solidFill>
                  <a:srgbClr val="1A1A1A"/>
                </a:solidFill>
                <a:latin typeface="Times New Roman"/>
                <a:ea typeface="Times New Roman" pitchFamily="34" charset="-122"/>
                <a:cs typeface="Times New Roman"/>
              </a:rPr>
              <a:t> </a:t>
            </a:r>
            <a:r>
              <a:rPr lang="en-US" sz="1700" dirty="0" err="1">
                <a:solidFill>
                  <a:srgbClr val="1A1A1A"/>
                </a:solidFill>
                <a:latin typeface="Times New Roman"/>
                <a:ea typeface="Times New Roman" pitchFamily="34" charset="-122"/>
                <a:cs typeface="Times New Roman"/>
              </a:rPr>
              <a:t>Tarihçesi</a:t>
            </a:r>
            <a:endParaRPr lang="en-US" sz="1700" dirty="0" err="1"/>
          </a:p>
        </p:txBody>
      </p:sp>
      <p:sp>
        <p:nvSpPr>
          <p:cNvPr id="5" name="Text 2"/>
          <p:cNvSpPr/>
          <p:nvPr/>
        </p:nvSpPr>
        <p:spPr>
          <a:xfrm>
            <a:off x="914400" y="2057400"/>
            <a:ext cx="9601200" cy="457200"/>
          </a:xfrm>
          <a:prstGeom prst="rect">
            <a:avLst/>
          </a:prstGeom>
          <a:noFill/>
          <a:ln/>
        </p:spPr>
        <p:txBody>
          <a:bodyPr wrap="square" lIns="91440" tIns="45720" rIns="91440" bIns="45720" rtlCol="0" anchor="ctr"/>
          <a:lstStyle/>
          <a:p>
            <a:r>
              <a:rPr lang="en-US" sz="1700" dirty="0">
                <a:solidFill>
                  <a:srgbClr val="1A1A1A"/>
                </a:solidFill>
                <a:latin typeface="Times New Roman"/>
                <a:ea typeface="Times New Roman" pitchFamily="34" charset="-122"/>
                <a:cs typeface="Times New Roman"/>
              </a:rPr>
              <a:t>• </a:t>
            </a:r>
            <a:r>
              <a:rPr lang="en-US" sz="1700" dirty="0" err="1">
                <a:solidFill>
                  <a:srgbClr val="1A1A1A"/>
                </a:solidFill>
                <a:latin typeface="Times New Roman"/>
                <a:ea typeface="Times New Roman" pitchFamily="34" charset="-122"/>
                <a:cs typeface="Times New Roman"/>
              </a:rPr>
              <a:t>Çalışmanın</a:t>
            </a:r>
            <a:r>
              <a:rPr lang="en-US" sz="1700" dirty="0">
                <a:solidFill>
                  <a:srgbClr val="1A1A1A"/>
                </a:solidFill>
                <a:latin typeface="Times New Roman"/>
                <a:ea typeface="Times New Roman" pitchFamily="34" charset="-122"/>
                <a:cs typeface="Times New Roman"/>
              </a:rPr>
              <a:t> </a:t>
            </a:r>
            <a:r>
              <a:rPr lang="en-US" sz="1700" dirty="0" err="1">
                <a:solidFill>
                  <a:srgbClr val="1A1A1A"/>
                </a:solidFill>
                <a:latin typeface="Times New Roman"/>
                <a:ea typeface="Times New Roman" pitchFamily="34" charset="-122"/>
                <a:cs typeface="Times New Roman"/>
              </a:rPr>
              <a:t>Amacı</a:t>
            </a:r>
            <a:r>
              <a:rPr lang="en-US" sz="1700" dirty="0">
                <a:solidFill>
                  <a:srgbClr val="1A1A1A"/>
                </a:solidFill>
                <a:latin typeface="Times New Roman"/>
                <a:ea typeface="Times New Roman" pitchFamily="34" charset="-122"/>
                <a:cs typeface="Times New Roman"/>
              </a:rPr>
              <a:t> (YER-SİS 2 Pilot)</a:t>
            </a:r>
            <a:endParaRPr lang="en-US" sz="1700" dirty="0">
              <a:latin typeface="Times New Roman"/>
              <a:cs typeface="Times New Roman"/>
            </a:endParaRPr>
          </a:p>
        </p:txBody>
      </p:sp>
      <p:sp>
        <p:nvSpPr>
          <p:cNvPr id="6" name="Text 3"/>
          <p:cNvSpPr/>
          <p:nvPr/>
        </p:nvSpPr>
        <p:spPr>
          <a:xfrm>
            <a:off x="914400" y="2560320"/>
            <a:ext cx="9601200" cy="457200"/>
          </a:xfrm>
          <a:prstGeom prst="rect">
            <a:avLst/>
          </a:prstGeom>
          <a:noFill/>
          <a:ln/>
        </p:spPr>
        <p:txBody>
          <a:bodyPr wrap="square" lIns="91440" tIns="45720" rIns="91440" bIns="45720" rtlCol="0" anchor="ctr"/>
          <a:lstStyle/>
          <a:p>
            <a:pPr marL="0" indent="0">
              <a:buNone/>
            </a:pPr>
            <a:r>
              <a:rPr lang="en-US" sz="1700" dirty="0">
                <a:solidFill>
                  <a:srgbClr val="1A1A1A"/>
                </a:solidFill>
                <a:latin typeface="Times New Roman"/>
                <a:ea typeface="Times New Roman" pitchFamily="34" charset="-122"/>
                <a:cs typeface="Times New Roman"/>
              </a:rPr>
              <a:t>• </a:t>
            </a:r>
            <a:r>
              <a:rPr lang="en-US" sz="1700" dirty="0" err="1">
                <a:solidFill>
                  <a:srgbClr val="1A1A1A"/>
                </a:solidFill>
                <a:latin typeface="Times New Roman"/>
                <a:ea typeface="Times New Roman" pitchFamily="34" charset="-122"/>
                <a:cs typeface="Times New Roman"/>
              </a:rPr>
              <a:t>Anketin</a:t>
            </a:r>
            <a:r>
              <a:rPr lang="en-US" sz="1700" dirty="0">
                <a:solidFill>
                  <a:srgbClr val="1A1A1A"/>
                </a:solidFill>
                <a:latin typeface="Times New Roman"/>
                <a:ea typeface="Times New Roman" pitchFamily="34" charset="-122"/>
                <a:cs typeface="Times New Roman"/>
              </a:rPr>
              <a:t> Genel </a:t>
            </a:r>
            <a:r>
              <a:rPr lang="en-US" sz="1700" dirty="0" err="1">
                <a:solidFill>
                  <a:srgbClr val="1A1A1A"/>
                </a:solidFill>
                <a:latin typeface="Times New Roman"/>
                <a:ea typeface="Times New Roman" pitchFamily="34" charset="-122"/>
                <a:cs typeface="Times New Roman"/>
              </a:rPr>
              <a:t>Yapısı</a:t>
            </a:r>
            <a:endParaRPr lang="en-US" sz="1700" dirty="0" err="1">
              <a:latin typeface="Times New Roman"/>
              <a:cs typeface="Times New Roman"/>
            </a:endParaRPr>
          </a:p>
        </p:txBody>
      </p:sp>
      <p:sp>
        <p:nvSpPr>
          <p:cNvPr id="7" name="Text 4"/>
          <p:cNvSpPr/>
          <p:nvPr/>
        </p:nvSpPr>
        <p:spPr>
          <a:xfrm>
            <a:off x="914400" y="3063240"/>
            <a:ext cx="9601200" cy="457200"/>
          </a:xfrm>
          <a:prstGeom prst="rect">
            <a:avLst/>
          </a:prstGeom>
          <a:noFill/>
          <a:ln/>
        </p:spPr>
        <p:txBody>
          <a:bodyPr wrap="square" lIns="91440" tIns="45720" rIns="91440" bIns="45720" rtlCol="0" anchor="ctr"/>
          <a:lstStyle/>
          <a:p>
            <a:pPr marL="0" indent="0">
              <a:buNone/>
            </a:pPr>
            <a:r>
              <a:rPr lang="en-US" sz="1700" dirty="0">
                <a:solidFill>
                  <a:srgbClr val="1A1A1A"/>
                </a:solidFill>
                <a:latin typeface="Times New Roman"/>
                <a:ea typeface="Times New Roman" pitchFamily="34" charset="-122"/>
                <a:cs typeface="Times New Roman"/>
              </a:rPr>
              <a:t>• Veri </a:t>
            </a:r>
            <a:r>
              <a:rPr lang="en-US" sz="1700" dirty="0" err="1">
                <a:solidFill>
                  <a:srgbClr val="1A1A1A"/>
                </a:solidFill>
                <a:latin typeface="Times New Roman"/>
                <a:ea typeface="Times New Roman" pitchFamily="34" charset="-122"/>
                <a:cs typeface="Times New Roman"/>
              </a:rPr>
              <a:t>Setinin</a:t>
            </a:r>
            <a:r>
              <a:rPr lang="en-US" sz="1700" dirty="0">
                <a:solidFill>
                  <a:srgbClr val="1A1A1A"/>
                </a:solidFill>
                <a:latin typeface="Times New Roman"/>
                <a:ea typeface="Times New Roman" pitchFamily="34" charset="-122"/>
                <a:cs typeface="Times New Roman"/>
              </a:rPr>
              <a:t> </a:t>
            </a:r>
            <a:r>
              <a:rPr lang="en-US" sz="1700" dirty="0" err="1">
                <a:solidFill>
                  <a:srgbClr val="1A1A1A"/>
                </a:solidFill>
                <a:latin typeface="Times New Roman"/>
                <a:ea typeface="Times New Roman" pitchFamily="34" charset="-122"/>
                <a:cs typeface="Times New Roman"/>
              </a:rPr>
              <a:t>Kapsamı</a:t>
            </a:r>
            <a:endParaRPr lang="en-US" sz="1700" dirty="0" err="1">
              <a:latin typeface="Times New Roman"/>
              <a:cs typeface="Times New Roman"/>
            </a:endParaRPr>
          </a:p>
        </p:txBody>
      </p:sp>
      <p:sp>
        <p:nvSpPr>
          <p:cNvPr id="8" name="Text 5"/>
          <p:cNvSpPr/>
          <p:nvPr/>
        </p:nvSpPr>
        <p:spPr>
          <a:xfrm>
            <a:off x="914400" y="3566160"/>
            <a:ext cx="9601200" cy="457200"/>
          </a:xfrm>
          <a:prstGeom prst="rect">
            <a:avLst/>
          </a:prstGeom>
          <a:noFill/>
          <a:ln/>
        </p:spPr>
        <p:txBody>
          <a:bodyPr wrap="square" lIns="91440" tIns="45720" rIns="91440" bIns="45720" rtlCol="0" anchor="ctr"/>
          <a:lstStyle/>
          <a:p>
            <a:pPr marL="0" indent="0">
              <a:buNone/>
            </a:pPr>
            <a:r>
              <a:rPr lang="en-US" sz="1700" dirty="0">
                <a:solidFill>
                  <a:srgbClr val="1A1A1A"/>
                </a:solidFill>
                <a:latin typeface="Times New Roman"/>
                <a:ea typeface="Times New Roman" pitchFamily="34" charset="-122"/>
                <a:cs typeface="Times New Roman"/>
              </a:rPr>
              <a:t>• Analiz Yaklaşımı </a:t>
            </a:r>
            <a:r>
              <a:rPr lang="en-US" sz="1700" dirty="0" err="1">
                <a:solidFill>
                  <a:srgbClr val="1A1A1A"/>
                </a:solidFill>
                <a:latin typeface="Times New Roman"/>
                <a:ea typeface="Times New Roman" pitchFamily="34" charset="-122"/>
                <a:cs typeface="Times New Roman"/>
              </a:rPr>
              <a:t>ve</a:t>
            </a:r>
            <a:r>
              <a:rPr lang="en-US" sz="1700" dirty="0">
                <a:solidFill>
                  <a:srgbClr val="1A1A1A"/>
                </a:solidFill>
                <a:latin typeface="Times New Roman"/>
                <a:ea typeface="Times New Roman" pitchFamily="34" charset="-122"/>
                <a:cs typeface="Times New Roman"/>
              </a:rPr>
              <a:t> Soru </a:t>
            </a:r>
            <a:r>
              <a:rPr lang="en-US" sz="1700" dirty="0" err="1">
                <a:solidFill>
                  <a:srgbClr val="1A1A1A"/>
                </a:solidFill>
                <a:latin typeface="Times New Roman"/>
                <a:ea typeface="Times New Roman" pitchFamily="34" charset="-122"/>
                <a:cs typeface="Times New Roman"/>
              </a:rPr>
              <a:t>Seçimi</a:t>
            </a:r>
            <a:endParaRPr lang="en-US" sz="1700" dirty="0" err="1">
              <a:latin typeface="Times New Roman"/>
              <a:cs typeface="Times New Roman"/>
            </a:endParaRPr>
          </a:p>
        </p:txBody>
      </p:sp>
      <p:sp>
        <p:nvSpPr>
          <p:cNvPr id="9" name="Text 6"/>
          <p:cNvSpPr/>
          <p:nvPr/>
        </p:nvSpPr>
        <p:spPr>
          <a:xfrm>
            <a:off x="914400" y="4069080"/>
            <a:ext cx="9601200" cy="457200"/>
          </a:xfrm>
          <a:prstGeom prst="rect">
            <a:avLst/>
          </a:prstGeom>
          <a:noFill/>
          <a:ln/>
        </p:spPr>
        <p:txBody>
          <a:bodyPr wrap="square" lIns="91440" tIns="45720" rIns="91440" bIns="45720" rtlCol="0" anchor="ctr"/>
          <a:lstStyle/>
          <a:p>
            <a:pPr marL="0" indent="0">
              <a:buNone/>
            </a:pPr>
            <a:r>
              <a:rPr lang="en-US" sz="1700" dirty="0">
                <a:solidFill>
                  <a:srgbClr val="1A1A1A"/>
                </a:solidFill>
                <a:latin typeface="Times New Roman"/>
                <a:ea typeface="Times New Roman" pitchFamily="34" charset="-122"/>
                <a:cs typeface="Times New Roman"/>
              </a:rPr>
              <a:t>• </a:t>
            </a:r>
            <a:r>
              <a:rPr lang="en-US" sz="1700" dirty="0" err="1">
                <a:solidFill>
                  <a:srgbClr val="1A1A1A"/>
                </a:solidFill>
                <a:latin typeface="Times New Roman"/>
                <a:ea typeface="Times New Roman" pitchFamily="34" charset="-122"/>
                <a:cs typeface="Times New Roman"/>
              </a:rPr>
              <a:t>Detaylı</a:t>
            </a:r>
            <a:r>
              <a:rPr lang="en-US" sz="1700" dirty="0">
                <a:solidFill>
                  <a:srgbClr val="1A1A1A"/>
                </a:solidFill>
                <a:latin typeface="Times New Roman"/>
                <a:ea typeface="Times New Roman" pitchFamily="34" charset="-122"/>
                <a:cs typeface="Times New Roman"/>
              </a:rPr>
              <a:t> Soru Analizleri</a:t>
            </a:r>
            <a:endParaRPr lang="en-US" sz="1700" dirty="0">
              <a:latin typeface="Times New Roman"/>
              <a:ea typeface="Calibri" panose="020F0502020204030204"/>
              <a:cs typeface="Calibri" panose="020F0502020204030204"/>
            </a:endParaRPr>
          </a:p>
        </p:txBody>
      </p:sp>
      <p:sp>
        <p:nvSpPr>
          <p:cNvPr id="10" name="Text 7"/>
          <p:cNvSpPr/>
          <p:nvPr/>
        </p:nvSpPr>
        <p:spPr>
          <a:xfrm>
            <a:off x="914400" y="4572000"/>
            <a:ext cx="9601200" cy="457200"/>
          </a:xfrm>
          <a:prstGeom prst="rect">
            <a:avLst/>
          </a:prstGeom>
          <a:noFill/>
          <a:ln/>
        </p:spPr>
        <p:txBody>
          <a:bodyPr wrap="square" lIns="91440" tIns="45720" rIns="91440" bIns="45720" rtlCol="0" anchor="ctr"/>
          <a:lstStyle/>
          <a:p>
            <a:pPr marL="0" indent="0">
              <a:buNone/>
            </a:pPr>
            <a:r>
              <a:rPr lang="en-US" sz="1700" dirty="0">
                <a:solidFill>
                  <a:srgbClr val="1A1A1A"/>
                </a:solidFill>
                <a:latin typeface="Times New Roman"/>
                <a:ea typeface="Times New Roman" pitchFamily="34" charset="-122"/>
                <a:cs typeface="Times New Roman"/>
              </a:rPr>
              <a:t>• Ek </a:t>
            </a:r>
            <a:r>
              <a:rPr lang="en-US" sz="1700" dirty="0" err="1">
                <a:solidFill>
                  <a:srgbClr val="1A1A1A"/>
                </a:solidFill>
                <a:latin typeface="Times New Roman"/>
                <a:ea typeface="Times New Roman" pitchFamily="34" charset="-122"/>
                <a:cs typeface="Times New Roman"/>
              </a:rPr>
              <a:t>Bulgular</a:t>
            </a:r>
            <a:endParaRPr lang="en-US" sz="1700" dirty="0" err="1">
              <a:latin typeface="Times New Roman"/>
              <a:cs typeface="Times New Roman"/>
            </a:endParaRPr>
          </a:p>
        </p:txBody>
      </p:sp>
      <p:sp>
        <p:nvSpPr>
          <p:cNvPr id="11" name="Text 8"/>
          <p:cNvSpPr/>
          <p:nvPr/>
        </p:nvSpPr>
        <p:spPr>
          <a:xfrm>
            <a:off x="914400" y="5074920"/>
            <a:ext cx="9601200" cy="457200"/>
          </a:xfrm>
          <a:prstGeom prst="rect">
            <a:avLst/>
          </a:prstGeom>
          <a:noFill/>
          <a:ln/>
        </p:spPr>
        <p:txBody>
          <a:bodyPr wrap="square" lIns="91440" tIns="45720" rIns="91440" bIns="45720" rtlCol="0" anchor="ctr"/>
          <a:lstStyle/>
          <a:p>
            <a:r>
              <a:rPr lang="en-US" sz="1700" dirty="0">
                <a:solidFill>
                  <a:srgbClr val="1A1A1A"/>
                </a:solidFill>
                <a:latin typeface="Times New Roman"/>
                <a:ea typeface="Times New Roman" pitchFamily="34" charset="-122"/>
                <a:cs typeface="Times New Roman"/>
              </a:rPr>
              <a:t>• Genel </a:t>
            </a:r>
            <a:r>
              <a:rPr lang="en-US" sz="1700" dirty="0" err="1">
                <a:solidFill>
                  <a:srgbClr val="1A1A1A"/>
                </a:solidFill>
                <a:latin typeface="Times New Roman"/>
                <a:ea typeface="Times New Roman" pitchFamily="34" charset="-122"/>
                <a:cs typeface="Times New Roman"/>
              </a:rPr>
              <a:t>Değerlendirme</a:t>
            </a:r>
            <a:endParaRPr lang="en-US" sz="1700" dirty="0" err="1">
              <a:latin typeface="Times New Roman"/>
              <a:cs typeface="Times New Roman"/>
            </a:endParaRPr>
          </a:p>
        </p:txBody>
      </p:sp>
      <p:sp>
        <p:nvSpPr>
          <p:cNvPr id="12" name="Text 9"/>
          <p:cNvSpPr/>
          <p:nvPr/>
        </p:nvSpPr>
        <p:spPr>
          <a:xfrm>
            <a:off x="914400" y="5577840"/>
            <a:ext cx="9601200" cy="457200"/>
          </a:xfrm>
          <a:prstGeom prst="rect">
            <a:avLst/>
          </a:prstGeom>
          <a:noFill/>
          <a:ln/>
        </p:spPr>
        <p:txBody>
          <a:bodyPr wrap="square" lIns="91440" tIns="45720" rIns="91440" bIns="45720" rtlCol="0" anchor="ctr"/>
          <a:lstStyle/>
          <a:p>
            <a:pPr marL="0" indent="0">
              <a:buNone/>
            </a:pPr>
            <a:r>
              <a:rPr lang="en-US" sz="1700" dirty="0">
                <a:solidFill>
                  <a:srgbClr val="1A1A1A"/>
                </a:solidFill>
                <a:latin typeface="Times New Roman"/>
                <a:ea typeface="Times New Roman" pitchFamily="34" charset="-122"/>
                <a:cs typeface="Times New Roman"/>
              </a:rPr>
              <a:t>• Politika </a:t>
            </a:r>
            <a:r>
              <a:rPr lang="en-US" sz="1700" dirty="0" err="1">
                <a:solidFill>
                  <a:srgbClr val="1A1A1A"/>
                </a:solidFill>
                <a:latin typeface="Times New Roman"/>
                <a:ea typeface="Times New Roman" pitchFamily="34" charset="-122"/>
                <a:cs typeface="Times New Roman"/>
              </a:rPr>
              <a:t>Önerileri</a:t>
            </a:r>
            <a:endParaRPr lang="en-US" sz="1700">
              <a:latin typeface="Times New Roman"/>
              <a:cs typeface="Times New Roman"/>
            </a:endParaRPr>
          </a:p>
        </p:txBody>
      </p:sp>
      <p:sp>
        <p:nvSpPr>
          <p:cNvPr id="13" name="Text 10"/>
          <p:cNvSpPr/>
          <p:nvPr/>
        </p:nvSpPr>
        <p:spPr>
          <a:xfrm>
            <a:off x="457200" y="6537960"/>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2"/>
          <a:stretch>
            <a:fillRect/>
          </a:stretch>
        </p:blipFill>
        <p:spPr>
          <a:xfrm>
            <a:off x="0" y="1"/>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lIns="91440" tIns="45720" rIns="91440" bIns="45720" rtlCol="0" anchor="ctr"/>
          <a:lstStyle/>
          <a:p>
            <a:pPr marL="0" indent="0" algn="l">
              <a:buNone/>
            </a:pPr>
            <a:r>
              <a:rPr lang="en-US" sz="2400" b="1" dirty="0">
                <a:solidFill>
                  <a:srgbClr val="FFFFFF"/>
                </a:solidFill>
                <a:latin typeface="Times New Roman"/>
                <a:ea typeface="Times New Roman" pitchFamily="34" charset="-122"/>
                <a:cs typeface="Times New Roman"/>
              </a:rPr>
              <a:t>YER-</a:t>
            </a:r>
            <a:r>
              <a:rPr lang="en-US" sz="2400" b="1" dirty="0" err="1">
                <a:solidFill>
                  <a:srgbClr val="FFFFFF"/>
                </a:solidFill>
                <a:latin typeface="Times New Roman"/>
                <a:ea typeface="Times New Roman" pitchFamily="34" charset="-122"/>
                <a:cs typeface="Times New Roman"/>
              </a:rPr>
              <a:t>SİS'in</a:t>
            </a:r>
            <a:r>
              <a:rPr lang="en-US" sz="2400" b="1" dirty="0">
                <a:solidFill>
                  <a:srgbClr val="FFFFFF"/>
                </a:solidFill>
                <a:latin typeface="Times New Roman"/>
                <a:ea typeface="Times New Roman" pitchFamily="34" charset="-122"/>
                <a:cs typeface="Times New Roman"/>
              </a:rPr>
              <a:t> </a:t>
            </a:r>
            <a:r>
              <a:rPr lang="en-US" sz="2400" b="1" dirty="0" err="1">
                <a:solidFill>
                  <a:srgbClr val="FFFFFF"/>
                </a:solidFill>
                <a:latin typeface="Times New Roman"/>
                <a:ea typeface="Times New Roman" pitchFamily="34" charset="-122"/>
                <a:cs typeface="Times New Roman"/>
              </a:rPr>
              <a:t>Tarihçesi</a:t>
            </a:r>
            <a:endParaRPr lang="en-US" sz="2400" dirty="0" err="1"/>
          </a:p>
        </p:txBody>
      </p:sp>
      <p:sp>
        <p:nvSpPr>
          <p:cNvPr id="4" name="Text 1"/>
          <p:cNvSpPr/>
          <p:nvPr/>
        </p:nvSpPr>
        <p:spPr>
          <a:xfrm>
            <a:off x="914400" y="1406554"/>
            <a:ext cx="10332720" cy="411480"/>
          </a:xfrm>
          <a:prstGeom prst="rect">
            <a:avLst/>
          </a:prstGeom>
          <a:noFill/>
          <a:ln/>
        </p:spPr>
        <p:txBody>
          <a:bodyPr wrap="square" lIns="91440" tIns="45720" rIns="91440" bIns="45720" rtlCol="0" anchor="ctr"/>
          <a:lstStyle/>
          <a:p>
            <a:pPr marL="0" indent="0" algn="ctr">
              <a:buNone/>
            </a:pPr>
            <a:r>
              <a:rPr lang="en-US" sz="1600" dirty="0">
                <a:solidFill>
                  <a:srgbClr val="595959"/>
                </a:solidFill>
                <a:latin typeface="Times New Roman"/>
                <a:ea typeface="Times New Roman" pitchFamily="34" charset="-122"/>
                <a:cs typeface="Times New Roman"/>
              </a:rPr>
              <a:t>Bu çalışma, Türkiye'nin yerleşim sistemleri analizinde 40 yılı aşkın bir mirasın üzerine inşa edilmiştir.</a:t>
            </a:r>
            <a:endParaRPr lang="en-US" sz="1600">
              <a:latin typeface="Times New Roman"/>
              <a:ea typeface="Calibri"/>
              <a:cs typeface="Times New Roman"/>
            </a:endParaRPr>
          </a:p>
        </p:txBody>
      </p:sp>
      <p:sp>
        <p:nvSpPr>
          <p:cNvPr id="5" name="Shape 2"/>
          <p:cNvSpPr/>
          <p:nvPr/>
        </p:nvSpPr>
        <p:spPr>
          <a:xfrm>
            <a:off x="914400" y="1990148"/>
            <a:ext cx="10549434" cy="1106928"/>
          </a:xfrm>
          <a:prstGeom prst="rect">
            <a:avLst/>
          </a:prstGeom>
          <a:solidFill>
            <a:srgbClr val="F2F2F2"/>
          </a:solidFill>
          <a:ln w="6350">
            <a:solidFill>
              <a:srgbClr val="D9D9D9"/>
            </a:solidFill>
            <a:prstDash val="solid"/>
          </a:ln>
        </p:spPr>
      </p:sp>
      <p:sp>
        <p:nvSpPr>
          <p:cNvPr id="6" name="Text 3"/>
          <p:cNvSpPr/>
          <p:nvPr/>
        </p:nvSpPr>
        <p:spPr>
          <a:xfrm>
            <a:off x="915520" y="1993392"/>
            <a:ext cx="3394463" cy="1095598"/>
          </a:xfrm>
          <a:prstGeom prst="rect">
            <a:avLst/>
          </a:prstGeom>
          <a:noFill/>
          <a:ln/>
        </p:spPr>
        <p:txBody>
          <a:bodyPr wrap="square" lIns="91440" tIns="45720" rIns="91440" bIns="45720" rtlCol="0" anchor="ctr"/>
          <a:lstStyle/>
          <a:p>
            <a:pPr marL="0" indent="0">
              <a:buNone/>
            </a:pPr>
            <a:r>
              <a:rPr lang="en-US" sz="1600" b="1" dirty="0">
                <a:solidFill>
                  <a:srgbClr val="4472C4"/>
                </a:solidFill>
                <a:latin typeface="Times New Roman"/>
                <a:ea typeface="Times New Roman" pitchFamily="34" charset="-122"/>
                <a:cs typeface="Times New Roman"/>
              </a:rPr>
              <a:t>1982 — İlk kademelenme çalışması</a:t>
            </a:r>
            <a:endParaRPr lang="en-US" sz="1600">
              <a:latin typeface="Times New Roman"/>
              <a:ea typeface="Calibri"/>
              <a:cs typeface="Times New Roman"/>
            </a:endParaRPr>
          </a:p>
        </p:txBody>
      </p:sp>
      <p:sp>
        <p:nvSpPr>
          <p:cNvPr id="7" name="Text 4"/>
          <p:cNvSpPr/>
          <p:nvPr/>
        </p:nvSpPr>
        <p:spPr>
          <a:xfrm>
            <a:off x="4310542" y="2063300"/>
            <a:ext cx="7047311" cy="1018701"/>
          </a:xfrm>
          <a:prstGeom prst="rect">
            <a:avLst/>
          </a:prstGeom>
          <a:noFill/>
          <a:ln/>
        </p:spPr>
        <p:txBody>
          <a:bodyPr wrap="square" lIns="91440" tIns="45720" rIns="91440" bIns="45720" rtlCol="0" anchor="ctr"/>
          <a:lstStyle/>
          <a:p>
            <a:pPr marL="0" indent="0">
              <a:lnSpc>
                <a:spcPct val="110000"/>
              </a:lnSpc>
              <a:buNone/>
            </a:pPr>
            <a:r>
              <a:rPr lang="en-US" sz="1400" dirty="0">
                <a:solidFill>
                  <a:srgbClr val="1A1A1A"/>
                </a:solidFill>
                <a:latin typeface="Times New Roman"/>
                <a:ea typeface="Times New Roman" pitchFamily="34" charset="-122"/>
                <a:cs typeface="Times New Roman"/>
              </a:rPr>
              <a:t>Türkiye'de yerleşim merkezlerinin hiyerarşisini bütüncül ele alan ilk kapsamlı araştırma, DPT tarafından yürütülen ve 1982'de yayımlanan "Yerleşme Merkezlerinin Kademelenmesi (YER-MEK)" çalışmasıdır; merkezi yerler kuramına dayanır.</a:t>
            </a:r>
            <a:endParaRPr lang="en-US" sz="1400">
              <a:latin typeface="Times New Roman"/>
              <a:cs typeface="Times New Roman"/>
            </a:endParaRPr>
          </a:p>
        </p:txBody>
      </p:sp>
      <p:sp>
        <p:nvSpPr>
          <p:cNvPr id="8" name="Shape 5"/>
          <p:cNvSpPr/>
          <p:nvPr/>
        </p:nvSpPr>
        <p:spPr>
          <a:xfrm>
            <a:off x="914400" y="3216479"/>
            <a:ext cx="10556425" cy="1092945"/>
          </a:xfrm>
          <a:prstGeom prst="rect">
            <a:avLst/>
          </a:prstGeom>
          <a:solidFill>
            <a:srgbClr val="F2F2F2"/>
          </a:solidFill>
          <a:ln w="6350">
            <a:solidFill>
              <a:srgbClr val="D9D9D9"/>
            </a:solidFill>
            <a:prstDash val="solid"/>
          </a:ln>
        </p:spPr>
      </p:sp>
      <p:sp>
        <p:nvSpPr>
          <p:cNvPr id="9" name="Text 6"/>
          <p:cNvSpPr/>
          <p:nvPr/>
        </p:nvSpPr>
        <p:spPr>
          <a:xfrm>
            <a:off x="915520" y="3219723"/>
            <a:ext cx="3394464" cy="1088610"/>
          </a:xfrm>
          <a:prstGeom prst="rect">
            <a:avLst/>
          </a:prstGeom>
          <a:noFill/>
          <a:ln/>
        </p:spPr>
        <p:txBody>
          <a:bodyPr wrap="square" lIns="91440" tIns="45720" rIns="91440" bIns="45720" rtlCol="0" anchor="ctr"/>
          <a:lstStyle/>
          <a:p>
            <a:r>
              <a:rPr lang="en-US" sz="1600" b="1" dirty="0">
                <a:solidFill>
                  <a:srgbClr val="4472C4"/>
                </a:solidFill>
                <a:latin typeface="Times New Roman"/>
                <a:cs typeface="Times New Roman"/>
              </a:rPr>
              <a:t>2020 — YER-SİS ile 40 yıl sonra güncelleme</a:t>
            </a:r>
            <a:endParaRPr lang="en-US" sz="1600">
              <a:latin typeface="Times New Roman"/>
              <a:ea typeface="Calibri"/>
              <a:cs typeface="Times New Roman"/>
            </a:endParaRPr>
          </a:p>
        </p:txBody>
      </p:sp>
      <p:sp>
        <p:nvSpPr>
          <p:cNvPr id="10" name="Text 7"/>
          <p:cNvSpPr/>
          <p:nvPr/>
        </p:nvSpPr>
        <p:spPr>
          <a:xfrm>
            <a:off x="4394433" y="3289631"/>
            <a:ext cx="6963422" cy="1018702"/>
          </a:xfrm>
          <a:prstGeom prst="rect">
            <a:avLst/>
          </a:prstGeom>
          <a:noFill/>
          <a:ln/>
        </p:spPr>
        <p:txBody>
          <a:bodyPr wrap="square" lIns="91440" tIns="45720" rIns="91440" bIns="45720" rtlCol="0" anchor="ctr"/>
          <a:lstStyle/>
          <a:p>
            <a:pPr marL="0" indent="0">
              <a:lnSpc>
                <a:spcPct val="110000"/>
              </a:lnSpc>
              <a:buNone/>
            </a:pPr>
            <a:r>
              <a:rPr lang="en-US" sz="1400" dirty="0">
                <a:solidFill>
                  <a:srgbClr val="1A1A1A"/>
                </a:solidFill>
                <a:latin typeface="Times New Roman"/>
                <a:ea typeface="Times New Roman" pitchFamily="34" charset="-122"/>
                <a:cs typeface="Times New Roman"/>
              </a:rPr>
              <a:t>Küreselleşme, teknoloji ve "akışlar mekânı" kuramının ortaya koyduğu ağ ilişkileri, 1982 çerçevesinin güncellenmesini gerekli kıldı. Kalkınma Ajansları Genel Müdürlüğü, merkezi yerler kuramını ağ kuramıyla birleştiren YER-SİS'i Aralık 2020'de yayımladı.</a:t>
            </a:r>
            <a:endParaRPr lang="en-US" sz="1400">
              <a:latin typeface="Times New Roman"/>
              <a:cs typeface="Times New Roman"/>
            </a:endParaRPr>
          </a:p>
        </p:txBody>
      </p:sp>
      <p:sp>
        <p:nvSpPr>
          <p:cNvPr id="11" name="Shape 8"/>
          <p:cNvSpPr/>
          <p:nvPr/>
        </p:nvSpPr>
        <p:spPr>
          <a:xfrm>
            <a:off x="914400" y="4442810"/>
            <a:ext cx="10549436" cy="1113919"/>
          </a:xfrm>
          <a:prstGeom prst="rect">
            <a:avLst/>
          </a:prstGeom>
          <a:solidFill>
            <a:srgbClr val="F2F2F2"/>
          </a:solidFill>
          <a:ln w="6350">
            <a:solidFill>
              <a:srgbClr val="D9D9D9"/>
            </a:solidFill>
            <a:prstDash val="solid"/>
          </a:ln>
        </p:spPr>
      </p:sp>
      <p:sp>
        <p:nvSpPr>
          <p:cNvPr id="12" name="Text 9"/>
          <p:cNvSpPr/>
          <p:nvPr/>
        </p:nvSpPr>
        <p:spPr>
          <a:xfrm>
            <a:off x="915520" y="4446054"/>
            <a:ext cx="3394464" cy="1109581"/>
          </a:xfrm>
          <a:prstGeom prst="rect">
            <a:avLst/>
          </a:prstGeom>
          <a:noFill/>
          <a:ln/>
        </p:spPr>
        <p:txBody>
          <a:bodyPr wrap="square" lIns="91440" tIns="45720" rIns="91440" bIns="45720" rtlCol="0" anchor="ctr"/>
          <a:lstStyle/>
          <a:p>
            <a:pPr marL="0" indent="0">
              <a:buNone/>
            </a:pPr>
            <a:r>
              <a:rPr lang="en-US" sz="1600" b="1" dirty="0">
                <a:solidFill>
                  <a:srgbClr val="4472C4"/>
                </a:solidFill>
                <a:latin typeface="Times New Roman"/>
                <a:ea typeface="Times New Roman" pitchFamily="34" charset="-122"/>
                <a:cs typeface="Times New Roman"/>
              </a:rPr>
              <a:t>Kapsam: 1982 → 2020</a:t>
            </a:r>
            <a:endParaRPr lang="en-US" sz="1600">
              <a:latin typeface="Times New Roman"/>
              <a:ea typeface="Calibri"/>
              <a:cs typeface="Times New Roman"/>
            </a:endParaRPr>
          </a:p>
        </p:txBody>
      </p:sp>
      <p:sp>
        <p:nvSpPr>
          <p:cNvPr id="13" name="Text 10"/>
          <p:cNvSpPr/>
          <p:nvPr/>
        </p:nvSpPr>
        <p:spPr>
          <a:xfrm>
            <a:off x="4394433" y="4515962"/>
            <a:ext cx="6963422" cy="1032684"/>
          </a:xfrm>
          <a:prstGeom prst="rect">
            <a:avLst/>
          </a:prstGeom>
          <a:noFill/>
          <a:ln/>
        </p:spPr>
        <p:txBody>
          <a:bodyPr wrap="square" lIns="91440" tIns="45720" rIns="91440" bIns="45720" rtlCol="0" anchor="ctr"/>
          <a:lstStyle/>
          <a:p>
            <a:pPr marL="0" indent="0">
              <a:lnSpc>
                <a:spcPct val="110000"/>
              </a:lnSpc>
              <a:buNone/>
            </a:pPr>
            <a:r>
              <a:rPr lang="en-US" sz="1400" dirty="0">
                <a:solidFill>
                  <a:srgbClr val="1A1A1A"/>
                </a:solidFill>
                <a:latin typeface="Times New Roman"/>
                <a:ea typeface="Times New Roman" pitchFamily="34" charset="-122"/>
                <a:cs typeface="Times New Roman"/>
              </a:rPr>
              <a:t>İl merkezi 67 → 81, ilçe merkezi 572 → 973, köy/belde/kırsal mahalle 35.997 → 37.036. YER-SİS, 37.036 kırsal yerleşimde muhtar ve belde belediye başkanlarıyla anket uygulayarak üretim, geçim kaynakları, ihtiyaç ve sorunlara dair veri topladı.</a:t>
            </a:r>
            <a:endParaRPr lang="en-US" sz="1400">
              <a:latin typeface="Times New Roman"/>
              <a:cs typeface="Times New Roman"/>
            </a:endParaRPr>
          </a:p>
        </p:txBody>
      </p:sp>
      <p:sp>
        <p:nvSpPr>
          <p:cNvPr id="17" name="Text 14"/>
          <p:cNvSpPr/>
          <p:nvPr/>
        </p:nvSpPr>
        <p:spPr>
          <a:xfrm>
            <a:off x="457200" y="6537960"/>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3"/>
          <a:stretch>
            <a:fillRect/>
          </a:stretch>
        </p:blipFill>
        <p:spPr>
          <a:xfrm>
            <a:off x="6989" y="0"/>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lIns="91440" tIns="45720" rIns="91440" bIns="45720" rtlCol="0" anchor="ctr"/>
          <a:lstStyle/>
          <a:p>
            <a:pPr marL="0" indent="0" algn="l">
              <a:buNone/>
            </a:pPr>
            <a:r>
              <a:rPr lang="en-US" sz="2400" b="1" dirty="0" err="1">
                <a:solidFill>
                  <a:srgbClr val="FFFFFF"/>
                </a:solidFill>
                <a:latin typeface="Times New Roman"/>
                <a:ea typeface="Times New Roman" pitchFamily="34" charset="-122"/>
                <a:cs typeface="Times New Roman"/>
              </a:rPr>
              <a:t>Çalışmanın</a:t>
            </a:r>
            <a:r>
              <a:rPr lang="en-US" sz="2400" b="1" dirty="0">
                <a:solidFill>
                  <a:srgbClr val="FFFFFF"/>
                </a:solidFill>
                <a:latin typeface="Times New Roman"/>
                <a:ea typeface="Times New Roman" pitchFamily="34" charset="-122"/>
                <a:cs typeface="Times New Roman"/>
              </a:rPr>
              <a:t> </a:t>
            </a:r>
            <a:r>
              <a:rPr lang="en-US" sz="2400" b="1" dirty="0" err="1">
                <a:solidFill>
                  <a:srgbClr val="FFFFFF"/>
                </a:solidFill>
                <a:latin typeface="Times New Roman"/>
                <a:ea typeface="Times New Roman" pitchFamily="34" charset="-122"/>
                <a:cs typeface="Times New Roman"/>
              </a:rPr>
              <a:t>Amacı</a:t>
            </a:r>
            <a:endParaRPr lang="en-US" sz="2400" dirty="0" err="1">
              <a:latin typeface="Times New Roman"/>
              <a:cs typeface="Times New Roman"/>
            </a:endParaRPr>
          </a:p>
        </p:txBody>
      </p:sp>
      <p:sp>
        <p:nvSpPr>
          <p:cNvPr id="4" name="Text 1"/>
          <p:cNvSpPr/>
          <p:nvPr/>
        </p:nvSpPr>
        <p:spPr>
          <a:xfrm>
            <a:off x="914400" y="1417320"/>
            <a:ext cx="10507490" cy="1188720"/>
          </a:xfrm>
          <a:prstGeom prst="rect">
            <a:avLst/>
          </a:prstGeom>
          <a:noFill/>
          <a:ln/>
        </p:spPr>
        <p:txBody>
          <a:bodyPr wrap="square" lIns="91440" tIns="45720" rIns="91440" bIns="45720" rtlCol="0" anchor="ctr"/>
          <a:lstStyle/>
          <a:p>
            <a:pPr marL="0" indent="0" algn="just">
              <a:lnSpc>
                <a:spcPct val="130000"/>
              </a:lnSpc>
              <a:buNone/>
            </a:pPr>
            <a:r>
              <a:rPr lang="en-US" sz="1600" dirty="0">
                <a:solidFill>
                  <a:srgbClr val="1A1A1A"/>
                </a:solidFill>
                <a:latin typeface="Times New Roman"/>
                <a:ea typeface="Times New Roman" pitchFamily="34" charset="-122"/>
                <a:cs typeface="Times New Roman"/>
              </a:rPr>
              <a:t>YER-SİS; il, ilçe, belde ve köyler arasındaki karşılıklı mal, hizmet ve insan akımlarını tespit ederek yerleşimler arasındaki fonksiyonel ilişkileri ve kademelenmeyi ortaya koymayı amaçlar. Elinizdeki çalışma, bu çerçeveyi bölgesel düzeyde derinleştiren bir pilot uygulama olarak "YER-SİS 2" şeklinde adlandırılmaktadır.</a:t>
            </a:r>
            <a:endParaRPr lang="en-US" sz="1600">
              <a:latin typeface="Times New Roman"/>
              <a:cs typeface="Times New Roman"/>
            </a:endParaRPr>
          </a:p>
        </p:txBody>
      </p:sp>
      <p:sp>
        <p:nvSpPr>
          <p:cNvPr id="5" name="Text 2"/>
          <p:cNvSpPr/>
          <p:nvPr/>
        </p:nvSpPr>
        <p:spPr>
          <a:xfrm>
            <a:off x="914400" y="2743200"/>
            <a:ext cx="10332720" cy="1280160"/>
          </a:xfrm>
          <a:prstGeom prst="rect">
            <a:avLst/>
          </a:prstGeom>
          <a:noFill/>
          <a:ln/>
        </p:spPr>
        <p:txBody>
          <a:bodyPr wrap="square" lIns="91440" tIns="45720" rIns="91440" bIns="45720" rtlCol="0" anchor="ctr"/>
          <a:lstStyle/>
          <a:p>
            <a:pPr marL="0" indent="0" algn="just">
              <a:lnSpc>
                <a:spcPct val="130000"/>
              </a:lnSpc>
              <a:buNone/>
            </a:pPr>
            <a:r>
              <a:rPr lang="en-US" sz="1600" dirty="0">
                <a:solidFill>
                  <a:srgbClr val="1A1A1A"/>
                </a:solidFill>
                <a:latin typeface="Times New Roman"/>
                <a:ea typeface="Times New Roman" pitchFamily="34" charset="-122"/>
                <a:cs typeface="Times New Roman"/>
              </a:rPr>
              <a:t>YER-SİS 2 kapsamında; Şanlıurfa, Gaziantep ve Kilis illerine bağlı 6 ilçede toplanan 445 köy/mahalle anketi, üretim, iş gücü hareketliliği, temel ihtiyaçlara erişim ve gelecek beklentileri eksenlerinde analiz edilmiş; bulgular kurumun karar destek süreçlerine katkı sağlayacak şekilde görselleştirilmiştir.</a:t>
            </a:r>
            <a:endParaRPr lang="en-US" sz="1600">
              <a:latin typeface="Times New Roman"/>
              <a:cs typeface="Times New Roman"/>
            </a:endParaRPr>
          </a:p>
        </p:txBody>
      </p:sp>
      <p:sp>
        <p:nvSpPr>
          <p:cNvPr id="6" name="Shape 3"/>
          <p:cNvSpPr/>
          <p:nvPr/>
        </p:nvSpPr>
        <p:spPr>
          <a:xfrm>
            <a:off x="2207702" y="4709160"/>
            <a:ext cx="2377440" cy="1051560"/>
          </a:xfrm>
          <a:prstGeom prst="rect">
            <a:avLst/>
          </a:prstGeom>
          <a:solidFill>
            <a:srgbClr val="F2F2F2"/>
          </a:solidFill>
          <a:ln w="9525">
            <a:solidFill>
              <a:srgbClr val="D9D9D9"/>
            </a:solidFill>
            <a:prstDash val="solid"/>
          </a:ln>
        </p:spPr>
      </p:sp>
      <p:sp>
        <p:nvSpPr>
          <p:cNvPr id="7" name="Text 4"/>
          <p:cNvSpPr/>
          <p:nvPr/>
        </p:nvSpPr>
        <p:spPr>
          <a:xfrm>
            <a:off x="2207702" y="4773168"/>
            <a:ext cx="2377440" cy="548640"/>
          </a:xfrm>
          <a:prstGeom prst="rect">
            <a:avLst/>
          </a:prstGeom>
          <a:noFill/>
          <a:ln/>
        </p:spPr>
        <p:txBody>
          <a:bodyPr wrap="square" rtlCol="0" anchor="ctr"/>
          <a:lstStyle/>
          <a:p>
            <a:pPr marL="0" indent="0" algn="ctr">
              <a:buNone/>
            </a:pPr>
            <a:r>
              <a:rPr lang="en-US" sz="2600" b="1" dirty="0">
                <a:solidFill>
                  <a:srgbClr val="4472C4"/>
                </a:solidFill>
                <a:latin typeface="Times New Roman" pitchFamily="34" charset="0"/>
                <a:ea typeface="Times New Roman" pitchFamily="34" charset="-122"/>
                <a:cs typeface="Times New Roman" pitchFamily="34" charset="-120"/>
              </a:rPr>
              <a:t>445</a:t>
            </a:r>
            <a:endParaRPr lang="en-US" sz="2600" dirty="0"/>
          </a:p>
        </p:txBody>
      </p:sp>
      <p:sp>
        <p:nvSpPr>
          <p:cNvPr id="8" name="Text 5"/>
          <p:cNvSpPr/>
          <p:nvPr/>
        </p:nvSpPr>
        <p:spPr>
          <a:xfrm>
            <a:off x="2207702" y="5303520"/>
            <a:ext cx="2377440" cy="365760"/>
          </a:xfrm>
          <a:prstGeom prst="rect">
            <a:avLst/>
          </a:prstGeom>
          <a:noFill/>
          <a:ln/>
        </p:spPr>
        <p:txBody>
          <a:bodyPr wrap="square" rtlCol="0" anchor="ctr"/>
          <a:lstStyle/>
          <a:p>
            <a:pPr marL="0" indent="0" algn="ctr">
              <a:buNone/>
            </a:pPr>
            <a:r>
              <a:rPr lang="en-US" sz="1100" dirty="0">
                <a:solidFill>
                  <a:srgbClr val="595959"/>
                </a:solidFill>
                <a:latin typeface="Times New Roman" pitchFamily="34" charset="0"/>
                <a:ea typeface="Times New Roman" pitchFamily="34" charset="-122"/>
                <a:cs typeface="Times New Roman" pitchFamily="34" charset="-120"/>
              </a:rPr>
              <a:t>Köy/Mahalle Anketi</a:t>
            </a:r>
            <a:endParaRPr lang="en-US" sz="1100" dirty="0"/>
          </a:p>
        </p:txBody>
      </p:sp>
      <p:sp>
        <p:nvSpPr>
          <p:cNvPr id="9" name="Shape 6"/>
          <p:cNvSpPr/>
          <p:nvPr/>
        </p:nvSpPr>
        <p:spPr>
          <a:xfrm>
            <a:off x="4722302" y="4709160"/>
            <a:ext cx="2377440" cy="1051560"/>
          </a:xfrm>
          <a:prstGeom prst="rect">
            <a:avLst/>
          </a:prstGeom>
          <a:solidFill>
            <a:srgbClr val="F2F2F2"/>
          </a:solidFill>
          <a:ln w="9525">
            <a:solidFill>
              <a:srgbClr val="D9D9D9"/>
            </a:solidFill>
            <a:prstDash val="solid"/>
          </a:ln>
        </p:spPr>
      </p:sp>
      <p:sp>
        <p:nvSpPr>
          <p:cNvPr id="10" name="Text 7"/>
          <p:cNvSpPr/>
          <p:nvPr/>
        </p:nvSpPr>
        <p:spPr>
          <a:xfrm>
            <a:off x="4722302" y="4773168"/>
            <a:ext cx="2377440" cy="548640"/>
          </a:xfrm>
          <a:prstGeom prst="rect">
            <a:avLst/>
          </a:prstGeom>
          <a:noFill/>
          <a:ln/>
        </p:spPr>
        <p:txBody>
          <a:bodyPr wrap="square" rtlCol="0" anchor="ctr"/>
          <a:lstStyle/>
          <a:p>
            <a:pPr marL="0" indent="0" algn="ctr">
              <a:buNone/>
            </a:pPr>
            <a:r>
              <a:rPr lang="en-US" sz="2600" b="1" dirty="0">
                <a:solidFill>
                  <a:srgbClr val="4472C4"/>
                </a:solidFill>
                <a:latin typeface="Times New Roman" pitchFamily="34" charset="0"/>
                <a:ea typeface="Times New Roman" pitchFamily="34" charset="-122"/>
                <a:cs typeface="Times New Roman" pitchFamily="34" charset="-120"/>
              </a:rPr>
              <a:t>3</a:t>
            </a:r>
            <a:endParaRPr lang="en-US" sz="2600" dirty="0"/>
          </a:p>
        </p:txBody>
      </p:sp>
      <p:sp>
        <p:nvSpPr>
          <p:cNvPr id="11" name="Text 8"/>
          <p:cNvSpPr/>
          <p:nvPr/>
        </p:nvSpPr>
        <p:spPr>
          <a:xfrm>
            <a:off x="4722302" y="5303520"/>
            <a:ext cx="2377440" cy="365760"/>
          </a:xfrm>
          <a:prstGeom prst="rect">
            <a:avLst/>
          </a:prstGeom>
          <a:noFill/>
          <a:ln/>
        </p:spPr>
        <p:txBody>
          <a:bodyPr wrap="square" rtlCol="0" anchor="ctr"/>
          <a:lstStyle/>
          <a:p>
            <a:pPr marL="0" indent="0" algn="ctr">
              <a:buNone/>
            </a:pPr>
            <a:r>
              <a:rPr lang="en-US" sz="1100" dirty="0">
                <a:solidFill>
                  <a:srgbClr val="595959"/>
                </a:solidFill>
                <a:latin typeface="Times New Roman" pitchFamily="34" charset="0"/>
                <a:ea typeface="Times New Roman" pitchFamily="34" charset="-122"/>
                <a:cs typeface="Times New Roman" pitchFamily="34" charset="-120"/>
              </a:rPr>
              <a:t>İl</a:t>
            </a:r>
            <a:endParaRPr lang="en-US" sz="1100" dirty="0"/>
          </a:p>
        </p:txBody>
      </p:sp>
      <p:sp>
        <p:nvSpPr>
          <p:cNvPr id="12" name="Shape 9"/>
          <p:cNvSpPr/>
          <p:nvPr/>
        </p:nvSpPr>
        <p:spPr>
          <a:xfrm>
            <a:off x="7236902" y="4709160"/>
            <a:ext cx="2377440" cy="1051560"/>
          </a:xfrm>
          <a:prstGeom prst="rect">
            <a:avLst/>
          </a:prstGeom>
          <a:solidFill>
            <a:srgbClr val="F2F2F2"/>
          </a:solidFill>
          <a:ln w="9525">
            <a:solidFill>
              <a:srgbClr val="D9D9D9"/>
            </a:solidFill>
            <a:prstDash val="solid"/>
          </a:ln>
        </p:spPr>
      </p:sp>
      <p:sp>
        <p:nvSpPr>
          <p:cNvPr id="13" name="Text 10"/>
          <p:cNvSpPr/>
          <p:nvPr/>
        </p:nvSpPr>
        <p:spPr>
          <a:xfrm>
            <a:off x="7236902" y="4773168"/>
            <a:ext cx="2377440" cy="548640"/>
          </a:xfrm>
          <a:prstGeom prst="rect">
            <a:avLst/>
          </a:prstGeom>
          <a:noFill/>
          <a:ln/>
        </p:spPr>
        <p:txBody>
          <a:bodyPr wrap="square" rtlCol="0" anchor="ctr"/>
          <a:lstStyle/>
          <a:p>
            <a:pPr marL="0" indent="0" algn="ctr">
              <a:buNone/>
            </a:pPr>
            <a:r>
              <a:rPr lang="en-US" sz="2600" b="1" dirty="0">
                <a:solidFill>
                  <a:srgbClr val="4472C4"/>
                </a:solidFill>
                <a:latin typeface="Times New Roman" pitchFamily="34" charset="0"/>
                <a:ea typeface="Times New Roman" pitchFamily="34" charset="-122"/>
                <a:cs typeface="Times New Roman" pitchFamily="34" charset="-120"/>
              </a:rPr>
              <a:t>6</a:t>
            </a:r>
            <a:endParaRPr lang="en-US" sz="2600" dirty="0"/>
          </a:p>
        </p:txBody>
      </p:sp>
      <p:sp>
        <p:nvSpPr>
          <p:cNvPr id="14" name="Text 11"/>
          <p:cNvSpPr/>
          <p:nvPr/>
        </p:nvSpPr>
        <p:spPr>
          <a:xfrm>
            <a:off x="7236902" y="5303520"/>
            <a:ext cx="2377440" cy="365760"/>
          </a:xfrm>
          <a:prstGeom prst="rect">
            <a:avLst/>
          </a:prstGeom>
          <a:noFill/>
          <a:ln/>
        </p:spPr>
        <p:txBody>
          <a:bodyPr wrap="square" rtlCol="0" anchor="ctr"/>
          <a:lstStyle/>
          <a:p>
            <a:pPr marL="0" indent="0" algn="ctr">
              <a:buNone/>
            </a:pPr>
            <a:r>
              <a:rPr lang="en-US" sz="1100" dirty="0">
                <a:solidFill>
                  <a:srgbClr val="595959"/>
                </a:solidFill>
                <a:latin typeface="Times New Roman" pitchFamily="34" charset="0"/>
                <a:ea typeface="Times New Roman" pitchFamily="34" charset="-122"/>
                <a:cs typeface="Times New Roman" pitchFamily="34" charset="-120"/>
              </a:rPr>
              <a:t>İlçe</a:t>
            </a:r>
            <a:endParaRPr lang="en-US" sz="1100" dirty="0"/>
          </a:p>
        </p:txBody>
      </p:sp>
      <p:sp>
        <p:nvSpPr>
          <p:cNvPr id="18" name="Text 15"/>
          <p:cNvSpPr/>
          <p:nvPr/>
        </p:nvSpPr>
        <p:spPr>
          <a:xfrm>
            <a:off x="345347" y="6537960"/>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lIns="91440" tIns="45720" rIns="91440" bIns="45720" rtlCol="0" anchor="ctr"/>
          <a:lstStyle/>
          <a:p>
            <a:pPr marL="0" indent="0" algn="l">
              <a:buNone/>
            </a:pPr>
            <a:r>
              <a:rPr lang="en-US" sz="2400" b="1" dirty="0" err="1">
                <a:solidFill>
                  <a:srgbClr val="FFFFFF"/>
                </a:solidFill>
                <a:latin typeface="Times New Roman"/>
                <a:ea typeface="Times New Roman" pitchFamily="34" charset="-122"/>
                <a:cs typeface="Times New Roman"/>
              </a:rPr>
              <a:t>Anketin</a:t>
            </a:r>
            <a:r>
              <a:rPr lang="en-US" sz="2400" b="1" dirty="0">
                <a:solidFill>
                  <a:srgbClr val="FFFFFF"/>
                </a:solidFill>
                <a:latin typeface="Times New Roman"/>
                <a:ea typeface="Times New Roman" pitchFamily="34" charset="-122"/>
                <a:cs typeface="Times New Roman"/>
              </a:rPr>
              <a:t> Genel </a:t>
            </a:r>
            <a:r>
              <a:rPr lang="en-US" sz="2400" b="1" dirty="0" err="1">
                <a:solidFill>
                  <a:srgbClr val="FFFFFF"/>
                </a:solidFill>
                <a:latin typeface="Times New Roman"/>
                <a:ea typeface="Times New Roman" pitchFamily="34" charset="-122"/>
                <a:cs typeface="Times New Roman"/>
              </a:rPr>
              <a:t>Yapısı</a:t>
            </a:r>
            <a:endParaRPr lang="en-US" sz="2400" dirty="0" err="1">
              <a:latin typeface="Times New Roman"/>
              <a:cs typeface="Times New Roman"/>
            </a:endParaRPr>
          </a:p>
        </p:txBody>
      </p:sp>
      <p:sp>
        <p:nvSpPr>
          <p:cNvPr id="4" name="Text 1"/>
          <p:cNvSpPr/>
          <p:nvPr/>
        </p:nvSpPr>
        <p:spPr>
          <a:xfrm>
            <a:off x="914400" y="1371600"/>
            <a:ext cx="10332720" cy="548640"/>
          </a:xfrm>
          <a:prstGeom prst="rect">
            <a:avLst/>
          </a:prstGeom>
          <a:noFill/>
          <a:ln/>
        </p:spPr>
        <p:txBody>
          <a:bodyPr wrap="square" lIns="91440" tIns="45720" rIns="91440" bIns="45720" rtlCol="0" anchor="ctr"/>
          <a:lstStyle/>
          <a:p>
            <a:pPr marL="0" indent="0" algn="just">
              <a:buNone/>
            </a:pPr>
            <a:r>
              <a:rPr lang="en-US" sz="1600" dirty="0">
                <a:solidFill>
                  <a:srgbClr val="595959"/>
                </a:solidFill>
                <a:latin typeface="Times New Roman"/>
                <a:ea typeface="Times New Roman" pitchFamily="34" charset="-122"/>
                <a:cs typeface="Times New Roman"/>
              </a:rPr>
              <a:t>Anket, köy/mahalle/beldelerin sosyo-ekonomik yapısını beş ana bölümde ele almaktadır. Her ana bölümden en az bir soru tipi kapsam gösterimi amacıyla değerlendirmeye alınmıştır.</a:t>
            </a:r>
            <a:endParaRPr lang="en-US" sz="1600">
              <a:latin typeface="Times New Roman"/>
              <a:ea typeface="Calibri"/>
              <a:cs typeface="Times New Roman"/>
            </a:endParaRPr>
          </a:p>
        </p:txBody>
      </p:sp>
      <p:graphicFrame>
        <p:nvGraphicFramePr>
          <p:cNvPr id="5" name="Table 0"/>
          <p:cNvGraphicFramePr>
            <a:graphicFrameLocks noGrp="1"/>
          </p:cNvGraphicFramePr>
          <p:nvPr>
            <p:extLst>
              <p:ext uri="{D42A27DB-BD31-4B8C-83A1-F6EECF244321}">
                <p14:modId xmlns:p14="http://schemas.microsoft.com/office/powerpoint/2010/main" val="3796403036"/>
              </p:ext>
            </p:extLst>
          </p:nvPr>
        </p:nvGraphicFramePr>
        <p:xfrm>
          <a:off x="914400" y="2057400"/>
          <a:ext cx="10073499" cy="3950208"/>
        </p:xfrm>
        <a:graphic>
          <a:graphicData uri="http://schemas.openxmlformats.org/drawingml/2006/table">
            <a:tbl>
              <a:tblPr/>
              <a:tblGrid>
                <a:gridCol w="1463040">
                  <a:extLst>
                    <a:ext uri="{9D8B030D-6E8A-4147-A177-3AD203B41FA5}">
                      <a16:colId xmlns:a16="http://schemas.microsoft.com/office/drawing/2014/main" val="20000"/>
                    </a:ext>
                  </a:extLst>
                </a:gridCol>
                <a:gridCol w="8610459">
                  <a:extLst>
                    <a:ext uri="{9D8B030D-6E8A-4147-A177-3AD203B41FA5}">
                      <a16:colId xmlns:a16="http://schemas.microsoft.com/office/drawing/2014/main" val="20001"/>
                    </a:ext>
                  </a:extLst>
                </a:gridCol>
              </a:tblGrid>
              <a:tr h="658368">
                <a:tc>
                  <a:txBody>
                    <a:bodyPr/>
                    <a:lstStyle/>
                    <a:p>
                      <a:pPr marL="0" indent="0">
                        <a:buNone/>
                      </a:pPr>
                      <a:r>
                        <a:rPr lang="en-US" sz="1200" b="1" dirty="0">
                          <a:solidFill>
                            <a:srgbClr val="FFFFFF"/>
                          </a:solidFill>
                        </a:rPr>
                        <a:t>Bölüm</a:t>
                      </a:r>
                      <a:endParaRPr lang="en-US" sz="1200" dirty="0"/>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4472C4"/>
                    </a:solidFill>
                  </a:tcPr>
                </a:tc>
                <a:tc>
                  <a:txBody>
                    <a:bodyPr/>
                    <a:lstStyle/>
                    <a:p>
                      <a:pPr marL="0" indent="0">
                        <a:buNone/>
                      </a:pPr>
                      <a:r>
                        <a:rPr lang="en-US" sz="1200" b="1" dirty="0">
                          <a:solidFill>
                            <a:srgbClr val="FFFFFF"/>
                          </a:solidFill>
                        </a:rPr>
                        <a:t>Kapsadığı Konular</a:t>
                      </a:r>
                      <a:endParaRPr lang="en-US" sz="1200" dirty="0"/>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658368">
                <a:tc>
                  <a:txBody>
                    <a:bodyPr/>
                    <a:lstStyle/>
                    <a:p>
                      <a:pPr marL="0" indent="0">
                        <a:buNone/>
                      </a:pPr>
                      <a:r>
                        <a:rPr lang="en-US" sz="1600" b="1" dirty="0">
                          <a:solidFill>
                            <a:srgbClr val="1A1A1A"/>
                          </a:solidFill>
                          <a:latin typeface="Times New Roman"/>
                          <a:ea typeface="Times New Roman" pitchFamily="34" charset="-122"/>
                          <a:cs typeface="Times New Roman"/>
                        </a:rPr>
                        <a:t>Bölüm 1</a:t>
                      </a:r>
                      <a:endParaRPr lang="en-US" sz="1600">
                        <a:latin typeface="Times New Roman"/>
                        <a:ea typeface="Times New Roman" charset="0"/>
                        <a:cs typeface="Times New Roman"/>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Times New Roman"/>
                          <a:ea typeface="Times New Roman" pitchFamily="34" charset="-122"/>
                          <a:cs typeface="Times New Roman"/>
                        </a:rPr>
                        <a:t>Gelir Kaynakları, Üretim, Pazarlama, Nüfus, Tesisler</a:t>
                      </a:r>
                      <a:endParaRPr lang="en-US" sz="1400">
                        <a:latin typeface="Times New Roman"/>
                        <a:ea typeface="Times New Roman" charset="0"/>
                        <a:cs typeface="Times New Roman"/>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600" b="1" dirty="0">
                          <a:solidFill>
                            <a:srgbClr val="1A1A1A"/>
                          </a:solidFill>
                          <a:latin typeface="Times New Roman"/>
                          <a:ea typeface="Times New Roman" pitchFamily="34" charset="-122"/>
                          <a:cs typeface="Times New Roman"/>
                        </a:rPr>
                        <a:t>Bölüm 2</a:t>
                      </a:r>
                      <a:endParaRPr lang="en-US" sz="1600">
                        <a:latin typeface="Times New Roman"/>
                        <a:ea typeface="Times New Roman" charset="0"/>
                        <a:cs typeface="Times New Roman"/>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400" dirty="0">
                          <a:solidFill>
                            <a:srgbClr val="000000"/>
                          </a:solidFill>
                          <a:latin typeface="Times New Roman"/>
                          <a:ea typeface="Times New Roman" pitchFamily="34" charset="-122"/>
                          <a:cs typeface="Times New Roman"/>
                        </a:rPr>
                        <a:t>Temel İhtiyaçların Karşılandığı Yerler</a:t>
                      </a:r>
                      <a:endParaRPr lang="en-US" sz="1400">
                        <a:latin typeface="Times New Roman"/>
                        <a:ea typeface="Times New Roman" charset="0"/>
                        <a:cs typeface="Times New Roman"/>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658368">
                <a:tc>
                  <a:txBody>
                    <a:bodyPr/>
                    <a:lstStyle/>
                    <a:p>
                      <a:pPr marL="0" indent="0">
                        <a:buNone/>
                      </a:pPr>
                      <a:r>
                        <a:rPr lang="en-US" sz="1600" b="1" dirty="0">
                          <a:solidFill>
                            <a:srgbClr val="1A1A1A"/>
                          </a:solidFill>
                          <a:latin typeface="Times New Roman"/>
                          <a:ea typeface="Times New Roman" pitchFamily="34" charset="-122"/>
                          <a:cs typeface="Times New Roman"/>
                        </a:rPr>
                        <a:t>Bölüm 3</a:t>
                      </a:r>
                      <a:endParaRPr lang="en-US" sz="1600">
                        <a:latin typeface="Times New Roman"/>
                        <a:ea typeface="Times New Roman" charset="0"/>
                        <a:cs typeface="Times New Roman"/>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Times New Roman"/>
                          <a:ea typeface="Times New Roman" pitchFamily="34" charset="-122"/>
                          <a:cs typeface="Times New Roman"/>
                        </a:rPr>
                        <a:t>Hizmet ve İş Gücü Hareketliliği</a:t>
                      </a:r>
                      <a:endParaRPr lang="en-US" sz="1400">
                        <a:latin typeface="Times New Roman"/>
                        <a:ea typeface="Times New Roman" charset="0"/>
                        <a:cs typeface="Times New Roman"/>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600" b="1" dirty="0">
                          <a:solidFill>
                            <a:srgbClr val="1A1A1A"/>
                          </a:solidFill>
                          <a:latin typeface="Times New Roman"/>
                          <a:ea typeface="Times New Roman" pitchFamily="34" charset="-122"/>
                          <a:cs typeface="Times New Roman"/>
                        </a:rPr>
                        <a:t>Bölüm 4</a:t>
                      </a:r>
                      <a:endParaRPr lang="en-US" sz="1600">
                        <a:latin typeface="Times New Roman"/>
                        <a:ea typeface="Times New Roman" charset="0"/>
                        <a:cs typeface="Times New Roman"/>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400" dirty="0">
                          <a:solidFill>
                            <a:srgbClr val="000000"/>
                          </a:solidFill>
                          <a:latin typeface="Times New Roman"/>
                          <a:ea typeface="Times New Roman" pitchFamily="34" charset="-122"/>
                          <a:cs typeface="Times New Roman"/>
                        </a:rPr>
                        <a:t>Ulaşım ve Erişilebilirlik</a:t>
                      </a:r>
                      <a:endParaRPr lang="en-US" sz="1400">
                        <a:latin typeface="Times New Roman"/>
                        <a:ea typeface="Times New Roman" charset="0"/>
                        <a:cs typeface="Times New Roman"/>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658368">
                <a:tc>
                  <a:txBody>
                    <a:bodyPr/>
                    <a:lstStyle/>
                    <a:p>
                      <a:pPr marL="0" indent="0">
                        <a:buNone/>
                      </a:pPr>
                      <a:r>
                        <a:rPr lang="en-US" sz="1600" b="1" dirty="0">
                          <a:solidFill>
                            <a:srgbClr val="1A1A1A"/>
                          </a:solidFill>
                          <a:latin typeface="Times New Roman"/>
                          <a:ea typeface="Times New Roman" pitchFamily="34" charset="-122"/>
                          <a:cs typeface="Times New Roman"/>
                        </a:rPr>
                        <a:t>Bölüm 5</a:t>
                      </a:r>
                      <a:endParaRPr lang="en-US" sz="1600">
                        <a:latin typeface="Times New Roman"/>
                        <a:ea typeface="Times New Roman" charset="0"/>
                        <a:cs typeface="Times New Roman"/>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Times New Roman"/>
                          <a:ea typeface="Times New Roman" pitchFamily="34" charset="-122"/>
                          <a:cs typeface="Times New Roman"/>
                        </a:rPr>
                        <a:t>İhtiyaç, Beklenti ve Değişim Algısı</a:t>
                      </a:r>
                      <a:endParaRPr lang="en-US" sz="1400">
                        <a:latin typeface="Times New Roman"/>
                        <a:ea typeface="Times New Roman" charset="0"/>
                        <a:cs typeface="Times New Roman"/>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2"/>
          <p:cNvSpPr/>
          <p:nvPr/>
        </p:nvSpPr>
        <p:spPr>
          <a:xfrm>
            <a:off x="457200" y="6537960"/>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lIns="91440" tIns="45720" rIns="91440" bIns="45720" rtlCol="0" anchor="ctr"/>
          <a:lstStyle/>
          <a:p>
            <a:pPr marL="0" indent="0" algn="l">
              <a:buNone/>
            </a:pPr>
            <a:r>
              <a:rPr lang="en-US" sz="2400" b="1" dirty="0">
                <a:solidFill>
                  <a:srgbClr val="FFFFFF"/>
                </a:solidFill>
                <a:latin typeface="Times New Roman"/>
                <a:ea typeface="Times New Roman" pitchFamily="34" charset="-122"/>
                <a:cs typeface="Times New Roman"/>
              </a:rPr>
              <a:t>Veri </a:t>
            </a:r>
            <a:r>
              <a:rPr lang="en-US" sz="2400" b="1" dirty="0" err="1">
                <a:solidFill>
                  <a:srgbClr val="FFFFFF"/>
                </a:solidFill>
                <a:latin typeface="Times New Roman"/>
                <a:ea typeface="Times New Roman" pitchFamily="34" charset="-122"/>
                <a:cs typeface="Times New Roman"/>
              </a:rPr>
              <a:t>Setinin</a:t>
            </a:r>
            <a:r>
              <a:rPr lang="en-US" sz="2400" b="1" dirty="0">
                <a:solidFill>
                  <a:srgbClr val="FFFFFF"/>
                </a:solidFill>
                <a:latin typeface="Times New Roman"/>
                <a:ea typeface="Times New Roman" pitchFamily="34" charset="-122"/>
                <a:cs typeface="Times New Roman"/>
              </a:rPr>
              <a:t> </a:t>
            </a:r>
            <a:r>
              <a:rPr lang="en-US" sz="2400" b="1" dirty="0" err="1">
                <a:solidFill>
                  <a:srgbClr val="FFFFFF"/>
                </a:solidFill>
                <a:latin typeface="Times New Roman"/>
                <a:ea typeface="Times New Roman" pitchFamily="34" charset="-122"/>
                <a:cs typeface="Times New Roman"/>
              </a:rPr>
              <a:t>Kapsamı</a:t>
            </a:r>
            <a:endParaRPr lang="en-US" sz="2400" dirty="0" err="1">
              <a:latin typeface="Times New Roman"/>
              <a:cs typeface="Times New Roman"/>
            </a:endParaRPr>
          </a:p>
        </p:txBody>
      </p:sp>
      <p:sp>
        <p:nvSpPr>
          <p:cNvPr id="4" name="Text 1"/>
          <p:cNvSpPr/>
          <p:nvPr/>
        </p:nvSpPr>
        <p:spPr>
          <a:xfrm>
            <a:off x="914400" y="1371600"/>
            <a:ext cx="10332720" cy="502920"/>
          </a:xfrm>
          <a:prstGeom prst="rect">
            <a:avLst/>
          </a:prstGeom>
          <a:noFill/>
          <a:ln/>
        </p:spPr>
        <p:txBody>
          <a:bodyPr wrap="square" lIns="91440" tIns="45720" rIns="91440" bIns="45720" rtlCol="0" anchor="ctr"/>
          <a:lstStyle/>
          <a:p>
            <a:pPr marL="0" indent="0" algn="just">
              <a:buNone/>
            </a:pPr>
            <a:r>
              <a:rPr lang="en-US" sz="1600" dirty="0">
                <a:solidFill>
                  <a:srgbClr val="1A1A1A"/>
                </a:solidFill>
                <a:latin typeface="Times New Roman"/>
                <a:ea typeface="Times New Roman" pitchFamily="34" charset="-122"/>
                <a:cs typeface="Times New Roman"/>
              </a:rPr>
              <a:t>Veri seti Türkiye genelini değil, aşağıdaki üç ile bağlı altı ilçedeki 445 köy/mahalleyi kapsamaktadır. Bulgular yalnızca bu üç il için geçerlidir.</a:t>
            </a:r>
            <a:endParaRPr lang="en-US" sz="1600">
              <a:latin typeface="Times New Roman"/>
              <a:ea typeface="Calibri"/>
              <a:cs typeface="Times New Roman"/>
            </a:endParaRPr>
          </a:p>
        </p:txBody>
      </p:sp>
      <p:sp>
        <p:nvSpPr>
          <p:cNvPr id="5" name="Shape 2"/>
          <p:cNvSpPr/>
          <p:nvPr/>
        </p:nvSpPr>
        <p:spPr>
          <a:xfrm>
            <a:off x="914400" y="2103120"/>
            <a:ext cx="3246120" cy="1828800"/>
          </a:xfrm>
          <a:prstGeom prst="rect">
            <a:avLst/>
          </a:prstGeom>
          <a:solidFill>
            <a:srgbClr val="F2F2F2"/>
          </a:solidFill>
          <a:ln w="19050">
            <a:solidFill>
              <a:srgbClr val="4472C4"/>
            </a:solidFill>
            <a:prstDash val="solid"/>
          </a:ln>
        </p:spPr>
      </p:sp>
      <p:sp>
        <p:nvSpPr>
          <p:cNvPr id="6" name="Text 3"/>
          <p:cNvSpPr/>
          <p:nvPr/>
        </p:nvSpPr>
        <p:spPr>
          <a:xfrm>
            <a:off x="1097280" y="2240280"/>
            <a:ext cx="2926080" cy="365760"/>
          </a:xfrm>
          <a:prstGeom prst="rect">
            <a:avLst/>
          </a:prstGeom>
          <a:noFill/>
          <a:ln/>
        </p:spPr>
        <p:txBody>
          <a:bodyPr wrap="square" rtlCol="0" anchor="ctr"/>
          <a:lstStyle/>
          <a:p>
            <a:pPr marL="0" indent="0">
              <a:buNone/>
            </a:pPr>
            <a:r>
              <a:rPr lang="en-US" sz="1500" b="1" dirty="0">
                <a:solidFill>
                  <a:srgbClr val="4472C4"/>
                </a:solidFill>
                <a:latin typeface="Times New Roman" pitchFamily="34" charset="0"/>
                <a:ea typeface="Times New Roman" pitchFamily="34" charset="-122"/>
                <a:cs typeface="Times New Roman" pitchFamily="34" charset="-120"/>
              </a:rPr>
              <a:t>ŞANLIURFA</a:t>
            </a:r>
            <a:endParaRPr lang="en-US" sz="1500" dirty="0"/>
          </a:p>
        </p:txBody>
      </p:sp>
      <p:sp>
        <p:nvSpPr>
          <p:cNvPr id="7" name="Text 4"/>
          <p:cNvSpPr/>
          <p:nvPr/>
        </p:nvSpPr>
        <p:spPr>
          <a:xfrm>
            <a:off x="1097280" y="2578608"/>
            <a:ext cx="1828800" cy="685800"/>
          </a:xfrm>
          <a:prstGeom prst="rect">
            <a:avLst/>
          </a:prstGeom>
          <a:noFill/>
          <a:ln/>
        </p:spPr>
        <p:txBody>
          <a:bodyPr wrap="square" rtlCol="0" anchor="ctr"/>
          <a:lstStyle/>
          <a:p>
            <a:pPr marL="0" indent="0">
              <a:buNone/>
            </a:pPr>
            <a:r>
              <a:rPr lang="en-US" sz="3400" b="1" dirty="0">
                <a:solidFill>
                  <a:srgbClr val="1A1A1A"/>
                </a:solidFill>
                <a:latin typeface="Times New Roman" pitchFamily="34" charset="0"/>
                <a:ea typeface="Times New Roman" pitchFamily="34" charset="-122"/>
                <a:cs typeface="Times New Roman" pitchFamily="34" charset="-120"/>
              </a:rPr>
              <a:t>252</a:t>
            </a:r>
            <a:endParaRPr lang="en-US" sz="3400" dirty="0"/>
          </a:p>
        </p:txBody>
      </p:sp>
      <p:sp>
        <p:nvSpPr>
          <p:cNvPr id="8" name="Text 5"/>
          <p:cNvSpPr/>
          <p:nvPr/>
        </p:nvSpPr>
        <p:spPr>
          <a:xfrm>
            <a:off x="1097280" y="3200400"/>
            <a:ext cx="2926080" cy="274320"/>
          </a:xfrm>
          <a:prstGeom prst="rect">
            <a:avLst/>
          </a:prstGeom>
          <a:noFill/>
          <a:ln/>
        </p:spPr>
        <p:txBody>
          <a:bodyPr wrap="square" rtlCol="0" anchor="ctr"/>
          <a:lstStyle/>
          <a:p>
            <a:pPr marL="0" indent="0">
              <a:buNone/>
            </a:pPr>
            <a:r>
              <a:rPr lang="en-US" sz="1050" dirty="0">
                <a:solidFill>
                  <a:srgbClr val="595959"/>
                </a:solidFill>
                <a:latin typeface="Times New Roman" pitchFamily="34" charset="0"/>
                <a:ea typeface="Times New Roman" pitchFamily="34" charset="-122"/>
                <a:cs typeface="Times New Roman" pitchFamily="34" charset="-120"/>
              </a:rPr>
              <a:t>köy / mahalle</a:t>
            </a:r>
            <a:endParaRPr lang="en-US" sz="1050" dirty="0"/>
          </a:p>
        </p:txBody>
      </p:sp>
      <p:sp>
        <p:nvSpPr>
          <p:cNvPr id="9" name="Text 6"/>
          <p:cNvSpPr/>
          <p:nvPr/>
        </p:nvSpPr>
        <p:spPr>
          <a:xfrm>
            <a:off x="1097280" y="3520440"/>
            <a:ext cx="2926080" cy="365760"/>
          </a:xfrm>
          <a:prstGeom prst="rect">
            <a:avLst/>
          </a:prstGeom>
          <a:noFill/>
          <a:ln/>
        </p:spPr>
        <p:txBody>
          <a:bodyPr wrap="square" rtlCol="0" anchor="ctr"/>
          <a:lstStyle/>
          <a:p>
            <a:pPr marL="0" indent="0">
              <a:buNone/>
            </a:pPr>
            <a:r>
              <a:rPr lang="en-US" sz="1000" dirty="0">
                <a:solidFill>
                  <a:srgbClr val="595959"/>
                </a:solidFill>
                <a:latin typeface="Times New Roman" pitchFamily="34" charset="0"/>
                <a:ea typeface="Times New Roman" pitchFamily="34" charset="-122"/>
                <a:cs typeface="Times New Roman" pitchFamily="34" charset="-120"/>
              </a:rPr>
              <a:t>Siverek (182) · Hilvan (70)</a:t>
            </a:r>
            <a:endParaRPr lang="en-US" sz="1000" dirty="0"/>
          </a:p>
        </p:txBody>
      </p:sp>
      <p:sp>
        <p:nvSpPr>
          <p:cNvPr id="10" name="Shape 7"/>
          <p:cNvSpPr/>
          <p:nvPr/>
        </p:nvSpPr>
        <p:spPr>
          <a:xfrm>
            <a:off x="4343400" y="2103120"/>
            <a:ext cx="3246120" cy="1828800"/>
          </a:xfrm>
          <a:prstGeom prst="rect">
            <a:avLst/>
          </a:prstGeom>
          <a:solidFill>
            <a:srgbClr val="F2F2F2"/>
          </a:solidFill>
          <a:ln w="19050">
            <a:solidFill>
              <a:srgbClr val="ED7D31"/>
            </a:solidFill>
            <a:prstDash val="solid"/>
          </a:ln>
        </p:spPr>
      </p:sp>
      <p:sp>
        <p:nvSpPr>
          <p:cNvPr id="11" name="Text 8"/>
          <p:cNvSpPr/>
          <p:nvPr/>
        </p:nvSpPr>
        <p:spPr>
          <a:xfrm>
            <a:off x="4526280" y="2240280"/>
            <a:ext cx="2926080" cy="365760"/>
          </a:xfrm>
          <a:prstGeom prst="rect">
            <a:avLst/>
          </a:prstGeom>
          <a:noFill/>
          <a:ln/>
        </p:spPr>
        <p:txBody>
          <a:bodyPr wrap="square" rtlCol="0" anchor="ctr"/>
          <a:lstStyle/>
          <a:p>
            <a:pPr marL="0" indent="0">
              <a:buNone/>
            </a:pPr>
            <a:r>
              <a:rPr lang="en-US" sz="1500" b="1" dirty="0">
                <a:solidFill>
                  <a:srgbClr val="ED7D31"/>
                </a:solidFill>
                <a:latin typeface="Times New Roman" pitchFamily="34" charset="0"/>
                <a:ea typeface="Times New Roman" pitchFamily="34" charset="-122"/>
                <a:cs typeface="Times New Roman" pitchFamily="34" charset="-120"/>
              </a:rPr>
              <a:t>GAZİANTEP</a:t>
            </a:r>
            <a:endParaRPr lang="en-US" sz="1500" dirty="0"/>
          </a:p>
        </p:txBody>
      </p:sp>
      <p:sp>
        <p:nvSpPr>
          <p:cNvPr id="12" name="Text 9"/>
          <p:cNvSpPr/>
          <p:nvPr/>
        </p:nvSpPr>
        <p:spPr>
          <a:xfrm>
            <a:off x="4526280" y="2578608"/>
            <a:ext cx="1828800" cy="685800"/>
          </a:xfrm>
          <a:prstGeom prst="rect">
            <a:avLst/>
          </a:prstGeom>
          <a:noFill/>
          <a:ln/>
        </p:spPr>
        <p:txBody>
          <a:bodyPr wrap="square" rtlCol="0" anchor="ctr"/>
          <a:lstStyle/>
          <a:p>
            <a:pPr marL="0" indent="0">
              <a:buNone/>
            </a:pPr>
            <a:r>
              <a:rPr lang="en-US" sz="3400" b="1" dirty="0">
                <a:solidFill>
                  <a:srgbClr val="1A1A1A"/>
                </a:solidFill>
                <a:latin typeface="Times New Roman" pitchFamily="34" charset="0"/>
                <a:ea typeface="Times New Roman" pitchFamily="34" charset="-122"/>
                <a:cs typeface="Times New Roman" pitchFamily="34" charset="-120"/>
              </a:rPr>
              <a:t>121</a:t>
            </a:r>
            <a:endParaRPr lang="en-US" sz="3400" dirty="0"/>
          </a:p>
        </p:txBody>
      </p:sp>
      <p:sp>
        <p:nvSpPr>
          <p:cNvPr id="13" name="Text 10"/>
          <p:cNvSpPr/>
          <p:nvPr/>
        </p:nvSpPr>
        <p:spPr>
          <a:xfrm>
            <a:off x="4526280" y="3200400"/>
            <a:ext cx="2926080" cy="274320"/>
          </a:xfrm>
          <a:prstGeom prst="rect">
            <a:avLst/>
          </a:prstGeom>
          <a:noFill/>
          <a:ln/>
        </p:spPr>
        <p:txBody>
          <a:bodyPr wrap="square" rtlCol="0" anchor="ctr"/>
          <a:lstStyle/>
          <a:p>
            <a:pPr marL="0" indent="0">
              <a:buNone/>
            </a:pPr>
            <a:r>
              <a:rPr lang="en-US" sz="1050" dirty="0">
                <a:solidFill>
                  <a:srgbClr val="595959"/>
                </a:solidFill>
                <a:latin typeface="Times New Roman" pitchFamily="34" charset="0"/>
                <a:ea typeface="Times New Roman" pitchFamily="34" charset="-122"/>
                <a:cs typeface="Times New Roman" pitchFamily="34" charset="-120"/>
              </a:rPr>
              <a:t>köy / mahalle</a:t>
            </a:r>
            <a:endParaRPr lang="en-US" sz="1050" dirty="0"/>
          </a:p>
        </p:txBody>
      </p:sp>
      <p:sp>
        <p:nvSpPr>
          <p:cNvPr id="14" name="Text 11"/>
          <p:cNvSpPr/>
          <p:nvPr/>
        </p:nvSpPr>
        <p:spPr>
          <a:xfrm>
            <a:off x="4526280" y="3520440"/>
            <a:ext cx="2926080" cy="365760"/>
          </a:xfrm>
          <a:prstGeom prst="rect">
            <a:avLst/>
          </a:prstGeom>
          <a:noFill/>
          <a:ln/>
        </p:spPr>
        <p:txBody>
          <a:bodyPr wrap="square" rtlCol="0" anchor="ctr"/>
          <a:lstStyle/>
          <a:p>
            <a:pPr marL="0" indent="0">
              <a:buNone/>
            </a:pPr>
            <a:r>
              <a:rPr lang="en-US" sz="1000" dirty="0">
                <a:solidFill>
                  <a:srgbClr val="595959"/>
                </a:solidFill>
                <a:latin typeface="Times New Roman" pitchFamily="34" charset="0"/>
                <a:ea typeface="Times New Roman" pitchFamily="34" charset="-122"/>
                <a:cs typeface="Times New Roman" pitchFamily="34" charset="-120"/>
              </a:rPr>
              <a:t>İslahiye (71) · Nurdağı (50)</a:t>
            </a:r>
            <a:endParaRPr lang="en-US" sz="1000" dirty="0"/>
          </a:p>
        </p:txBody>
      </p:sp>
      <p:sp>
        <p:nvSpPr>
          <p:cNvPr id="15" name="Shape 12"/>
          <p:cNvSpPr/>
          <p:nvPr/>
        </p:nvSpPr>
        <p:spPr>
          <a:xfrm>
            <a:off x="7772400" y="2103120"/>
            <a:ext cx="3246120" cy="1828800"/>
          </a:xfrm>
          <a:prstGeom prst="rect">
            <a:avLst/>
          </a:prstGeom>
          <a:solidFill>
            <a:srgbClr val="F2F2F2"/>
          </a:solidFill>
          <a:ln w="19050">
            <a:solidFill>
              <a:srgbClr val="548235"/>
            </a:solidFill>
            <a:prstDash val="solid"/>
          </a:ln>
        </p:spPr>
      </p:sp>
      <p:sp>
        <p:nvSpPr>
          <p:cNvPr id="16" name="Text 13"/>
          <p:cNvSpPr/>
          <p:nvPr/>
        </p:nvSpPr>
        <p:spPr>
          <a:xfrm>
            <a:off x="7955280" y="2240280"/>
            <a:ext cx="2926080" cy="365760"/>
          </a:xfrm>
          <a:prstGeom prst="rect">
            <a:avLst/>
          </a:prstGeom>
          <a:noFill/>
          <a:ln/>
        </p:spPr>
        <p:txBody>
          <a:bodyPr wrap="square" rtlCol="0" anchor="ctr"/>
          <a:lstStyle/>
          <a:p>
            <a:pPr marL="0" indent="0">
              <a:buNone/>
            </a:pPr>
            <a:r>
              <a:rPr lang="en-US" sz="1500" b="1" dirty="0">
                <a:solidFill>
                  <a:srgbClr val="548235"/>
                </a:solidFill>
                <a:latin typeface="Times New Roman" pitchFamily="34" charset="0"/>
                <a:ea typeface="Times New Roman" pitchFamily="34" charset="-122"/>
                <a:cs typeface="Times New Roman" pitchFamily="34" charset="-120"/>
              </a:rPr>
              <a:t>KİLİS</a:t>
            </a:r>
            <a:endParaRPr lang="en-US" sz="1500" dirty="0"/>
          </a:p>
        </p:txBody>
      </p:sp>
      <p:sp>
        <p:nvSpPr>
          <p:cNvPr id="17" name="Text 14"/>
          <p:cNvSpPr/>
          <p:nvPr/>
        </p:nvSpPr>
        <p:spPr>
          <a:xfrm>
            <a:off x="7955280" y="2578608"/>
            <a:ext cx="1828800" cy="685800"/>
          </a:xfrm>
          <a:prstGeom prst="rect">
            <a:avLst/>
          </a:prstGeom>
          <a:noFill/>
          <a:ln/>
        </p:spPr>
        <p:txBody>
          <a:bodyPr wrap="square" rtlCol="0" anchor="ctr"/>
          <a:lstStyle/>
          <a:p>
            <a:pPr marL="0" indent="0">
              <a:buNone/>
            </a:pPr>
            <a:r>
              <a:rPr lang="en-US" sz="3400" b="1" dirty="0">
                <a:solidFill>
                  <a:srgbClr val="1A1A1A"/>
                </a:solidFill>
                <a:latin typeface="Times New Roman" pitchFamily="34" charset="0"/>
                <a:ea typeface="Times New Roman" pitchFamily="34" charset="-122"/>
                <a:cs typeface="Times New Roman" pitchFamily="34" charset="-120"/>
              </a:rPr>
              <a:t>72</a:t>
            </a:r>
            <a:endParaRPr lang="en-US" sz="3400" dirty="0"/>
          </a:p>
        </p:txBody>
      </p:sp>
      <p:sp>
        <p:nvSpPr>
          <p:cNvPr id="18" name="Text 15"/>
          <p:cNvSpPr/>
          <p:nvPr/>
        </p:nvSpPr>
        <p:spPr>
          <a:xfrm>
            <a:off x="7955280" y="3200400"/>
            <a:ext cx="2926080" cy="274320"/>
          </a:xfrm>
          <a:prstGeom prst="rect">
            <a:avLst/>
          </a:prstGeom>
          <a:noFill/>
          <a:ln/>
        </p:spPr>
        <p:txBody>
          <a:bodyPr wrap="square" rtlCol="0" anchor="ctr"/>
          <a:lstStyle/>
          <a:p>
            <a:pPr marL="0" indent="0">
              <a:buNone/>
            </a:pPr>
            <a:r>
              <a:rPr lang="en-US" sz="1050" dirty="0">
                <a:solidFill>
                  <a:srgbClr val="595959"/>
                </a:solidFill>
                <a:latin typeface="Times New Roman" pitchFamily="34" charset="0"/>
                <a:ea typeface="Times New Roman" pitchFamily="34" charset="-122"/>
                <a:cs typeface="Times New Roman" pitchFamily="34" charset="-120"/>
              </a:rPr>
              <a:t>köy / mahalle</a:t>
            </a:r>
            <a:endParaRPr lang="en-US" sz="1050" dirty="0"/>
          </a:p>
        </p:txBody>
      </p:sp>
      <p:sp>
        <p:nvSpPr>
          <p:cNvPr id="19" name="Text 16"/>
          <p:cNvSpPr/>
          <p:nvPr/>
        </p:nvSpPr>
        <p:spPr>
          <a:xfrm>
            <a:off x="7955280" y="3520440"/>
            <a:ext cx="2926080" cy="365760"/>
          </a:xfrm>
          <a:prstGeom prst="rect">
            <a:avLst/>
          </a:prstGeom>
          <a:noFill/>
          <a:ln/>
        </p:spPr>
        <p:txBody>
          <a:bodyPr wrap="square" rtlCol="0" anchor="ctr"/>
          <a:lstStyle/>
          <a:p>
            <a:pPr marL="0" indent="0">
              <a:buNone/>
            </a:pPr>
            <a:r>
              <a:rPr lang="en-US" sz="1000" dirty="0">
                <a:solidFill>
                  <a:srgbClr val="595959"/>
                </a:solidFill>
                <a:latin typeface="Times New Roman" pitchFamily="34" charset="0"/>
                <a:ea typeface="Times New Roman" pitchFamily="34" charset="-122"/>
                <a:cs typeface="Times New Roman" pitchFamily="34" charset="-120"/>
              </a:rPr>
              <a:t>Musabeyli (49) · Polateli (23)</a:t>
            </a:r>
            <a:endParaRPr lang="en-US" sz="1000" dirty="0"/>
          </a:p>
        </p:txBody>
      </p:sp>
      <p:sp>
        <p:nvSpPr>
          <p:cNvPr id="20" name="Text 17"/>
          <p:cNvSpPr/>
          <p:nvPr/>
        </p:nvSpPr>
        <p:spPr>
          <a:xfrm>
            <a:off x="914400" y="4251960"/>
            <a:ext cx="10332720" cy="548640"/>
          </a:xfrm>
          <a:prstGeom prst="rect">
            <a:avLst/>
          </a:prstGeom>
          <a:noFill/>
          <a:ln/>
        </p:spPr>
        <p:txBody>
          <a:bodyPr wrap="square" lIns="91440" tIns="45720" rIns="91440" bIns="45720" rtlCol="0" anchor="ctr"/>
          <a:lstStyle/>
          <a:p>
            <a:pPr marL="0" indent="0" algn="just">
              <a:buNone/>
            </a:pPr>
            <a:r>
              <a:rPr lang="en-US" sz="1600" i="1" dirty="0">
                <a:solidFill>
                  <a:srgbClr val="1A1A1A"/>
                </a:solidFill>
                <a:latin typeface="Times New Roman"/>
                <a:ea typeface="Times New Roman" pitchFamily="34" charset="-122"/>
                <a:cs typeface="Times New Roman"/>
              </a:rPr>
              <a:t>Aynı </a:t>
            </a:r>
            <a:r>
              <a:rPr lang="en-US" sz="1600" i="1" dirty="0" err="1">
                <a:solidFill>
                  <a:srgbClr val="1A1A1A"/>
                </a:solidFill>
                <a:latin typeface="Times New Roman"/>
                <a:ea typeface="Times New Roman" pitchFamily="34" charset="-122"/>
                <a:cs typeface="Times New Roman"/>
              </a:rPr>
              <a:t>coğrafi</a:t>
            </a:r>
            <a:r>
              <a:rPr lang="en-US" sz="1600" i="1" dirty="0">
                <a:solidFill>
                  <a:srgbClr val="1A1A1A"/>
                </a:solidFill>
                <a:latin typeface="Times New Roman"/>
                <a:ea typeface="Times New Roman" pitchFamily="34" charset="-122"/>
                <a:cs typeface="Times New Roman"/>
              </a:rPr>
              <a:t> </a:t>
            </a:r>
            <a:r>
              <a:rPr lang="en-US" sz="1600" i="1" dirty="0" err="1">
                <a:solidFill>
                  <a:srgbClr val="1A1A1A"/>
                </a:solidFill>
                <a:latin typeface="Times New Roman"/>
                <a:ea typeface="Times New Roman" pitchFamily="34" charset="-122"/>
                <a:cs typeface="Times New Roman"/>
              </a:rPr>
              <a:t>bölge</a:t>
            </a:r>
            <a:r>
              <a:rPr lang="en-US" sz="1600" i="1" dirty="0">
                <a:solidFill>
                  <a:srgbClr val="1A1A1A"/>
                </a:solidFill>
                <a:latin typeface="Times New Roman"/>
                <a:ea typeface="Times New Roman" pitchFamily="34" charset="-122"/>
                <a:cs typeface="Times New Roman"/>
              </a:rPr>
              <a:t> </a:t>
            </a:r>
            <a:r>
              <a:rPr lang="en-US" sz="1600" i="1" dirty="0" err="1">
                <a:solidFill>
                  <a:srgbClr val="1A1A1A"/>
                </a:solidFill>
                <a:latin typeface="Times New Roman"/>
                <a:ea typeface="Times New Roman" pitchFamily="34" charset="-122"/>
                <a:cs typeface="Times New Roman"/>
              </a:rPr>
              <a:t>içerisinde</a:t>
            </a:r>
            <a:r>
              <a:rPr lang="en-US" sz="1600" i="1" dirty="0">
                <a:solidFill>
                  <a:srgbClr val="1A1A1A"/>
                </a:solidFill>
                <a:latin typeface="Times New Roman"/>
                <a:ea typeface="Times New Roman" pitchFamily="34" charset="-122"/>
                <a:cs typeface="Times New Roman"/>
              </a:rPr>
              <a:t> </a:t>
            </a:r>
            <a:r>
              <a:rPr lang="en-US" sz="1600" i="1" dirty="0" err="1">
                <a:solidFill>
                  <a:srgbClr val="1A1A1A"/>
                </a:solidFill>
                <a:latin typeface="Times New Roman"/>
                <a:ea typeface="Times New Roman" pitchFamily="34" charset="-122"/>
                <a:cs typeface="Times New Roman"/>
              </a:rPr>
              <a:t>yer</a:t>
            </a:r>
            <a:r>
              <a:rPr lang="en-US" sz="1600" i="1" dirty="0">
                <a:solidFill>
                  <a:srgbClr val="1A1A1A"/>
                </a:solidFill>
                <a:latin typeface="Times New Roman"/>
                <a:ea typeface="Times New Roman" pitchFamily="34" charset="-122"/>
                <a:cs typeface="Times New Roman"/>
              </a:rPr>
              <a:t> </a:t>
            </a:r>
            <a:r>
              <a:rPr lang="en-US" sz="1600" i="1" dirty="0" err="1">
                <a:solidFill>
                  <a:srgbClr val="1A1A1A"/>
                </a:solidFill>
                <a:latin typeface="Times New Roman"/>
                <a:ea typeface="Times New Roman" pitchFamily="34" charset="-122"/>
                <a:cs typeface="Times New Roman"/>
              </a:rPr>
              <a:t>alan</a:t>
            </a:r>
            <a:r>
              <a:rPr lang="en-US" sz="1600" i="1" dirty="0">
                <a:solidFill>
                  <a:srgbClr val="1A1A1A"/>
                </a:solidFill>
                <a:latin typeface="Times New Roman"/>
                <a:ea typeface="Times New Roman" pitchFamily="34" charset="-122"/>
                <a:cs typeface="Times New Roman"/>
              </a:rPr>
              <a:t> </a:t>
            </a:r>
            <a:r>
              <a:rPr lang="en-US" sz="1600" i="1" dirty="0" err="1">
                <a:solidFill>
                  <a:srgbClr val="1A1A1A"/>
                </a:solidFill>
                <a:latin typeface="Times New Roman"/>
                <a:ea typeface="Times New Roman" pitchFamily="34" charset="-122"/>
                <a:cs typeface="Times New Roman"/>
              </a:rPr>
              <a:t>bu</a:t>
            </a:r>
            <a:r>
              <a:rPr lang="en-US" sz="1600" i="1" dirty="0">
                <a:solidFill>
                  <a:srgbClr val="1A1A1A"/>
                </a:solidFill>
                <a:latin typeface="Times New Roman"/>
                <a:ea typeface="Times New Roman" pitchFamily="34" charset="-122"/>
                <a:cs typeface="Times New Roman"/>
              </a:rPr>
              <a:t> </a:t>
            </a:r>
            <a:r>
              <a:rPr lang="en-US" sz="1600" i="1" dirty="0" err="1">
                <a:solidFill>
                  <a:srgbClr val="1A1A1A"/>
                </a:solidFill>
                <a:latin typeface="Times New Roman"/>
                <a:ea typeface="Times New Roman" pitchFamily="34" charset="-122"/>
                <a:cs typeface="Times New Roman"/>
              </a:rPr>
              <a:t>üç</a:t>
            </a:r>
            <a:r>
              <a:rPr lang="en-US" sz="1600" i="1" dirty="0">
                <a:solidFill>
                  <a:srgbClr val="1A1A1A"/>
                </a:solidFill>
                <a:latin typeface="Times New Roman"/>
                <a:ea typeface="Times New Roman" pitchFamily="34" charset="-122"/>
                <a:cs typeface="Times New Roman"/>
              </a:rPr>
              <a:t> il, </a:t>
            </a:r>
            <a:r>
              <a:rPr lang="en-US" sz="1600" i="1" dirty="0" err="1">
                <a:solidFill>
                  <a:srgbClr val="1A1A1A"/>
                </a:solidFill>
                <a:latin typeface="Times New Roman"/>
                <a:ea typeface="Times New Roman" pitchFamily="34" charset="-122"/>
                <a:cs typeface="Times New Roman"/>
              </a:rPr>
              <a:t>veri</a:t>
            </a:r>
            <a:r>
              <a:rPr lang="en-US" sz="1600" i="1" dirty="0">
                <a:solidFill>
                  <a:srgbClr val="1A1A1A"/>
                </a:solidFill>
                <a:latin typeface="Times New Roman"/>
                <a:ea typeface="Times New Roman" pitchFamily="34" charset="-122"/>
                <a:cs typeface="Times New Roman"/>
              </a:rPr>
              <a:t> </a:t>
            </a:r>
            <a:r>
              <a:rPr lang="en-US" sz="1600" i="1" dirty="0" err="1">
                <a:solidFill>
                  <a:srgbClr val="1A1A1A"/>
                </a:solidFill>
                <a:latin typeface="Times New Roman"/>
                <a:ea typeface="Times New Roman" pitchFamily="34" charset="-122"/>
                <a:cs typeface="Times New Roman"/>
              </a:rPr>
              <a:t>setinde</a:t>
            </a:r>
            <a:r>
              <a:rPr lang="en-US" sz="1600" i="1" dirty="0">
                <a:solidFill>
                  <a:srgbClr val="1A1A1A"/>
                </a:solidFill>
                <a:latin typeface="Times New Roman"/>
                <a:ea typeface="Times New Roman" pitchFamily="34" charset="-122"/>
                <a:cs typeface="Times New Roman"/>
              </a:rPr>
              <a:t> </a:t>
            </a:r>
            <a:r>
              <a:rPr lang="en-US" sz="1600" i="1" dirty="0" err="1">
                <a:solidFill>
                  <a:srgbClr val="1A1A1A"/>
                </a:solidFill>
                <a:latin typeface="Times New Roman"/>
                <a:ea typeface="Times New Roman" pitchFamily="34" charset="-122"/>
                <a:cs typeface="Times New Roman"/>
              </a:rPr>
              <a:t>toplam</a:t>
            </a:r>
            <a:r>
              <a:rPr lang="en-US" sz="1600" i="1" dirty="0">
                <a:solidFill>
                  <a:srgbClr val="1A1A1A"/>
                </a:solidFill>
                <a:latin typeface="Times New Roman"/>
                <a:ea typeface="Times New Roman" pitchFamily="34" charset="-122"/>
                <a:cs typeface="Times New Roman"/>
              </a:rPr>
              <a:t> 445 </a:t>
            </a:r>
            <a:r>
              <a:rPr lang="en-US" sz="1600" i="1" dirty="0" err="1">
                <a:solidFill>
                  <a:srgbClr val="1A1A1A"/>
                </a:solidFill>
                <a:latin typeface="Times New Roman"/>
                <a:ea typeface="Times New Roman" pitchFamily="34" charset="-122"/>
                <a:cs typeface="Times New Roman"/>
              </a:rPr>
              <a:t>yerleşim</a:t>
            </a:r>
            <a:r>
              <a:rPr lang="en-US" sz="1600" i="1" dirty="0">
                <a:solidFill>
                  <a:srgbClr val="1A1A1A"/>
                </a:solidFill>
                <a:latin typeface="Times New Roman"/>
                <a:ea typeface="Times New Roman" pitchFamily="34" charset="-122"/>
                <a:cs typeface="Times New Roman"/>
              </a:rPr>
              <a:t> </a:t>
            </a:r>
            <a:r>
              <a:rPr lang="en-US" sz="1600" i="1" dirty="0" err="1">
                <a:solidFill>
                  <a:srgbClr val="1A1A1A"/>
                </a:solidFill>
                <a:latin typeface="Times New Roman"/>
                <a:ea typeface="Times New Roman" pitchFamily="34" charset="-122"/>
                <a:cs typeface="Times New Roman"/>
              </a:rPr>
              <a:t>ile</a:t>
            </a:r>
            <a:r>
              <a:rPr lang="en-US" sz="1600" i="1" dirty="0">
                <a:solidFill>
                  <a:srgbClr val="1A1A1A"/>
                </a:solidFill>
                <a:latin typeface="Times New Roman"/>
                <a:ea typeface="Times New Roman" pitchFamily="34" charset="-122"/>
                <a:cs typeface="Times New Roman"/>
              </a:rPr>
              <a:t> </a:t>
            </a:r>
            <a:r>
              <a:rPr lang="en-US" sz="1600" i="1" dirty="0" err="1">
                <a:solidFill>
                  <a:srgbClr val="1A1A1A"/>
                </a:solidFill>
                <a:latin typeface="Times New Roman"/>
                <a:ea typeface="Times New Roman" pitchFamily="34" charset="-122"/>
                <a:cs typeface="Times New Roman"/>
              </a:rPr>
              <a:t>temsil</a:t>
            </a:r>
            <a:r>
              <a:rPr lang="en-US" sz="1600" i="1" dirty="0">
                <a:solidFill>
                  <a:srgbClr val="1A1A1A"/>
                </a:solidFill>
                <a:latin typeface="Times New Roman"/>
                <a:ea typeface="Times New Roman" pitchFamily="34" charset="-122"/>
                <a:cs typeface="Times New Roman"/>
              </a:rPr>
              <a:t> </a:t>
            </a:r>
            <a:r>
              <a:rPr lang="en-US" sz="1600" i="1" dirty="0" err="1">
                <a:solidFill>
                  <a:srgbClr val="1A1A1A"/>
                </a:solidFill>
                <a:latin typeface="Times New Roman"/>
                <a:ea typeface="Times New Roman" pitchFamily="34" charset="-122"/>
                <a:cs typeface="Times New Roman"/>
              </a:rPr>
              <a:t>edilmektedir</a:t>
            </a:r>
            <a:r>
              <a:rPr lang="en-US" sz="1600" i="1" dirty="0">
                <a:solidFill>
                  <a:srgbClr val="1A1A1A"/>
                </a:solidFill>
                <a:latin typeface="Times New Roman"/>
                <a:ea typeface="Times New Roman" pitchFamily="34" charset="-122"/>
                <a:cs typeface="Times New Roman"/>
              </a:rPr>
              <a:t>. 21 ana </a:t>
            </a:r>
            <a:r>
              <a:rPr lang="en-US" sz="1600" i="1" dirty="0" err="1">
                <a:solidFill>
                  <a:srgbClr val="1A1A1A"/>
                </a:solidFill>
                <a:latin typeface="Times New Roman"/>
                <a:ea typeface="Times New Roman" pitchFamily="34" charset="-122"/>
                <a:cs typeface="Times New Roman"/>
              </a:rPr>
              <a:t>soru</a:t>
            </a:r>
            <a:r>
              <a:rPr lang="en-US" sz="1600" i="1" dirty="0">
                <a:solidFill>
                  <a:srgbClr val="1A1A1A"/>
                </a:solidFill>
                <a:latin typeface="Times New Roman"/>
                <a:ea typeface="Times New Roman" pitchFamily="34" charset="-122"/>
                <a:cs typeface="Times New Roman"/>
              </a:rPr>
              <a:t>, 5 </a:t>
            </a:r>
            <a:r>
              <a:rPr lang="en-US" sz="1600" i="1" dirty="0" err="1">
                <a:solidFill>
                  <a:srgbClr val="1A1A1A"/>
                </a:solidFill>
                <a:latin typeface="Times New Roman"/>
                <a:ea typeface="Times New Roman" pitchFamily="34" charset="-122"/>
                <a:cs typeface="Times New Roman"/>
              </a:rPr>
              <a:t>bölüm</a:t>
            </a:r>
            <a:r>
              <a:rPr lang="en-US" sz="1600" i="1" dirty="0">
                <a:solidFill>
                  <a:srgbClr val="1A1A1A"/>
                </a:solidFill>
                <a:latin typeface="Times New Roman"/>
                <a:ea typeface="Times New Roman" pitchFamily="34" charset="-122"/>
                <a:cs typeface="Times New Roman"/>
              </a:rPr>
              <a:t>.</a:t>
            </a:r>
            <a:endParaRPr lang="en-US" sz="1600">
              <a:latin typeface="Times New Roman"/>
              <a:cs typeface="Times New Roman"/>
            </a:endParaRPr>
          </a:p>
        </p:txBody>
      </p:sp>
      <p:sp>
        <p:nvSpPr>
          <p:cNvPr id="21" name="Text 18"/>
          <p:cNvSpPr/>
          <p:nvPr/>
        </p:nvSpPr>
        <p:spPr>
          <a:xfrm>
            <a:off x="457200" y="6537960"/>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lIns="91440" tIns="45720" rIns="91440" bIns="45720" rtlCol="0" anchor="ctr"/>
          <a:lstStyle/>
          <a:p>
            <a:pPr marL="0" indent="0" algn="l">
              <a:buNone/>
            </a:pPr>
            <a:r>
              <a:rPr lang="en-US" sz="2400" b="1" dirty="0">
                <a:solidFill>
                  <a:srgbClr val="FFFFFF"/>
                </a:solidFill>
                <a:latin typeface="Times New Roman"/>
                <a:ea typeface="Times New Roman" pitchFamily="34" charset="-122"/>
                <a:cs typeface="Times New Roman"/>
              </a:rPr>
              <a:t>Analiz Yaklaşımı </a:t>
            </a:r>
            <a:r>
              <a:rPr lang="en-US" sz="2400" b="1" dirty="0" err="1">
                <a:solidFill>
                  <a:srgbClr val="FFFFFF"/>
                </a:solidFill>
                <a:latin typeface="Times New Roman"/>
                <a:ea typeface="Times New Roman" pitchFamily="34" charset="-122"/>
                <a:cs typeface="Times New Roman"/>
              </a:rPr>
              <a:t>ve</a:t>
            </a:r>
            <a:r>
              <a:rPr lang="en-US" sz="2400" b="1" dirty="0">
                <a:solidFill>
                  <a:srgbClr val="FFFFFF"/>
                </a:solidFill>
                <a:latin typeface="Times New Roman"/>
                <a:ea typeface="Times New Roman" pitchFamily="34" charset="-122"/>
                <a:cs typeface="Times New Roman"/>
              </a:rPr>
              <a:t> Soru </a:t>
            </a:r>
            <a:r>
              <a:rPr lang="en-US" sz="2400" b="1" dirty="0" err="1">
                <a:solidFill>
                  <a:srgbClr val="FFFFFF"/>
                </a:solidFill>
                <a:latin typeface="Times New Roman"/>
                <a:ea typeface="Times New Roman" pitchFamily="34" charset="-122"/>
                <a:cs typeface="Times New Roman"/>
              </a:rPr>
              <a:t>Seçimi</a:t>
            </a:r>
            <a:endParaRPr lang="en-US" sz="2400" dirty="0" err="1">
              <a:latin typeface="Times New Roman"/>
              <a:cs typeface="Times New Roman"/>
            </a:endParaRPr>
          </a:p>
        </p:txBody>
      </p:sp>
      <p:sp>
        <p:nvSpPr>
          <p:cNvPr id="4" name="Text 1"/>
          <p:cNvSpPr/>
          <p:nvPr/>
        </p:nvSpPr>
        <p:spPr>
          <a:xfrm>
            <a:off x="914400" y="1371600"/>
            <a:ext cx="10332720" cy="777240"/>
          </a:xfrm>
          <a:prstGeom prst="rect">
            <a:avLst/>
          </a:prstGeom>
          <a:noFill/>
          <a:ln/>
        </p:spPr>
        <p:txBody>
          <a:bodyPr wrap="square" lIns="91440" tIns="45720" rIns="91440" bIns="45720" rtlCol="0" anchor="ctr"/>
          <a:lstStyle/>
          <a:p>
            <a:pPr marL="0" indent="0" algn="just">
              <a:lnSpc>
                <a:spcPct val="125000"/>
              </a:lnSpc>
              <a:buNone/>
            </a:pPr>
            <a:r>
              <a:rPr lang="en-US" sz="1600" dirty="0">
                <a:solidFill>
                  <a:srgbClr val="1A1A1A"/>
                </a:solidFill>
                <a:latin typeface="Times New Roman"/>
                <a:ea typeface="Times New Roman" pitchFamily="34" charset="-122"/>
                <a:cs typeface="Times New Roman"/>
              </a:rPr>
              <a:t>Her ana bölümden en az bir soru tipi kapsam göstermek amacıyla değerlendirmeye alınmıştır. Detaylı analiz, </a:t>
            </a:r>
            <a:r>
              <a:rPr lang="en-US" sz="1600" dirty="0" err="1">
                <a:solidFill>
                  <a:srgbClr val="1A1A1A"/>
                </a:solidFill>
                <a:latin typeface="Times New Roman"/>
                <a:ea typeface="Times New Roman" pitchFamily="34" charset="-122"/>
                <a:cs typeface="Times New Roman"/>
              </a:rPr>
              <a:t>veri</a:t>
            </a:r>
            <a:r>
              <a:rPr lang="en-US" sz="1600" dirty="0">
                <a:solidFill>
                  <a:srgbClr val="1A1A1A"/>
                </a:solidFill>
                <a:latin typeface="Times New Roman"/>
                <a:ea typeface="Times New Roman" pitchFamily="34" charset="-122"/>
                <a:cs typeface="Times New Roman"/>
              </a:rPr>
              <a:t> </a:t>
            </a:r>
            <a:r>
              <a:rPr lang="en-US" sz="1600" dirty="0" err="1">
                <a:solidFill>
                  <a:srgbClr val="1A1A1A"/>
                </a:solidFill>
                <a:latin typeface="Times New Roman"/>
                <a:ea typeface="Times New Roman" pitchFamily="34" charset="-122"/>
                <a:cs typeface="Times New Roman"/>
              </a:rPr>
              <a:t>açısından</a:t>
            </a:r>
            <a:r>
              <a:rPr lang="en-US" sz="1600" dirty="0">
                <a:solidFill>
                  <a:srgbClr val="1A1A1A"/>
                </a:solidFill>
                <a:latin typeface="Times New Roman"/>
                <a:ea typeface="Times New Roman" pitchFamily="34" charset="-122"/>
                <a:cs typeface="Times New Roman"/>
              </a:rPr>
              <a:t> </a:t>
            </a:r>
            <a:r>
              <a:rPr lang="en-US" sz="1600" dirty="0" err="1">
                <a:solidFill>
                  <a:srgbClr val="1A1A1A"/>
                </a:solidFill>
                <a:latin typeface="Times New Roman"/>
                <a:ea typeface="Times New Roman" pitchFamily="34" charset="-122"/>
                <a:cs typeface="Times New Roman"/>
              </a:rPr>
              <a:t>daha</a:t>
            </a:r>
            <a:r>
              <a:rPr lang="en-US" sz="1600" dirty="0">
                <a:solidFill>
                  <a:srgbClr val="1A1A1A"/>
                </a:solidFill>
                <a:latin typeface="Times New Roman"/>
                <a:ea typeface="Times New Roman" pitchFamily="34" charset="-122"/>
                <a:cs typeface="Times New Roman"/>
              </a:rPr>
              <a:t> </a:t>
            </a:r>
            <a:r>
              <a:rPr lang="en-US" sz="1600" dirty="0" err="1">
                <a:solidFill>
                  <a:srgbClr val="1A1A1A"/>
                </a:solidFill>
                <a:latin typeface="Times New Roman"/>
                <a:ea typeface="Times New Roman" pitchFamily="34" charset="-122"/>
                <a:cs typeface="Times New Roman"/>
              </a:rPr>
              <a:t>anlamlı</a:t>
            </a:r>
            <a:r>
              <a:rPr lang="en-US" sz="1600" dirty="0">
                <a:solidFill>
                  <a:srgbClr val="1A1A1A"/>
                </a:solidFill>
                <a:latin typeface="Times New Roman"/>
                <a:ea typeface="Times New Roman" pitchFamily="34" charset="-122"/>
                <a:cs typeface="Times New Roman"/>
              </a:rPr>
              <a:t> </a:t>
            </a:r>
            <a:r>
              <a:rPr lang="en-US" sz="1600" dirty="0" err="1">
                <a:solidFill>
                  <a:srgbClr val="1A1A1A"/>
                </a:solidFill>
                <a:latin typeface="Times New Roman"/>
                <a:ea typeface="Times New Roman" pitchFamily="34" charset="-122"/>
                <a:cs typeface="Times New Roman"/>
              </a:rPr>
              <a:t>sonuçlar</a:t>
            </a:r>
            <a:r>
              <a:rPr lang="en-US" sz="1600" dirty="0">
                <a:solidFill>
                  <a:srgbClr val="1A1A1A"/>
                </a:solidFill>
                <a:latin typeface="Times New Roman"/>
                <a:ea typeface="Times New Roman" pitchFamily="34" charset="-122"/>
                <a:cs typeface="Times New Roman"/>
              </a:rPr>
              <a:t> </a:t>
            </a:r>
            <a:r>
              <a:rPr lang="en-US" sz="1600" dirty="0" err="1">
                <a:solidFill>
                  <a:srgbClr val="1A1A1A"/>
                </a:solidFill>
                <a:latin typeface="Times New Roman"/>
                <a:ea typeface="Times New Roman" pitchFamily="34" charset="-122"/>
                <a:cs typeface="Times New Roman"/>
              </a:rPr>
              <a:t>üreten</a:t>
            </a:r>
            <a:r>
              <a:rPr lang="en-US" sz="1600" dirty="0">
                <a:solidFill>
                  <a:srgbClr val="1A1A1A"/>
                </a:solidFill>
                <a:latin typeface="Times New Roman"/>
                <a:ea typeface="Times New Roman" pitchFamily="34" charset="-122"/>
                <a:cs typeface="Times New Roman"/>
              </a:rPr>
              <a:t> </a:t>
            </a:r>
            <a:r>
              <a:rPr lang="en-US" sz="1600" dirty="0" err="1">
                <a:solidFill>
                  <a:srgbClr val="1A1A1A"/>
                </a:solidFill>
                <a:latin typeface="Times New Roman"/>
                <a:ea typeface="Times New Roman" pitchFamily="34" charset="-122"/>
                <a:cs typeface="Times New Roman"/>
              </a:rPr>
              <a:t>altı</a:t>
            </a:r>
            <a:r>
              <a:rPr lang="en-US" sz="1600" dirty="0">
                <a:solidFill>
                  <a:srgbClr val="1A1A1A"/>
                </a:solidFill>
                <a:latin typeface="Times New Roman"/>
                <a:ea typeface="Times New Roman" pitchFamily="34" charset="-122"/>
                <a:cs typeface="Times New Roman"/>
              </a:rPr>
              <a:t> </a:t>
            </a:r>
            <a:r>
              <a:rPr lang="en-US" sz="1600" dirty="0" err="1">
                <a:solidFill>
                  <a:srgbClr val="1A1A1A"/>
                </a:solidFill>
                <a:latin typeface="Times New Roman"/>
                <a:ea typeface="Times New Roman" pitchFamily="34" charset="-122"/>
                <a:cs typeface="Times New Roman"/>
              </a:rPr>
              <a:t>soru</a:t>
            </a:r>
            <a:r>
              <a:rPr lang="en-US" sz="1600" dirty="0">
                <a:solidFill>
                  <a:srgbClr val="1A1A1A"/>
                </a:solidFill>
                <a:latin typeface="Times New Roman"/>
                <a:ea typeface="Times New Roman" pitchFamily="34" charset="-122"/>
                <a:cs typeface="Times New Roman"/>
              </a:rPr>
              <a:t> </a:t>
            </a:r>
            <a:r>
              <a:rPr lang="en-US" sz="1600" dirty="0" err="1">
                <a:solidFill>
                  <a:srgbClr val="1A1A1A"/>
                </a:solidFill>
                <a:latin typeface="Times New Roman"/>
                <a:ea typeface="Times New Roman" pitchFamily="34" charset="-122"/>
                <a:cs typeface="Times New Roman"/>
              </a:rPr>
              <a:t>grubu</a:t>
            </a:r>
            <a:r>
              <a:rPr lang="en-US" sz="1600" dirty="0">
                <a:solidFill>
                  <a:srgbClr val="1A1A1A"/>
                </a:solidFill>
                <a:latin typeface="Times New Roman"/>
                <a:ea typeface="Times New Roman" pitchFamily="34" charset="-122"/>
                <a:cs typeface="Times New Roman"/>
              </a:rPr>
              <a:t> </a:t>
            </a:r>
            <a:r>
              <a:rPr lang="en-US" sz="1600" dirty="0" err="1">
                <a:solidFill>
                  <a:srgbClr val="1A1A1A"/>
                </a:solidFill>
                <a:latin typeface="Times New Roman"/>
                <a:ea typeface="Times New Roman" pitchFamily="34" charset="-122"/>
                <a:cs typeface="Times New Roman"/>
              </a:rPr>
              <a:t>üzerinde</a:t>
            </a:r>
            <a:r>
              <a:rPr lang="en-US" sz="1600" dirty="0">
                <a:solidFill>
                  <a:srgbClr val="1A1A1A"/>
                </a:solidFill>
                <a:latin typeface="Times New Roman"/>
                <a:ea typeface="Times New Roman" pitchFamily="34" charset="-122"/>
                <a:cs typeface="Times New Roman"/>
              </a:rPr>
              <a:t> </a:t>
            </a:r>
            <a:r>
              <a:rPr lang="en-US" sz="1600" dirty="0" err="1">
                <a:solidFill>
                  <a:srgbClr val="1A1A1A"/>
                </a:solidFill>
                <a:latin typeface="Times New Roman"/>
                <a:ea typeface="Times New Roman" pitchFamily="34" charset="-122"/>
                <a:cs typeface="Times New Roman"/>
              </a:rPr>
              <a:t>yoğunlaştırılmıştır</a:t>
            </a:r>
            <a:r>
              <a:rPr lang="en-US" sz="1600" dirty="0">
                <a:solidFill>
                  <a:srgbClr val="1A1A1A"/>
                </a:solidFill>
                <a:latin typeface="Times New Roman"/>
                <a:ea typeface="Times New Roman" pitchFamily="34" charset="-122"/>
                <a:cs typeface="Times New Roman"/>
              </a:rPr>
              <a:t>.</a:t>
            </a:r>
            <a:endParaRPr lang="en-US" sz="1600">
              <a:solidFill>
                <a:srgbClr val="1A1A1A"/>
              </a:solidFill>
              <a:latin typeface="Times New Roman"/>
              <a:cs typeface="Times New Roman"/>
            </a:endParaRPr>
          </a:p>
        </p:txBody>
      </p:sp>
      <p:sp>
        <p:nvSpPr>
          <p:cNvPr id="5" name="Shape 2"/>
          <p:cNvSpPr/>
          <p:nvPr/>
        </p:nvSpPr>
        <p:spPr>
          <a:xfrm>
            <a:off x="914400" y="2468880"/>
            <a:ext cx="2487168" cy="1325880"/>
          </a:xfrm>
          <a:prstGeom prst="rect">
            <a:avLst/>
          </a:prstGeom>
          <a:solidFill>
            <a:srgbClr val="4472C4"/>
          </a:solidFill>
          <a:ln/>
        </p:spPr>
      </p:sp>
      <p:sp>
        <p:nvSpPr>
          <p:cNvPr id="6" name="Text 3"/>
          <p:cNvSpPr/>
          <p:nvPr/>
        </p:nvSpPr>
        <p:spPr>
          <a:xfrm>
            <a:off x="1051560" y="2578608"/>
            <a:ext cx="2194560" cy="292608"/>
          </a:xfrm>
          <a:prstGeom prst="rect">
            <a:avLst/>
          </a:prstGeom>
          <a:noFill/>
          <a:ln/>
        </p:spPr>
        <p:txBody>
          <a:bodyPr wrap="square" lIns="91440" tIns="45720" rIns="91440" bIns="45720" rtlCol="0" anchor="ctr"/>
          <a:lstStyle/>
          <a:p>
            <a:pPr marL="0" indent="0">
              <a:buNone/>
            </a:pPr>
            <a:r>
              <a:rPr lang="en-US" sz="1400" b="1" dirty="0">
                <a:solidFill>
                  <a:srgbClr val="D8E0F0"/>
                </a:solidFill>
                <a:latin typeface="Times New Roman"/>
                <a:ea typeface="Times New Roman" pitchFamily="34" charset="-122"/>
                <a:cs typeface="Times New Roman"/>
              </a:rPr>
              <a:t>SORU 1B</a:t>
            </a:r>
            <a:endParaRPr lang="en-US" sz="1400">
              <a:latin typeface="Times New Roman"/>
              <a:ea typeface="Calibri"/>
              <a:cs typeface="Times New Roman"/>
            </a:endParaRPr>
          </a:p>
        </p:txBody>
      </p:sp>
      <p:sp>
        <p:nvSpPr>
          <p:cNvPr id="7" name="Text 4"/>
          <p:cNvSpPr/>
          <p:nvPr/>
        </p:nvSpPr>
        <p:spPr>
          <a:xfrm>
            <a:off x="1051560" y="2880360"/>
            <a:ext cx="2212848" cy="822960"/>
          </a:xfrm>
          <a:prstGeom prst="rect">
            <a:avLst/>
          </a:prstGeom>
          <a:noFill/>
          <a:ln/>
        </p:spPr>
        <p:txBody>
          <a:bodyPr wrap="square" lIns="91440" tIns="45720" rIns="91440" bIns="45720" rtlCol="0" anchor="t"/>
          <a:lstStyle/>
          <a:p>
            <a:pPr marL="0" indent="0">
              <a:buNone/>
            </a:pPr>
            <a:r>
              <a:rPr lang="en-US" sz="1200" dirty="0">
                <a:solidFill>
                  <a:srgbClr val="FFFFFF"/>
                </a:solidFill>
                <a:latin typeface="Times New Roman"/>
                <a:ea typeface="Times New Roman" pitchFamily="34" charset="-122"/>
                <a:cs typeface="Times New Roman"/>
              </a:rPr>
              <a:t>Gelir kaynakları sıralaması</a:t>
            </a:r>
            <a:endParaRPr lang="en-US" sz="1200">
              <a:latin typeface="Times New Roman"/>
              <a:ea typeface="Calibri"/>
              <a:cs typeface="Times New Roman"/>
            </a:endParaRPr>
          </a:p>
        </p:txBody>
      </p:sp>
      <p:sp>
        <p:nvSpPr>
          <p:cNvPr id="8" name="Shape 5"/>
          <p:cNvSpPr/>
          <p:nvPr/>
        </p:nvSpPr>
        <p:spPr>
          <a:xfrm>
            <a:off x="3547872" y="2468880"/>
            <a:ext cx="2487168" cy="1325880"/>
          </a:xfrm>
          <a:prstGeom prst="rect">
            <a:avLst/>
          </a:prstGeom>
          <a:solidFill>
            <a:srgbClr val="2F5496"/>
          </a:solidFill>
          <a:ln/>
        </p:spPr>
      </p:sp>
      <p:sp>
        <p:nvSpPr>
          <p:cNvPr id="9" name="Text 6"/>
          <p:cNvSpPr/>
          <p:nvPr/>
        </p:nvSpPr>
        <p:spPr>
          <a:xfrm>
            <a:off x="3685032" y="2578608"/>
            <a:ext cx="2194560" cy="292608"/>
          </a:xfrm>
          <a:prstGeom prst="rect">
            <a:avLst/>
          </a:prstGeom>
          <a:noFill/>
          <a:ln/>
        </p:spPr>
        <p:txBody>
          <a:bodyPr wrap="square" lIns="91440" tIns="45720" rIns="91440" bIns="45720" rtlCol="0" anchor="ctr"/>
          <a:lstStyle/>
          <a:p>
            <a:pPr marL="0" indent="0">
              <a:buNone/>
            </a:pPr>
            <a:r>
              <a:rPr lang="en-US" sz="1400" b="1" dirty="0">
                <a:solidFill>
                  <a:srgbClr val="D8E0F0"/>
                </a:solidFill>
                <a:latin typeface="Times New Roman"/>
                <a:ea typeface="Times New Roman" pitchFamily="34" charset="-122"/>
                <a:cs typeface="Times New Roman"/>
              </a:rPr>
              <a:t>SORU 4 + 2B</a:t>
            </a:r>
            <a:endParaRPr lang="en-US" sz="1400">
              <a:latin typeface="Times New Roman"/>
              <a:ea typeface="Calibri"/>
              <a:cs typeface="Times New Roman"/>
            </a:endParaRPr>
          </a:p>
        </p:txBody>
      </p:sp>
      <p:sp>
        <p:nvSpPr>
          <p:cNvPr id="10" name="Text 7"/>
          <p:cNvSpPr/>
          <p:nvPr/>
        </p:nvSpPr>
        <p:spPr>
          <a:xfrm>
            <a:off x="3685032" y="2880360"/>
            <a:ext cx="2212848" cy="822960"/>
          </a:xfrm>
          <a:prstGeom prst="rect">
            <a:avLst/>
          </a:prstGeom>
          <a:noFill/>
          <a:ln/>
        </p:spPr>
        <p:txBody>
          <a:bodyPr wrap="square" lIns="91440" tIns="45720" rIns="91440" bIns="45720" rtlCol="0" anchor="t"/>
          <a:lstStyle/>
          <a:p>
            <a:pPr marL="0" indent="0">
              <a:buNone/>
            </a:pPr>
            <a:r>
              <a:rPr lang="en-US" sz="1200" dirty="0">
                <a:solidFill>
                  <a:srgbClr val="FFFFFF"/>
                </a:solidFill>
                <a:latin typeface="Times New Roman"/>
                <a:ea typeface="Times New Roman" pitchFamily="34" charset="-122"/>
                <a:cs typeface="Times New Roman"/>
              </a:rPr>
              <a:t>Üretim ölçeği ve satış yerleri</a:t>
            </a:r>
            <a:endParaRPr lang="en-US" sz="1200">
              <a:latin typeface="Times New Roman"/>
              <a:ea typeface="Calibri"/>
              <a:cs typeface="Calibri"/>
            </a:endParaRPr>
          </a:p>
        </p:txBody>
      </p:sp>
      <p:sp>
        <p:nvSpPr>
          <p:cNvPr id="11" name="Shape 8"/>
          <p:cNvSpPr/>
          <p:nvPr/>
        </p:nvSpPr>
        <p:spPr>
          <a:xfrm>
            <a:off x="6181344" y="2468880"/>
            <a:ext cx="2487168" cy="1325880"/>
          </a:xfrm>
          <a:prstGeom prst="rect">
            <a:avLst/>
          </a:prstGeom>
          <a:solidFill>
            <a:srgbClr val="4472C4"/>
          </a:solidFill>
          <a:ln/>
        </p:spPr>
      </p:sp>
      <p:sp>
        <p:nvSpPr>
          <p:cNvPr id="12" name="Text 9"/>
          <p:cNvSpPr/>
          <p:nvPr/>
        </p:nvSpPr>
        <p:spPr>
          <a:xfrm>
            <a:off x="6318504" y="2578608"/>
            <a:ext cx="2194560" cy="292608"/>
          </a:xfrm>
          <a:prstGeom prst="rect">
            <a:avLst/>
          </a:prstGeom>
          <a:noFill/>
          <a:ln/>
        </p:spPr>
        <p:txBody>
          <a:bodyPr wrap="square" lIns="91440" tIns="45720" rIns="91440" bIns="45720" rtlCol="0" anchor="ctr"/>
          <a:lstStyle/>
          <a:p>
            <a:pPr marL="0" indent="0">
              <a:buNone/>
            </a:pPr>
            <a:r>
              <a:rPr lang="en-US" sz="1400" b="1" dirty="0">
                <a:solidFill>
                  <a:srgbClr val="D8E0F0"/>
                </a:solidFill>
                <a:latin typeface="Times New Roman"/>
                <a:ea typeface="Times New Roman" pitchFamily="34" charset="-122"/>
                <a:cs typeface="Times New Roman"/>
              </a:rPr>
              <a:t>SORU 9</a:t>
            </a:r>
            <a:endParaRPr lang="en-US" sz="1400">
              <a:latin typeface="Times New Roman"/>
              <a:ea typeface="Calibri"/>
              <a:cs typeface="Calibri"/>
            </a:endParaRPr>
          </a:p>
        </p:txBody>
      </p:sp>
      <p:sp>
        <p:nvSpPr>
          <p:cNvPr id="13" name="Text 10"/>
          <p:cNvSpPr/>
          <p:nvPr/>
        </p:nvSpPr>
        <p:spPr>
          <a:xfrm>
            <a:off x="6318504" y="2880360"/>
            <a:ext cx="2212848" cy="822960"/>
          </a:xfrm>
          <a:prstGeom prst="rect">
            <a:avLst/>
          </a:prstGeom>
          <a:noFill/>
          <a:ln/>
        </p:spPr>
        <p:txBody>
          <a:bodyPr wrap="square" lIns="91440" tIns="45720" rIns="91440" bIns="45720" rtlCol="0" anchor="t"/>
          <a:lstStyle/>
          <a:p>
            <a:pPr marL="0" indent="0">
              <a:buNone/>
            </a:pPr>
            <a:r>
              <a:rPr lang="en-US" sz="1200" dirty="0">
                <a:solidFill>
                  <a:srgbClr val="FFFFFF"/>
                </a:solidFill>
                <a:latin typeface="Times New Roman"/>
                <a:ea typeface="Times New Roman" pitchFamily="34" charset="-122"/>
                <a:cs typeface="Times New Roman"/>
              </a:rPr>
              <a:t>Temel ihtiyaçlara erişim</a:t>
            </a:r>
            <a:endParaRPr lang="en-US" sz="1200">
              <a:latin typeface="Times New Roman"/>
              <a:ea typeface="Calibri"/>
              <a:cs typeface="Times New Roman"/>
            </a:endParaRPr>
          </a:p>
        </p:txBody>
      </p:sp>
      <p:sp>
        <p:nvSpPr>
          <p:cNvPr id="14" name="Shape 11"/>
          <p:cNvSpPr/>
          <p:nvPr/>
        </p:nvSpPr>
        <p:spPr>
          <a:xfrm>
            <a:off x="8814816" y="2468880"/>
            <a:ext cx="2487168" cy="1325880"/>
          </a:xfrm>
          <a:prstGeom prst="rect">
            <a:avLst/>
          </a:prstGeom>
          <a:solidFill>
            <a:srgbClr val="2F5496"/>
          </a:solidFill>
          <a:ln/>
        </p:spPr>
      </p:sp>
      <p:sp>
        <p:nvSpPr>
          <p:cNvPr id="15" name="Text 12"/>
          <p:cNvSpPr/>
          <p:nvPr/>
        </p:nvSpPr>
        <p:spPr>
          <a:xfrm>
            <a:off x="8951976" y="2578608"/>
            <a:ext cx="2194560" cy="292608"/>
          </a:xfrm>
          <a:prstGeom prst="rect">
            <a:avLst/>
          </a:prstGeom>
          <a:noFill/>
          <a:ln/>
        </p:spPr>
        <p:txBody>
          <a:bodyPr wrap="square" lIns="91440" tIns="45720" rIns="91440" bIns="45720" rtlCol="0" anchor="ctr"/>
          <a:lstStyle/>
          <a:p>
            <a:pPr marL="0" indent="0">
              <a:buNone/>
            </a:pPr>
            <a:r>
              <a:rPr lang="en-US" sz="1400" b="1" dirty="0">
                <a:solidFill>
                  <a:srgbClr val="D8E0F0"/>
                </a:solidFill>
                <a:latin typeface="Times New Roman"/>
                <a:ea typeface="Times New Roman" pitchFamily="34" charset="-122"/>
                <a:cs typeface="Times New Roman"/>
              </a:rPr>
              <a:t>SORU 11</a:t>
            </a:r>
            <a:endParaRPr lang="en-US" sz="1400">
              <a:latin typeface="Times New Roman"/>
              <a:ea typeface="Calibri"/>
              <a:cs typeface="Times New Roman"/>
            </a:endParaRPr>
          </a:p>
        </p:txBody>
      </p:sp>
      <p:sp>
        <p:nvSpPr>
          <p:cNvPr id="16" name="Text 13"/>
          <p:cNvSpPr/>
          <p:nvPr/>
        </p:nvSpPr>
        <p:spPr>
          <a:xfrm>
            <a:off x="8951976" y="2880360"/>
            <a:ext cx="2212848" cy="822960"/>
          </a:xfrm>
          <a:prstGeom prst="rect">
            <a:avLst/>
          </a:prstGeom>
          <a:noFill/>
          <a:ln/>
        </p:spPr>
        <p:txBody>
          <a:bodyPr wrap="square" lIns="91440" tIns="45720" rIns="91440" bIns="45720" rtlCol="0" anchor="t"/>
          <a:lstStyle/>
          <a:p>
            <a:pPr marL="0" indent="0">
              <a:buNone/>
            </a:pPr>
            <a:r>
              <a:rPr lang="en-US" sz="1200" dirty="0">
                <a:solidFill>
                  <a:srgbClr val="FFFFFF"/>
                </a:solidFill>
                <a:latin typeface="Times New Roman"/>
                <a:ea typeface="Times New Roman" pitchFamily="34" charset="-122"/>
                <a:cs typeface="Times New Roman"/>
              </a:rPr>
              <a:t>İş gücü hareketliliği</a:t>
            </a:r>
            <a:endParaRPr lang="en-US" sz="1200">
              <a:latin typeface="Times New Roman"/>
              <a:ea typeface="Calibri"/>
              <a:cs typeface="Times New Roman"/>
            </a:endParaRPr>
          </a:p>
        </p:txBody>
      </p:sp>
      <p:sp>
        <p:nvSpPr>
          <p:cNvPr id="17" name="Shape 14"/>
          <p:cNvSpPr/>
          <p:nvPr/>
        </p:nvSpPr>
        <p:spPr>
          <a:xfrm>
            <a:off x="914400" y="3977640"/>
            <a:ext cx="2487168" cy="1325880"/>
          </a:xfrm>
          <a:prstGeom prst="rect">
            <a:avLst/>
          </a:prstGeom>
          <a:solidFill>
            <a:srgbClr val="4472C4"/>
          </a:solidFill>
          <a:ln/>
        </p:spPr>
      </p:sp>
      <p:sp>
        <p:nvSpPr>
          <p:cNvPr id="18" name="Text 15"/>
          <p:cNvSpPr/>
          <p:nvPr/>
        </p:nvSpPr>
        <p:spPr>
          <a:xfrm>
            <a:off x="1051560" y="4087368"/>
            <a:ext cx="2194560" cy="292608"/>
          </a:xfrm>
          <a:prstGeom prst="rect">
            <a:avLst/>
          </a:prstGeom>
          <a:noFill/>
          <a:ln/>
        </p:spPr>
        <p:txBody>
          <a:bodyPr wrap="square" lIns="91440" tIns="45720" rIns="91440" bIns="45720" rtlCol="0" anchor="ctr"/>
          <a:lstStyle/>
          <a:p>
            <a:pPr marL="0" indent="0">
              <a:buNone/>
            </a:pPr>
            <a:r>
              <a:rPr lang="en-US" sz="1400" b="1" dirty="0">
                <a:solidFill>
                  <a:srgbClr val="D8E0F0"/>
                </a:solidFill>
                <a:latin typeface="Times New Roman"/>
                <a:ea typeface="Times New Roman" pitchFamily="34" charset="-122"/>
                <a:cs typeface="Times New Roman"/>
              </a:rPr>
              <a:t>SORU 20</a:t>
            </a:r>
            <a:endParaRPr lang="en-US" sz="1400">
              <a:latin typeface="Times New Roman"/>
              <a:ea typeface="Calibri"/>
              <a:cs typeface="Calibri"/>
            </a:endParaRPr>
          </a:p>
        </p:txBody>
      </p:sp>
      <p:sp>
        <p:nvSpPr>
          <p:cNvPr id="19" name="Text 16"/>
          <p:cNvSpPr/>
          <p:nvPr/>
        </p:nvSpPr>
        <p:spPr>
          <a:xfrm>
            <a:off x="1051560" y="4389120"/>
            <a:ext cx="2212848" cy="822960"/>
          </a:xfrm>
          <a:prstGeom prst="rect">
            <a:avLst/>
          </a:prstGeom>
          <a:noFill/>
          <a:ln/>
        </p:spPr>
        <p:txBody>
          <a:bodyPr wrap="square" lIns="91440" tIns="45720" rIns="91440" bIns="45720" rtlCol="0" anchor="t"/>
          <a:lstStyle/>
          <a:p>
            <a:pPr marL="0" indent="0">
              <a:buNone/>
            </a:pPr>
            <a:r>
              <a:rPr lang="en-US" sz="1200" dirty="0">
                <a:solidFill>
                  <a:srgbClr val="FFFFFF"/>
                </a:solidFill>
                <a:latin typeface="Times New Roman"/>
                <a:ea typeface="Times New Roman" pitchFamily="34" charset="-122"/>
                <a:cs typeface="Times New Roman"/>
              </a:rPr>
              <a:t>Son 5 yıldaki değişim algısı</a:t>
            </a:r>
            <a:endParaRPr lang="en-US" sz="1200">
              <a:latin typeface="Times New Roman"/>
              <a:ea typeface="Calibri"/>
              <a:cs typeface="Calibri"/>
            </a:endParaRPr>
          </a:p>
        </p:txBody>
      </p:sp>
      <p:sp>
        <p:nvSpPr>
          <p:cNvPr id="20" name="Shape 17"/>
          <p:cNvSpPr/>
          <p:nvPr/>
        </p:nvSpPr>
        <p:spPr>
          <a:xfrm>
            <a:off x="3547872" y="3977640"/>
            <a:ext cx="2487168" cy="1325880"/>
          </a:xfrm>
          <a:prstGeom prst="rect">
            <a:avLst/>
          </a:prstGeom>
          <a:solidFill>
            <a:srgbClr val="2F5496"/>
          </a:solidFill>
          <a:ln/>
        </p:spPr>
      </p:sp>
      <p:sp>
        <p:nvSpPr>
          <p:cNvPr id="21" name="Text 18"/>
          <p:cNvSpPr/>
          <p:nvPr/>
        </p:nvSpPr>
        <p:spPr>
          <a:xfrm>
            <a:off x="3685032" y="4087368"/>
            <a:ext cx="2194560" cy="292608"/>
          </a:xfrm>
          <a:prstGeom prst="rect">
            <a:avLst/>
          </a:prstGeom>
          <a:noFill/>
          <a:ln/>
        </p:spPr>
        <p:txBody>
          <a:bodyPr wrap="square" lIns="91440" tIns="45720" rIns="91440" bIns="45720" rtlCol="0" anchor="ctr"/>
          <a:lstStyle/>
          <a:p>
            <a:pPr marL="0" indent="0">
              <a:buNone/>
            </a:pPr>
            <a:r>
              <a:rPr lang="en-US" sz="1400" b="1" dirty="0">
                <a:solidFill>
                  <a:srgbClr val="D8E0F0"/>
                </a:solidFill>
                <a:latin typeface="Times New Roman"/>
                <a:ea typeface="Times New Roman" pitchFamily="34" charset="-122"/>
                <a:cs typeface="Times New Roman"/>
              </a:rPr>
              <a:t>SORU 21</a:t>
            </a:r>
            <a:endParaRPr lang="en-US" sz="1400">
              <a:latin typeface="Times New Roman"/>
              <a:ea typeface="Calibri"/>
              <a:cs typeface="Times New Roman"/>
            </a:endParaRPr>
          </a:p>
        </p:txBody>
      </p:sp>
      <p:sp>
        <p:nvSpPr>
          <p:cNvPr id="22" name="Text 19"/>
          <p:cNvSpPr/>
          <p:nvPr/>
        </p:nvSpPr>
        <p:spPr>
          <a:xfrm>
            <a:off x="3685032" y="4389120"/>
            <a:ext cx="2212848" cy="822960"/>
          </a:xfrm>
          <a:prstGeom prst="rect">
            <a:avLst/>
          </a:prstGeom>
          <a:noFill/>
          <a:ln/>
        </p:spPr>
        <p:txBody>
          <a:bodyPr wrap="square" lIns="91440" tIns="45720" rIns="91440" bIns="45720" rtlCol="0" anchor="t"/>
          <a:lstStyle/>
          <a:p>
            <a:pPr marL="0" indent="0">
              <a:buNone/>
            </a:pPr>
            <a:r>
              <a:rPr lang="en-US" sz="1200" dirty="0">
                <a:solidFill>
                  <a:srgbClr val="FFFFFF"/>
                </a:solidFill>
                <a:latin typeface="Times New Roman"/>
                <a:ea typeface="Times New Roman" pitchFamily="34" charset="-122"/>
                <a:cs typeface="Times New Roman"/>
              </a:rPr>
              <a:t>Tarımsal üretime yönelik tehditler</a:t>
            </a:r>
            <a:endParaRPr lang="en-US" sz="1200">
              <a:latin typeface="Times New Roman"/>
              <a:ea typeface="Calibri"/>
              <a:cs typeface="Times New Roman"/>
            </a:endParaRPr>
          </a:p>
        </p:txBody>
      </p:sp>
      <p:sp>
        <p:nvSpPr>
          <p:cNvPr id="29" name="Text 26"/>
          <p:cNvSpPr/>
          <p:nvPr/>
        </p:nvSpPr>
        <p:spPr>
          <a:xfrm>
            <a:off x="457200" y="6537960"/>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lIns="91440" tIns="45720" rIns="91440" bIns="45720" rtlCol="0" anchor="ctr"/>
          <a:lstStyle/>
          <a:p>
            <a:pPr marL="0" indent="0" algn="l">
              <a:buNone/>
            </a:pPr>
            <a:r>
              <a:rPr lang="en-US" sz="2200" b="1" dirty="0" err="1">
                <a:solidFill>
                  <a:srgbClr val="FFFFFF"/>
                </a:solidFill>
                <a:latin typeface="Times New Roman"/>
                <a:ea typeface="Times New Roman" pitchFamily="34" charset="-122"/>
                <a:cs typeface="Times New Roman"/>
              </a:rPr>
              <a:t>Gelir</a:t>
            </a:r>
            <a:r>
              <a:rPr lang="en-US" sz="2200" b="1" dirty="0">
                <a:solidFill>
                  <a:srgbClr val="FFFFFF"/>
                </a:solidFill>
                <a:latin typeface="Times New Roman"/>
                <a:ea typeface="Times New Roman" pitchFamily="34" charset="-122"/>
                <a:cs typeface="Times New Roman"/>
              </a:rPr>
              <a:t> </a:t>
            </a:r>
            <a:r>
              <a:rPr lang="en-US" sz="2200" b="1" dirty="0" err="1">
                <a:solidFill>
                  <a:srgbClr val="FFFFFF"/>
                </a:solidFill>
                <a:latin typeface="Times New Roman"/>
                <a:ea typeface="Times New Roman" pitchFamily="34" charset="-122"/>
                <a:cs typeface="Times New Roman"/>
              </a:rPr>
              <a:t>Kaynakları</a:t>
            </a:r>
            <a:endParaRPr lang="en-US" sz="2200" dirty="0" err="1">
              <a:latin typeface="Times New Roman"/>
              <a:cs typeface="Times New Roman"/>
            </a:endParaRPr>
          </a:p>
        </p:txBody>
      </p:sp>
      <p:graphicFrame>
        <p:nvGraphicFramePr>
          <p:cNvPr id="4" name="Chart 0"/>
          <p:cNvGraphicFramePr/>
          <p:nvPr/>
        </p:nvGraphicFramePr>
        <p:xfrm>
          <a:off x="914400" y="1417320"/>
          <a:ext cx="630936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 1"/>
          <p:cNvSpPr/>
          <p:nvPr/>
        </p:nvSpPr>
        <p:spPr>
          <a:xfrm>
            <a:off x="7452360" y="1417320"/>
            <a:ext cx="3840480" cy="320040"/>
          </a:xfrm>
          <a:prstGeom prst="rect">
            <a:avLst/>
          </a:prstGeom>
          <a:noFill/>
          <a:ln/>
        </p:spPr>
        <p:txBody>
          <a:bodyPr wrap="square" lIns="91440" tIns="45720" rIns="91440" bIns="45720" rtlCol="0" anchor="ctr"/>
          <a:lstStyle/>
          <a:p>
            <a:pPr marL="0" indent="0">
              <a:buNone/>
            </a:pPr>
            <a:r>
              <a:rPr lang="en-US" sz="1600" b="1" dirty="0">
                <a:solidFill>
                  <a:srgbClr val="4472C4"/>
                </a:solidFill>
                <a:latin typeface="Times New Roman"/>
                <a:ea typeface="Times New Roman" pitchFamily="34" charset="-122"/>
                <a:cs typeface="Times New Roman"/>
              </a:rPr>
              <a:t>Genel Kanı</a:t>
            </a:r>
            <a:endParaRPr lang="en-US" sz="1600" b="1">
              <a:latin typeface="Times New Roman"/>
              <a:ea typeface="Calibri"/>
              <a:cs typeface="Times New Roman"/>
            </a:endParaRPr>
          </a:p>
        </p:txBody>
      </p:sp>
      <p:sp>
        <p:nvSpPr>
          <p:cNvPr id="6" name="Text 2"/>
          <p:cNvSpPr/>
          <p:nvPr/>
        </p:nvSpPr>
        <p:spPr>
          <a:xfrm>
            <a:off x="7452360" y="1748126"/>
            <a:ext cx="4155067" cy="1772314"/>
          </a:xfrm>
          <a:prstGeom prst="rect">
            <a:avLst/>
          </a:prstGeom>
          <a:noFill/>
          <a:ln/>
        </p:spPr>
        <p:txBody>
          <a:bodyPr wrap="square" lIns="91440" tIns="45720" rIns="91440" bIns="45720" rtlCol="0" anchor="ctr"/>
          <a:lstStyle/>
          <a:p>
            <a:pPr algn="just">
              <a:lnSpc>
                <a:spcPct val="125000"/>
              </a:lnSpc>
            </a:pPr>
            <a:r>
              <a:rPr lang="en-US" sz="1400" dirty="0" err="1">
                <a:solidFill>
                  <a:srgbClr val="1A1A1A"/>
                </a:solidFill>
                <a:latin typeface="Times New Roman"/>
                <a:ea typeface="Times New Roman" pitchFamily="34" charset="-122"/>
                <a:cs typeface="Times New Roman"/>
              </a:rPr>
              <a:t>Kayıtlarda</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tarımsal</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üretim</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faaliyetleri</a:t>
            </a:r>
            <a:r>
              <a:rPr lang="en-US" sz="1400" dirty="0">
                <a:solidFill>
                  <a:srgbClr val="1A1A1A"/>
                </a:solidFill>
                <a:latin typeface="Times New Roman"/>
                <a:ea typeface="Times New Roman" pitchFamily="34" charset="-122"/>
                <a:cs typeface="Times New Roman"/>
              </a:rPr>
              <a:t>" %76,3 </a:t>
            </a:r>
            <a:r>
              <a:rPr lang="en-US" sz="1400" dirty="0" err="1">
                <a:solidFill>
                  <a:srgbClr val="1A1A1A"/>
                </a:solidFill>
                <a:latin typeface="Times New Roman"/>
                <a:ea typeface="Times New Roman" pitchFamily="34" charset="-122"/>
                <a:cs typeface="Times New Roman"/>
              </a:rPr>
              <a:t>ile</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birinci</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sıradadır</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Şanlıurfa'da</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hayvancılığın</a:t>
            </a:r>
            <a:r>
              <a:rPr lang="en-US" sz="1400" dirty="0">
                <a:solidFill>
                  <a:srgbClr val="1A1A1A"/>
                </a:solidFill>
                <a:latin typeface="Times New Roman"/>
                <a:ea typeface="Times New Roman" pitchFamily="34" charset="-122"/>
                <a:cs typeface="Times New Roman"/>
              </a:rPr>
              <a:t> 1. sıradaki payı (%18,7), Gaziantep ve Kilis'e (%7,6 · %5,6) göre belirgin şekilde yüksektir.</a:t>
            </a:r>
            <a:endParaRPr lang="en-US" sz="1400">
              <a:latin typeface="Times New Roman"/>
              <a:ea typeface="Calibri"/>
              <a:cs typeface="Times New Roman"/>
            </a:endParaRPr>
          </a:p>
        </p:txBody>
      </p:sp>
      <p:sp>
        <p:nvSpPr>
          <p:cNvPr id="7" name="Shape 3"/>
          <p:cNvSpPr/>
          <p:nvPr/>
        </p:nvSpPr>
        <p:spPr>
          <a:xfrm>
            <a:off x="7452360" y="3657600"/>
            <a:ext cx="4148076" cy="1280160"/>
          </a:xfrm>
          <a:prstGeom prst="rect">
            <a:avLst/>
          </a:prstGeom>
          <a:solidFill>
            <a:srgbClr val="F2F2F2"/>
          </a:solidFill>
          <a:ln/>
        </p:spPr>
      </p:sp>
      <p:sp>
        <p:nvSpPr>
          <p:cNvPr id="8" name="Text 4"/>
          <p:cNvSpPr/>
          <p:nvPr/>
        </p:nvSpPr>
        <p:spPr>
          <a:xfrm>
            <a:off x="7635240" y="3794760"/>
            <a:ext cx="3852224" cy="1005840"/>
          </a:xfrm>
          <a:prstGeom prst="rect">
            <a:avLst/>
          </a:prstGeom>
          <a:noFill/>
          <a:ln/>
        </p:spPr>
        <p:txBody>
          <a:bodyPr wrap="square" lIns="91440" tIns="45720" rIns="91440" bIns="45720" rtlCol="0" anchor="ctr"/>
          <a:lstStyle/>
          <a:p>
            <a:pPr marL="0" indent="0" algn="just">
              <a:buNone/>
            </a:pPr>
            <a:r>
              <a:rPr lang="en-US" sz="1400" dirty="0">
                <a:solidFill>
                  <a:srgbClr val="1A1A1A"/>
                </a:solidFill>
                <a:latin typeface="Times New Roman"/>
                <a:ea typeface="Times New Roman" pitchFamily="34" charset="-122"/>
                <a:cs typeface="Times New Roman"/>
              </a:rPr>
              <a:t>İkincil kaynaklar (genel): Hayvancılık %13,6 · Tarım işçiliği %3,9 · İnşaat işçiliği %2,3</a:t>
            </a:r>
            <a:endParaRPr lang="en-US" sz="1400">
              <a:latin typeface="Times New Roman"/>
              <a:ea typeface="Calibri"/>
              <a:cs typeface="Times New Roman"/>
            </a:endParaRPr>
          </a:p>
        </p:txBody>
      </p:sp>
      <p:sp>
        <p:nvSpPr>
          <p:cNvPr id="9" name="Text 5"/>
          <p:cNvSpPr/>
          <p:nvPr/>
        </p:nvSpPr>
        <p:spPr>
          <a:xfrm>
            <a:off x="457200" y="6537960"/>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lIns="91440" tIns="45720" rIns="91440" bIns="45720" rtlCol="0" anchor="ctr"/>
          <a:lstStyle/>
          <a:p>
            <a:pPr marL="0" indent="0" algn="l">
              <a:buNone/>
            </a:pPr>
            <a:r>
              <a:rPr lang="en-US" sz="2200" b="1" dirty="0" err="1">
                <a:solidFill>
                  <a:srgbClr val="FFFFFF"/>
                </a:solidFill>
                <a:latin typeface="Times New Roman"/>
                <a:ea typeface="Times New Roman" pitchFamily="34" charset="-122"/>
                <a:cs typeface="Times New Roman"/>
              </a:rPr>
              <a:t>Üretim</a:t>
            </a:r>
            <a:r>
              <a:rPr lang="en-US" sz="2200" b="1" dirty="0">
                <a:solidFill>
                  <a:srgbClr val="FFFFFF"/>
                </a:solidFill>
                <a:latin typeface="Times New Roman"/>
                <a:ea typeface="Times New Roman" pitchFamily="34" charset="-122"/>
                <a:cs typeface="Times New Roman"/>
              </a:rPr>
              <a:t> </a:t>
            </a:r>
            <a:r>
              <a:rPr lang="en-US" sz="2200" b="1" dirty="0" err="1">
                <a:solidFill>
                  <a:srgbClr val="FFFFFF"/>
                </a:solidFill>
                <a:latin typeface="Times New Roman"/>
                <a:ea typeface="Times New Roman" pitchFamily="34" charset="-122"/>
                <a:cs typeface="Times New Roman"/>
              </a:rPr>
              <a:t>ve</a:t>
            </a:r>
            <a:r>
              <a:rPr lang="en-US" sz="2200" b="1" dirty="0">
                <a:solidFill>
                  <a:srgbClr val="FFFFFF"/>
                </a:solidFill>
                <a:latin typeface="Times New Roman"/>
                <a:ea typeface="Times New Roman" pitchFamily="34" charset="-122"/>
                <a:cs typeface="Times New Roman"/>
              </a:rPr>
              <a:t> </a:t>
            </a:r>
            <a:r>
              <a:rPr lang="en-US" sz="2200" b="1" dirty="0" err="1">
                <a:solidFill>
                  <a:srgbClr val="FFFFFF"/>
                </a:solidFill>
                <a:latin typeface="Times New Roman"/>
                <a:ea typeface="Times New Roman" pitchFamily="34" charset="-122"/>
                <a:cs typeface="Times New Roman"/>
              </a:rPr>
              <a:t>Satış</a:t>
            </a:r>
            <a:endParaRPr lang="en-US" sz="2200">
              <a:latin typeface="Times New Roman"/>
              <a:cs typeface="Times New Roman"/>
            </a:endParaRPr>
          </a:p>
        </p:txBody>
      </p:sp>
      <p:graphicFrame>
        <p:nvGraphicFramePr>
          <p:cNvPr id="4" name="Chart 0"/>
          <p:cNvGraphicFramePr/>
          <p:nvPr/>
        </p:nvGraphicFramePr>
        <p:xfrm>
          <a:off x="914400" y="1417320"/>
          <a:ext cx="4297680" cy="35661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1"/>
          <p:cNvGraphicFramePr/>
          <p:nvPr/>
        </p:nvGraphicFramePr>
        <p:xfrm>
          <a:off x="5394960" y="1417320"/>
          <a:ext cx="5852160" cy="3931920"/>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 1"/>
          <p:cNvSpPr/>
          <p:nvPr/>
        </p:nvSpPr>
        <p:spPr>
          <a:xfrm>
            <a:off x="914400" y="5440680"/>
            <a:ext cx="10332720" cy="731520"/>
          </a:xfrm>
          <a:prstGeom prst="rect">
            <a:avLst/>
          </a:prstGeom>
          <a:noFill/>
          <a:ln/>
        </p:spPr>
        <p:txBody>
          <a:bodyPr wrap="square" lIns="91440" tIns="45720" rIns="91440" bIns="45720" rtlCol="0" anchor="ctr"/>
          <a:lstStyle/>
          <a:p>
            <a:pPr marL="0" indent="0" algn="just">
              <a:lnSpc>
                <a:spcPct val="120000"/>
              </a:lnSpc>
              <a:buNone/>
            </a:pPr>
            <a:r>
              <a:rPr lang="en-US" sz="1400" i="1" dirty="0">
                <a:solidFill>
                  <a:srgbClr val="595959"/>
                </a:solidFill>
                <a:latin typeface="Times New Roman"/>
                <a:ea typeface="Times New Roman" pitchFamily="34" charset="-122"/>
                <a:cs typeface="Times New Roman"/>
              </a:rPr>
              <a:t>Genel </a:t>
            </a:r>
            <a:r>
              <a:rPr lang="en-US" sz="1400" i="1" dirty="0" err="1">
                <a:solidFill>
                  <a:srgbClr val="595959"/>
                </a:solidFill>
                <a:latin typeface="Times New Roman"/>
                <a:ea typeface="Times New Roman" pitchFamily="34" charset="-122"/>
                <a:cs typeface="Times New Roman"/>
              </a:rPr>
              <a:t>Kanı</a:t>
            </a:r>
            <a:r>
              <a:rPr lang="en-US" sz="1400" i="1" dirty="0">
                <a:solidFill>
                  <a:srgbClr val="595959"/>
                </a:solidFill>
                <a:latin typeface="Times New Roman"/>
                <a:ea typeface="Times New Roman" pitchFamily="34" charset="-122"/>
                <a:cs typeface="Times New Roman"/>
              </a:rPr>
              <a:t>: </a:t>
            </a:r>
            <a:r>
              <a:rPr lang="en-US" sz="1400" i="1" dirty="0" err="1">
                <a:solidFill>
                  <a:srgbClr val="595959"/>
                </a:solidFill>
                <a:latin typeface="Times New Roman"/>
                <a:ea typeface="Times New Roman" pitchFamily="34" charset="-122"/>
                <a:cs typeface="Times New Roman"/>
              </a:rPr>
              <a:t>Satış</a:t>
            </a:r>
            <a:r>
              <a:rPr lang="en-US" sz="1400" i="1" dirty="0">
                <a:solidFill>
                  <a:srgbClr val="595959"/>
                </a:solidFill>
                <a:latin typeface="Times New Roman"/>
                <a:ea typeface="Times New Roman" pitchFamily="34" charset="-122"/>
                <a:cs typeface="Times New Roman"/>
              </a:rPr>
              <a:t> </a:t>
            </a:r>
            <a:r>
              <a:rPr lang="en-US" sz="1400" i="1" dirty="0" err="1">
                <a:solidFill>
                  <a:srgbClr val="595959"/>
                </a:solidFill>
                <a:latin typeface="Times New Roman"/>
                <a:ea typeface="Times New Roman" pitchFamily="34" charset="-122"/>
                <a:cs typeface="Times New Roman"/>
              </a:rPr>
              <a:t>yerlerinin</a:t>
            </a:r>
            <a:r>
              <a:rPr lang="en-US" sz="1400" i="1" dirty="0">
                <a:solidFill>
                  <a:srgbClr val="595959"/>
                </a:solidFill>
                <a:latin typeface="Times New Roman"/>
                <a:ea typeface="Times New Roman" pitchFamily="34" charset="-122"/>
                <a:cs typeface="Times New Roman"/>
              </a:rPr>
              <a:t> %88,3'ünde </a:t>
            </a:r>
            <a:r>
              <a:rPr lang="en-US" sz="1400" i="1" dirty="0" err="1">
                <a:solidFill>
                  <a:srgbClr val="595959"/>
                </a:solidFill>
                <a:latin typeface="Times New Roman"/>
                <a:ea typeface="Times New Roman" pitchFamily="34" charset="-122"/>
                <a:cs typeface="Times New Roman"/>
              </a:rPr>
              <a:t>satış</a:t>
            </a:r>
            <a:r>
              <a:rPr lang="en-US" sz="1400" i="1" dirty="0">
                <a:solidFill>
                  <a:srgbClr val="595959"/>
                </a:solidFill>
                <a:latin typeface="Times New Roman"/>
                <a:ea typeface="Times New Roman" pitchFamily="34" charset="-122"/>
                <a:cs typeface="Times New Roman"/>
              </a:rPr>
              <a:t> </a:t>
            </a:r>
            <a:r>
              <a:rPr lang="en-US" sz="1400" i="1" dirty="0" err="1">
                <a:solidFill>
                  <a:srgbClr val="595959"/>
                </a:solidFill>
                <a:latin typeface="Times New Roman"/>
                <a:ea typeface="Times New Roman" pitchFamily="34" charset="-122"/>
                <a:cs typeface="Times New Roman"/>
              </a:rPr>
              <a:t>kendi</a:t>
            </a:r>
            <a:r>
              <a:rPr lang="en-US" sz="1400" i="1" dirty="0">
                <a:solidFill>
                  <a:srgbClr val="595959"/>
                </a:solidFill>
                <a:latin typeface="Times New Roman"/>
                <a:ea typeface="Times New Roman" pitchFamily="34" charset="-122"/>
                <a:cs typeface="Times New Roman"/>
              </a:rPr>
              <a:t> il </a:t>
            </a:r>
            <a:r>
              <a:rPr lang="en-US" sz="1400" i="1" dirty="0" err="1">
                <a:solidFill>
                  <a:srgbClr val="595959"/>
                </a:solidFill>
                <a:latin typeface="Times New Roman"/>
                <a:ea typeface="Times New Roman" pitchFamily="34" charset="-122"/>
                <a:cs typeface="Times New Roman"/>
              </a:rPr>
              <a:t>sınırları</a:t>
            </a:r>
            <a:r>
              <a:rPr lang="en-US" sz="1400" i="1" dirty="0">
                <a:solidFill>
                  <a:srgbClr val="595959"/>
                </a:solidFill>
                <a:latin typeface="Times New Roman"/>
                <a:ea typeface="Times New Roman" pitchFamily="34" charset="-122"/>
                <a:cs typeface="Times New Roman"/>
              </a:rPr>
              <a:t> </a:t>
            </a:r>
            <a:r>
              <a:rPr lang="en-US" sz="1400" i="1" dirty="0" err="1">
                <a:solidFill>
                  <a:srgbClr val="595959"/>
                </a:solidFill>
                <a:latin typeface="Times New Roman"/>
                <a:ea typeface="Times New Roman" pitchFamily="34" charset="-122"/>
                <a:cs typeface="Times New Roman"/>
              </a:rPr>
              <a:t>içinde</a:t>
            </a:r>
            <a:r>
              <a:rPr lang="en-US" sz="1400" i="1" dirty="0">
                <a:solidFill>
                  <a:srgbClr val="595959"/>
                </a:solidFill>
                <a:latin typeface="Times New Roman"/>
                <a:ea typeface="Times New Roman" pitchFamily="34" charset="-122"/>
                <a:cs typeface="Times New Roman"/>
              </a:rPr>
              <a:t> </a:t>
            </a:r>
            <a:r>
              <a:rPr lang="en-US" sz="1400" i="1" dirty="0" err="1">
                <a:solidFill>
                  <a:srgbClr val="595959"/>
                </a:solidFill>
                <a:latin typeface="Times New Roman"/>
                <a:ea typeface="Times New Roman" pitchFamily="34" charset="-122"/>
                <a:cs typeface="Times New Roman"/>
              </a:rPr>
              <a:t>kalmaktadır</a:t>
            </a:r>
            <a:r>
              <a:rPr lang="en-US" sz="1400" i="1" dirty="0">
                <a:solidFill>
                  <a:srgbClr val="595959"/>
                </a:solidFill>
                <a:latin typeface="Times New Roman"/>
                <a:ea typeface="Times New Roman" pitchFamily="34" charset="-122"/>
                <a:cs typeface="Times New Roman"/>
              </a:rPr>
              <a:t>; </a:t>
            </a:r>
            <a:r>
              <a:rPr lang="en-US" sz="1400" i="1" dirty="0" err="1">
                <a:solidFill>
                  <a:srgbClr val="595959"/>
                </a:solidFill>
                <a:latin typeface="Times New Roman"/>
                <a:ea typeface="Times New Roman" pitchFamily="34" charset="-122"/>
                <a:cs typeface="Times New Roman"/>
              </a:rPr>
              <a:t>veri</a:t>
            </a:r>
            <a:r>
              <a:rPr lang="en-US" sz="1400" i="1" dirty="0">
                <a:solidFill>
                  <a:srgbClr val="595959"/>
                </a:solidFill>
                <a:latin typeface="Times New Roman"/>
                <a:ea typeface="Times New Roman" pitchFamily="34" charset="-122"/>
                <a:cs typeface="Times New Roman"/>
              </a:rPr>
              <a:t> </a:t>
            </a:r>
            <a:r>
              <a:rPr lang="en-US" sz="1400" i="1" dirty="0" err="1">
                <a:solidFill>
                  <a:srgbClr val="595959"/>
                </a:solidFill>
                <a:latin typeface="Times New Roman"/>
                <a:ea typeface="Times New Roman" pitchFamily="34" charset="-122"/>
                <a:cs typeface="Times New Roman"/>
              </a:rPr>
              <a:t>setinde</a:t>
            </a:r>
            <a:r>
              <a:rPr lang="en-US" sz="1400" i="1" dirty="0">
                <a:solidFill>
                  <a:srgbClr val="595959"/>
                </a:solidFill>
                <a:latin typeface="Times New Roman"/>
                <a:ea typeface="Times New Roman" pitchFamily="34" charset="-122"/>
                <a:cs typeface="Times New Roman"/>
              </a:rPr>
              <a:t> </a:t>
            </a:r>
            <a:r>
              <a:rPr lang="en-US" sz="1400" i="1" dirty="0" err="1">
                <a:solidFill>
                  <a:srgbClr val="595959"/>
                </a:solidFill>
                <a:latin typeface="Times New Roman"/>
                <a:ea typeface="Times New Roman" pitchFamily="34" charset="-122"/>
                <a:cs typeface="Times New Roman"/>
              </a:rPr>
              <a:t>doğrulanmış</a:t>
            </a:r>
            <a:r>
              <a:rPr lang="en-US" sz="1400" i="1" dirty="0">
                <a:solidFill>
                  <a:srgbClr val="595959"/>
                </a:solidFill>
                <a:latin typeface="Times New Roman"/>
                <a:ea typeface="Times New Roman" pitchFamily="34" charset="-122"/>
                <a:cs typeface="Times New Roman"/>
              </a:rPr>
              <a:t> </a:t>
            </a:r>
            <a:r>
              <a:rPr lang="en-US" sz="1400" i="1" dirty="0" err="1">
                <a:solidFill>
                  <a:srgbClr val="595959"/>
                </a:solidFill>
                <a:latin typeface="Times New Roman"/>
                <a:ea typeface="Times New Roman" pitchFamily="34" charset="-122"/>
                <a:cs typeface="Times New Roman"/>
              </a:rPr>
              <a:t>bir</a:t>
            </a:r>
            <a:r>
              <a:rPr lang="en-US" sz="1400" i="1" dirty="0">
                <a:solidFill>
                  <a:srgbClr val="595959"/>
                </a:solidFill>
                <a:latin typeface="Times New Roman"/>
                <a:ea typeface="Times New Roman" pitchFamily="34" charset="-122"/>
                <a:cs typeface="Times New Roman"/>
              </a:rPr>
              <a:t> </a:t>
            </a:r>
            <a:r>
              <a:rPr lang="en-US" sz="1400" i="1" dirty="0" err="1">
                <a:solidFill>
                  <a:srgbClr val="595959"/>
                </a:solidFill>
                <a:latin typeface="Times New Roman"/>
                <a:ea typeface="Times New Roman" pitchFamily="34" charset="-122"/>
                <a:cs typeface="Times New Roman"/>
              </a:rPr>
              <a:t>yurtdışı</a:t>
            </a:r>
            <a:r>
              <a:rPr lang="en-US" sz="1400" i="1" dirty="0">
                <a:solidFill>
                  <a:srgbClr val="595959"/>
                </a:solidFill>
                <a:latin typeface="Times New Roman"/>
                <a:ea typeface="Times New Roman" pitchFamily="34" charset="-122"/>
                <a:cs typeface="Times New Roman"/>
              </a:rPr>
              <a:t> </a:t>
            </a:r>
            <a:r>
              <a:rPr lang="en-US" sz="1400" i="1" dirty="0" err="1">
                <a:solidFill>
                  <a:srgbClr val="595959"/>
                </a:solidFill>
                <a:latin typeface="Times New Roman"/>
                <a:ea typeface="Times New Roman" pitchFamily="34" charset="-122"/>
                <a:cs typeface="Times New Roman"/>
              </a:rPr>
              <a:t>satış</a:t>
            </a:r>
            <a:r>
              <a:rPr lang="en-US" sz="1400" i="1" dirty="0">
                <a:solidFill>
                  <a:srgbClr val="595959"/>
                </a:solidFill>
                <a:latin typeface="Times New Roman"/>
                <a:ea typeface="Times New Roman" pitchFamily="34" charset="-122"/>
                <a:cs typeface="Times New Roman"/>
              </a:rPr>
              <a:t> </a:t>
            </a:r>
            <a:r>
              <a:rPr lang="en-US" sz="1400" i="1" dirty="0" err="1">
                <a:solidFill>
                  <a:srgbClr val="595959"/>
                </a:solidFill>
                <a:latin typeface="Times New Roman"/>
                <a:ea typeface="Times New Roman" pitchFamily="34" charset="-122"/>
                <a:cs typeface="Times New Roman"/>
              </a:rPr>
              <a:t>kaydına</a:t>
            </a:r>
            <a:r>
              <a:rPr lang="en-US" sz="1400" i="1" dirty="0">
                <a:solidFill>
                  <a:srgbClr val="595959"/>
                </a:solidFill>
                <a:latin typeface="Times New Roman"/>
                <a:ea typeface="Times New Roman" pitchFamily="34" charset="-122"/>
                <a:cs typeface="Times New Roman"/>
              </a:rPr>
              <a:t> </a:t>
            </a:r>
            <a:r>
              <a:rPr lang="en-US" sz="1400" i="1" dirty="0" err="1">
                <a:solidFill>
                  <a:srgbClr val="595959"/>
                </a:solidFill>
                <a:latin typeface="Times New Roman"/>
                <a:ea typeface="Times New Roman" pitchFamily="34" charset="-122"/>
                <a:cs typeface="Times New Roman"/>
              </a:rPr>
              <a:t>rastlanmamıştır</a:t>
            </a:r>
            <a:r>
              <a:rPr lang="en-US" sz="1400" i="1" dirty="0">
                <a:solidFill>
                  <a:srgbClr val="595959"/>
                </a:solidFill>
                <a:latin typeface="Times New Roman"/>
                <a:ea typeface="Times New Roman" pitchFamily="34" charset="-122"/>
                <a:cs typeface="Times New Roman"/>
              </a:rPr>
              <a:t>.</a:t>
            </a:r>
            <a:endParaRPr lang="en-US" sz="1400" i="1">
              <a:solidFill>
                <a:srgbClr val="595959"/>
              </a:solidFill>
              <a:latin typeface="Times New Roman"/>
              <a:cs typeface="Times New Roman"/>
            </a:endParaRPr>
          </a:p>
        </p:txBody>
      </p:sp>
      <p:sp>
        <p:nvSpPr>
          <p:cNvPr id="7" name="Text 2"/>
          <p:cNvSpPr/>
          <p:nvPr/>
        </p:nvSpPr>
        <p:spPr>
          <a:xfrm>
            <a:off x="457200" y="6537960"/>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8</a:t>
            </a:r>
            <a:endParaRPr lang="en-US" sz="850" dirty="0"/>
          </a:p>
        </p:txBody>
      </p:sp>
      <p:sp>
        <p:nvSpPr>
          <p:cNvPr id="8" name="Interactive Note"/>
          <p:cNvSpPr/>
          <p:nvPr/>
        </p:nvSpPr>
        <p:spPr>
          <a:xfrm>
            <a:off x="6245352" y="6537960"/>
            <a:ext cx="5486400" cy="274320"/>
          </a:xfrm>
          <a:prstGeom prst="rect">
            <a:avLst/>
          </a:prstGeom>
          <a:noFill/>
          <a:ln/>
        </p:spPr>
        <p:txBody>
          <a:bodyPr wrap="square" rtlCol="0" anchor="ctr"/>
          <a:lstStyle/>
          <a:p>
            <a:pPr marL="0" indent="0" algn="r">
              <a:buNone/>
            </a:pPr>
            <a:r>
              <a:rPr lang="tr-TR" sz="1000" b="1" i="1" dirty="0">
                <a:solidFill>
                  <a:srgbClr val="C9A24B"/>
                </a:solidFill>
                <a:latin typeface="Times New Roman" pitchFamily="34" charset="0"/>
                <a:ea typeface="Times New Roman" pitchFamily="34" charset="-122"/>
                <a:cs typeface="Times New Roman" pitchFamily="34" charset="-120"/>
              </a:rPr>
              <a:t>→ İnteraktif sayfaya geçiş</a:t>
            </a:r>
            <a:endParaRPr lang="tr-TR"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lIns="91440" tIns="45720" rIns="91440" bIns="45720" rtlCol="0" anchor="ctr"/>
          <a:lstStyle/>
          <a:p>
            <a:pPr marL="0" indent="0" algn="l">
              <a:buNone/>
            </a:pPr>
            <a:r>
              <a:rPr lang="en-US" sz="2100" b="1" dirty="0">
                <a:solidFill>
                  <a:srgbClr val="FFFFFF"/>
                </a:solidFill>
                <a:latin typeface="Times New Roman"/>
                <a:ea typeface="Times New Roman" pitchFamily="34" charset="-122"/>
                <a:cs typeface="Times New Roman"/>
              </a:rPr>
              <a:t>Temel </a:t>
            </a:r>
            <a:r>
              <a:rPr lang="en-US" sz="2100" b="1" dirty="0" err="1">
                <a:solidFill>
                  <a:srgbClr val="FFFFFF"/>
                </a:solidFill>
                <a:latin typeface="Times New Roman"/>
                <a:ea typeface="Times New Roman" pitchFamily="34" charset="-122"/>
                <a:cs typeface="Times New Roman"/>
              </a:rPr>
              <a:t>İhtiyaçlar</a:t>
            </a:r>
            <a:endParaRPr lang="en-US" sz="2100" dirty="0" err="1">
              <a:latin typeface="Times New Roman"/>
              <a:ea typeface="Calibri" panose="020F0502020204030204"/>
              <a:cs typeface="Calibri" panose="020F0502020204030204"/>
            </a:endParaRPr>
          </a:p>
        </p:txBody>
      </p:sp>
      <p:graphicFrame>
        <p:nvGraphicFramePr>
          <p:cNvPr id="4" name="Chart 0"/>
          <p:cNvGraphicFramePr/>
          <p:nvPr/>
        </p:nvGraphicFramePr>
        <p:xfrm>
          <a:off x="914400" y="1371600"/>
          <a:ext cx="7498080" cy="411480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 1"/>
          <p:cNvSpPr/>
          <p:nvPr/>
        </p:nvSpPr>
        <p:spPr>
          <a:xfrm>
            <a:off x="8595360" y="1463040"/>
            <a:ext cx="2743200" cy="320040"/>
          </a:xfrm>
          <a:prstGeom prst="rect">
            <a:avLst/>
          </a:prstGeom>
          <a:noFill/>
          <a:ln/>
        </p:spPr>
        <p:txBody>
          <a:bodyPr wrap="square" lIns="91440" tIns="45720" rIns="91440" bIns="45720" rtlCol="0" anchor="ctr"/>
          <a:lstStyle/>
          <a:p>
            <a:pPr marL="0" indent="0" algn="just">
              <a:buNone/>
            </a:pPr>
            <a:r>
              <a:rPr lang="en-US" sz="1600" b="1" dirty="0">
                <a:solidFill>
                  <a:srgbClr val="4472C4"/>
                </a:solidFill>
                <a:latin typeface="Times New Roman"/>
                <a:ea typeface="Times New Roman" pitchFamily="34" charset="-122"/>
                <a:cs typeface="Times New Roman"/>
              </a:rPr>
              <a:t>Genel Kanı</a:t>
            </a:r>
            <a:endParaRPr lang="en-US" sz="1600">
              <a:latin typeface="Times New Roman"/>
              <a:ea typeface="Calibri"/>
              <a:cs typeface="Times New Roman"/>
            </a:endParaRPr>
          </a:p>
        </p:txBody>
      </p:sp>
      <p:sp>
        <p:nvSpPr>
          <p:cNvPr id="6" name="Text 2"/>
          <p:cNvSpPr/>
          <p:nvPr/>
        </p:nvSpPr>
        <p:spPr>
          <a:xfrm>
            <a:off x="8595360" y="1828800"/>
            <a:ext cx="2743200" cy="2926080"/>
          </a:xfrm>
          <a:prstGeom prst="rect">
            <a:avLst/>
          </a:prstGeom>
          <a:noFill/>
          <a:ln/>
        </p:spPr>
        <p:txBody>
          <a:bodyPr wrap="square" lIns="91440" tIns="45720" rIns="91440" bIns="45720" rtlCol="0" anchor="ctr"/>
          <a:lstStyle/>
          <a:p>
            <a:pPr marL="0" indent="0" algn="just">
              <a:lnSpc>
                <a:spcPct val="125000"/>
              </a:lnSpc>
              <a:buNone/>
            </a:pPr>
            <a:r>
              <a:rPr lang="en-US" sz="1400" dirty="0">
                <a:solidFill>
                  <a:srgbClr val="1A1A1A"/>
                </a:solidFill>
                <a:latin typeface="Times New Roman"/>
                <a:ea typeface="Times New Roman" pitchFamily="34" charset="-122"/>
                <a:cs typeface="Times New Roman"/>
              </a:rPr>
              <a:t>Temel eğitim (ilkokul) yerleşimlerin çoğunluğunda mevcutken; hastane, lise ve eczane gibi üst kademe hizmetler neredeyse tamamen ilçe merkezlerine bağımlı.</a:t>
            </a:r>
            <a:endParaRPr lang="en-US" sz="1400">
              <a:latin typeface="Times New Roman"/>
              <a:ea typeface="Calibri"/>
              <a:cs typeface="Times New Roman"/>
            </a:endParaRPr>
          </a:p>
        </p:txBody>
      </p:sp>
      <p:sp>
        <p:nvSpPr>
          <p:cNvPr id="7" name="Text 3"/>
          <p:cNvSpPr/>
          <p:nvPr/>
        </p:nvSpPr>
        <p:spPr>
          <a:xfrm>
            <a:off x="457200" y="6537960"/>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9</a:t>
            </a:r>
            <a:endParaRPr lang="en-US" sz="850" dirty="0"/>
          </a:p>
        </p:txBody>
      </p:sp>
      <p:sp>
        <p:nvSpPr>
          <p:cNvPr id="8" name="Interactive Note"/>
          <p:cNvSpPr/>
          <p:nvPr/>
        </p:nvSpPr>
        <p:spPr>
          <a:xfrm>
            <a:off x="6245352" y="6537960"/>
            <a:ext cx="5486400" cy="274320"/>
          </a:xfrm>
          <a:prstGeom prst="rect">
            <a:avLst/>
          </a:prstGeom>
          <a:noFill/>
          <a:ln/>
        </p:spPr>
        <p:txBody>
          <a:bodyPr wrap="square" rtlCol="0" anchor="ctr"/>
          <a:lstStyle/>
          <a:p>
            <a:pPr marL="0" indent="0" algn="r">
              <a:buNone/>
            </a:pPr>
            <a:r>
              <a:rPr lang="tr-TR" sz="1000" b="1" i="1" dirty="0">
                <a:solidFill>
                  <a:srgbClr val="C9A24B"/>
                </a:solidFill>
                <a:latin typeface="Times New Roman" pitchFamily="34" charset="0"/>
                <a:ea typeface="Times New Roman" pitchFamily="34" charset="-122"/>
                <a:cs typeface="Times New Roman" pitchFamily="34" charset="-120"/>
              </a:rPr>
              <a:t>→ İnteraktif sayfaya geçiş</a:t>
            </a:r>
            <a:endParaRPr lang="tr-TR"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lIns="91440" tIns="45720" rIns="91440" bIns="45720" rtlCol="0" anchor="ctr"/>
          <a:lstStyle/>
          <a:p>
            <a:pPr marL="0" indent="0" algn="l">
              <a:buNone/>
            </a:pPr>
            <a:r>
              <a:rPr lang="en-US" sz="2000" b="1" dirty="0" err="1">
                <a:solidFill>
                  <a:srgbClr val="FFFFFF"/>
                </a:solidFill>
                <a:latin typeface="Times New Roman"/>
                <a:ea typeface="Times New Roman" pitchFamily="34" charset="-122"/>
                <a:cs typeface="Times New Roman"/>
              </a:rPr>
              <a:t>İş</a:t>
            </a:r>
            <a:r>
              <a:rPr lang="en-US" sz="2000" b="1" dirty="0">
                <a:solidFill>
                  <a:srgbClr val="FFFFFF"/>
                </a:solidFill>
                <a:latin typeface="Times New Roman"/>
                <a:ea typeface="Times New Roman" pitchFamily="34" charset="-122"/>
                <a:cs typeface="Times New Roman"/>
              </a:rPr>
              <a:t> </a:t>
            </a:r>
            <a:r>
              <a:rPr lang="en-US" sz="2000" b="1" dirty="0" err="1">
                <a:solidFill>
                  <a:srgbClr val="FFFFFF"/>
                </a:solidFill>
                <a:latin typeface="Times New Roman"/>
                <a:ea typeface="Times New Roman" pitchFamily="34" charset="-122"/>
                <a:cs typeface="Times New Roman"/>
              </a:rPr>
              <a:t>Gücü</a:t>
            </a:r>
            <a:r>
              <a:rPr lang="en-US" sz="2000" b="1" dirty="0">
                <a:solidFill>
                  <a:srgbClr val="FFFFFF"/>
                </a:solidFill>
                <a:latin typeface="Times New Roman"/>
                <a:ea typeface="Times New Roman" pitchFamily="34" charset="-122"/>
                <a:cs typeface="Times New Roman"/>
              </a:rPr>
              <a:t> </a:t>
            </a:r>
            <a:r>
              <a:rPr lang="en-US" sz="2000" b="1" dirty="0" err="1">
                <a:solidFill>
                  <a:srgbClr val="FFFFFF"/>
                </a:solidFill>
                <a:latin typeface="Times New Roman"/>
                <a:ea typeface="Times New Roman" pitchFamily="34" charset="-122"/>
                <a:cs typeface="Times New Roman"/>
              </a:rPr>
              <a:t>Hareketliliği</a:t>
            </a:r>
            <a:endParaRPr lang="en-US" sz="2000" dirty="0" err="1">
              <a:latin typeface="Times New Roman"/>
              <a:cs typeface="Times New Roman"/>
            </a:endParaRPr>
          </a:p>
        </p:txBody>
      </p:sp>
      <p:graphicFrame>
        <p:nvGraphicFramePr>
          <p:cNvPr id="4" name="Chart 0"/>
          <p:cNvGraphicFramePr/>
          <p:nvPr/>
        </p:nvGraphicFramePr>
        <p:xfrm>
          <a:off x="914400" y="1371600"/>
          <a:ext cx="5394960" cy="32004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1"/>
          <p:cNvGraphicFramePr/>
          <p:nvPr/>
        </p:nvGraphicFramePr>
        <p:xfrm>
          <a:off x="6400800" y="1371600"/>
          <a:ext cx="4937760" cy="3200400"/>
        </p:xfrm>
        <a:graphic>
          <a:graphicData uri="http://schemas.openxmlformats.org/drawingml/2006/chart">
            <c:chart xmlns:c="http://schemas.openxmlformats.org/drawingml/2006/chart" xmlns:r="http://schemas.openxmlformats.org/officeDocument/2006/relationships" r:id="rId5"/>
          </a:graphicData>
        </a:graphic>
      </p:graphicFrame>
      <p:sp>
        <p:nvSpPr>
          <p:cNvPr id="6" name="Shape 1"/>
          <p:cNvSpPr/>
          <p:nvPr/>
        </p:nvSpPr>
        <p:spPr>
          <a:xfrm>
            <a:off x="914400" y="4754880"/>
            <a:ext cx="10332720" cy="1005840"/>
          </a:xfrm>
          <a:prstGeom prst="rect">
            <a:avLst/>
          </a:prstGeom>
          <a:solidFill>
            <a:srgbClr val="2F5496"/>
          </a:solidFill>
          <a:ln/>
        </p:spPr>
      </p:sp>
      <p:sp>
        <p:nvSpPr>
          <p:cNvPr id="7" name="Text 2"/>
          <p:cNvSpPr/>
          <p:nvPr/>
        </p:nvSpPr>
        <p:spPr>
          <a:xfrm>
            <a:off x="914400" y="4754880"/>
            <a:ext cx="10363200" cy="1005840"/>
          </a:xfrm>
          <a:prstGeom prst="rect">
            <a:avLst/>
          </a:prstGeom>
          <a:noFill/>
          <a:ln/>
        </p:spPr>
        <p:txBody>
          <a:bodyPr wrap="square" lIns="91440" tIns="45720" rIns="91440" bIns="45720" rtlCol="0" anchor="ctr"/>
          <a:lstStyle/>
          <a:p>
            <a:pPr algn="just">
              <a:lnSpc>
                <a:spcPct val="120000"/>
              </a:lnSpc>
            </a:pPr>
            <a:r>
              <a:rPr lang="en-US" sz="1400" dirty="0" err="1">
                <a:solidFill>
                  <a:srgbClr val="FFFFFF"/>
                </a:solidFill>
                <a:latin typeface="Times New Roman"/>
                <a:ea typeface="Times New Roman" pitchFamily="34" charset="-122"/>
                <a:cs typeface="Times New Roman"/>
              </a:rPr>
              <a:t>Anket</a:t>
            </a:r>
            <a:r>
              <a:rPr lang="en-US" sz="1400" dirty="0">
                <a:solidFill>
                  <a:srgbClr val="FFFFFF"/>
                </a:solidFill>
                <a:latin typeface="Times New Roman"/>
                <a:ea typeface="Times New Roman" pitchFamily="34" charset="-122"/>
                <a:cs typeface="Times New Roman"/>
              </a:rPr>
              <a:t> </a:t>
            </a:r>
            <a:r>
              <a:rPr lang="en-US" sz="1400" dirty="0" err="1">
                <a:solidFill>
                  <a:srgbClr val="FFFFFF"/>
                </a:solidFill>
                <a:latin typeface="Times New Roman"/>
                <a:ea typeface="Times New Roman" pitchFamily="34" charset="-122"/>
                <a:cs typeface="Times New Roman"/>
              </a:rPr>
              <a:t>verilerinde</a:t>
            </a:r>
            <a:r>
              <a:rPr lang="en-US" sz="1400" dirty="0">
                <a:solidFill>
                  <a:srgbClr val="FFFFFF"/>
                </a:solidFill>
                <a:latin typeface="Times New Roman"/>
                <a:ea typeface="Times New Roman" pitchFamily="34" charset="-122"/>
                <a:cs typeface="Times New Roman"/>
              </a:rPr>
              <a:t>, %70,3'ünde </a:t>
            </a:r>
            <a:r>
              <a:rPr lang="en-US" sz="1400" dirty="0" err="1">
                <a:solidFill>
                  <a:srgbClr val="FFFFFF"/>
                </a:solidFill>
                <a:latin typeface="Times New Roman"/>
                <a:ea typeface="Times New Roman" pitchFamily="34" charset="-122"/>
                <a:cs typeface="Times New Roman"/>
              </a:rPr>
              <a:t>dışarıya</a:t>
            </a:r>
            <a:r>
              <a:rPr lang="en-US" sz="1400" dirty="0">
                <a:solidFill>
                  <a:srgbClr val="FFFFFF"/>
                </a:solidFill>
                <a:latin typeface="Times New Roman"/>
                <a:ea typeface="Times New Roman" pitchFamily="34" charset="-122"/>
                <a:cs typeface="Times New Roman"/>
              </a:rPr>
              <a:t> </a:t>
            </a:r>
            <a:r>
              <a:rPr lang="en-US" sz="1400" dirty="0" err="1">
                <a:solidFill>
                  <a:srgbClr val="FFFFFF"/>
                </a:solidFill>
                <a:latin typeface="Times New Roman"/>
                <a:ea typeface="Times New Roman" pitchFamily="34" charset="-122"/>
                <a:cs typeface="Times New Roman"/>
              </a:rPr>
              <a:t>iş</a:t>
            </a:r>
            <a:r>
              <a:rPr lang="en-US" sz="1400" dirty="0">
                <a:solidFill>
                  <a:srgbClr val="FFFFFF"/>
                </a:solidFill>
                <a:latin typeface="Times New Roman"/>
                <a:ea typeface="Times New Roman" pitchFamily="34" charset="-122"/>
                <a:cs typeface="Times New Roman"/>
              </a:rPr>
              <a:t> </a:t>
            </a:r>
            <a:r>
              <a:rPr lang="en-US" sz="1400" dirty="0" err="1">
                <a:solidFill>
                  <a:srgbClr val="FFFFFF"/>
                </a:solidFill>
                <a:latin typeface="Times New Roman"/>
                <a:ea typeface="Times New Roman" pitchFamily="34" charset="-122"/>
                <a:cs typeface="Times New Roman"/>
              </a:rPr>
              <a:t>gücü</a:t>
            </a:r>
            <a:r>
              <a:rPr lang="en-US" sz="1400" dirty="0">
                <a:solidFill>
                  <a:srgbClr val="FFFFFF"/>
                </a:solidFill>
                <a:latin typeface="Times New Roman"/>
                <a:ea typeface="Times New Roman" pitchFamily="34" charset="-122"/>
                <a:cs typeface="Times New Roman"/>
              </a:rPr>
              <a:t> </a:t>
            </a:r>
            <a:r>
              <a:rPr lang="en-US" sz="1400" dirty="0" err="1">
                <a:solidFill>
                  <a:srgbClr val="FFFFFF"/>
                </a:solidFill>
                <a:latin typeface="Times New Roman"/>
                <a:ea typeface="Times New Roman" pitchFamily="34" charset="-122"/>
                <a:cs typeface="Times New Roman"/>
              </a:rPr>
              <a:t>hareketi</a:t>
            </a:r>
            <a:r>
              <a:rPr lang="en-US" sz="1400" dirty="0">
                <a:solidFill>
                  <a:srgbClr val="FFFFFF"/>
                </a:solidFill>
                <a:latin typeface="Times New Roman"/>
                <a:ea typeface="Times New Roman" pitchFamily="34" charset="-122"/>
                <a:cs typeface="Times New Roman"/>
              </a:rPr>
              <a:t> </a:t>
            </a:r>
            <a:r>
              <a:rPr lang="en-US" sz="1400" dirty="0" err="1">
                <a:solidFill>
                  <a:srgbClr val="FFFFFF"/>
                </a:solidFill>
                <a:latin typeface="Times New Roman"/>
                <a:ea typeface="Times New Roman" pitchFamily="34" charset="-122"/>
                <a:cs typeface="Times New Roman"/>
              </a:rPr>
              <a:t>bildirilmiştir</a:t>
            </a:r>
            <a:r>
              <a:rPr lang="en-US" sz="1400" dirty="0">
                <a:solidFill>
                  <a:srgbClr val="FFFFFF"/>
                </a:solidFill>
                <a:latin typeface="Times New Roman"/>
                <a:ea typeface="Times New Roman" pitchFamily="34" charset="-122"/>
                <a:cs typeface="Times New Roman"/>
              </a:rPr>
              <a:t>. İl </a:t>
            </a:r>
            <a:r>
              <a:rPr lang="en-US" sz="1400" dirty="0" err="1">
                <a:solidFill>
                  <a:srgbClr val="FFFFFF"/>
                </a:solidFill>
                <a:latin typeface="Times New Roman"/>
                <a:ea typeface="Times New Roman" pitchFamily="34" charset="-122"/>
                <a:cs typeface="Times New Roman"/>
              </a:rPr>
              <a:t>dışına</a:t>
            </a:r>
            <a:r>
              <a:rPr lang="en-US" sz="1400" dirty="0">
                <a:solidFill>
                  <a:srgbClr val="FFFFFF"/>
                </a:solidFill>
                <a:latin typeface="Times New Roman"/>
                <a:ea typeface="Times New Roman" pitchFamily="34" charset="-122"/>
                <a:cs typeface="Times New Roman"/>
              </a:rPr>
              <a:t> gidilen başlıca hedefler arasında Antalya, İstanbul ve Malatya öne çıkmaktadır. Bu soru, aynı platformun ilgili katmanında da interaktif olarak incelenmiştir.</a:t>
            </a:r>
            <a:endParaRPr lang="en-US" sz="1400">
              <a:latin typeface="Times New Roman"/>
              <a:ea typeface="Calibri"/>
              <a:cs typeface="Times New Roman"/>
            </a:endParaRPr>
          </a:p>
        </p:txBody>
      </p:sp>
      <p:sp>
        <p:nvSpPr>
          <p:cNvPr id="8" name="Text 3"/>
          <p:cNvSpPr/>
          <p:nvPr/>
        </p:nvSpPr>
        <p:spPr>
          <a:xfrm>
            <a:off x="457200" y="6537960"/>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10</a:t>
            </a:r>
            <a:endParaRPr lang="en-US" sz="850" dirty="0"/>
          </a:p>
        </p:txBody>
      </p:sp>
      <p:sp>
        <p:nvSpPr>
          <p:cNvPr id="9" name="Interactive Note"/>
          <p:cNvSpPr/>
          <p:nvPr/>
        </p:nvSpPr>
        <p:spPr>
          <a:xfrm>
            <a:off x="6245352" y="6537960"/>
            <a:ext cx="5486400" cy="274320"/>
          </a:xfrm>
          <a:prstGeom prst="rect">
            <a:avLst/>
          </a:prstGeom>
          <a:noFill/>
          <a:ln/>
        </p:spPr>
        <p:txBody>
          <a:bodyPr wrap="square" rtlCol="0" anchor="ctr"/>
          <a:lstStyle/>
          <a:p>
            <a:pPr marL="0" indent="0" algn="r">
              <a:buNone/>
            </a:pPr>
            <a:r>
              <a:rPr lang="tr-TR" sz="1000" b="1" i="1" dirty="0">
                <a:solidFill>
                  <a:srgbClr val="C9A24B"/>
                </a:solidFill>
                <a:latin typeface="Times New Roman" pitchFamily="34" charset="0"/>
                <a:ea typeface="Times New Roman" pitchFamily="34" charset="-122"/>
                <a:cs typeface="Times New Roman" pitchFamily="34" charset="-120"/>
              </a:rPr>
              <a:t>→ İnteraktif sayfaya geçiş</a:t>
            </a:r>
            <a:endParaRPr lang="tr-TR"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lIns="91440" tIns="45720" rIns="91440" bIns="45720" rtlCol="0" anchor="ctr"/>
          <a:lstStyle/>
          <a:p>
            <a:pPr marL="0" indent="0" algn="l">
              <a:buNone/>
            </a:pPr>
            <a:r>
              <a:rPr lang="en-US" sz="2200" b="1" dirty="0">
                <a:solidFill>
                  <a:srgbClr val="FFFFFF"/>
                </a:solidFill>
                <a:latin typeface="Times New Roman"/>
                <a:ea typeface="Times New Roman" pitchFamily="34" charset="-122"/>
                <a:cs typeface="Times New Roman"/>
              </a:rPr>
              <a:t>Son 5 </a:t>
            </a:r>
            <a:r>
              <a:rPr lang="en-US" sz="2200" b="1" dirty="0" err="1">
                <a:solidFill>
                  <a:srgbClr val="FFFFFF"/>
                </a:solidFill>
                <a:latin typeface="Times New Roman"/>
                <a:ea typeface="Times New Roman" pitchFamily="34" charset="-122"/>
                <a:cs typeface="Times New Roman"/>
              </a:rPr>
              <a:t>Yılda</a:t>
            </a:r>
            <a:r>
              <a:rPr lang="en-US" sz="2200" b="1" dirty="0">
                <a:solidFill>
                  <a:srgbClr val="FFFFFF"/>
                </a:solidFill>
                <a:latin typeface="Times New Roman"/>
                <a:ea typeface="Times New Roman" pitchFamily="34" charset="-122"/>
                <a:cs typeface="Times New Roman"/>
              </a:rPr>
              <a:t> </a:t>
            </a:r>
            <a:r>
              <a:rPr lang="en-US" sz="2200" b="1" dirty="0" err="1">
                <a:solidFill>
                  <a:srgbClr val="FFFFFF"/>
                </a:solidFill>
                <a:latin typeface="Times New Roman"/>
                <a:ea typeface="Times New Roman" pitchFamily="34" charset="-122"/>
                <a:cs typeface="Times New Roman"/>
              </a:rPr>
              <a:t>Değişim</a:t>
            </a:r>
            <a:endParaRPr lang="en-US" sz="2200" dirty="0" err="1">
              <a:latin typeface="Times New Roman"/>
              <a:cs typeface="Times New Roman"/>
            </a:endParaRPr>
          </a:p>
        </p:txBody>
      </p:sp>
      <p:graphicFrame>
        <p:nvGraphicFramePr>
          <p:cNvPr id="4" name="Chart 0"/>
          <p:cNvGraphicFramePr/>
          <p:nvPr/>
        </p:nvGraphicFramePr>
        <p:xfrm>
          <a:off x="914400" y="1371600"/>
          <a:ext cx="7498080" cy="411480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 1"/>
          <p:cNvSpPr/>
          <p:nvPr/>
        </p:nvSpPr>
        <p:spPr>
          <a:xfrm>
            <a:off x="8595360" y="1463040"/>
            <a:ext cx="2743200" cy="320040"/>
          </a:xfrm>
          <a:prstGeom prst="rect">
            <a:avLst/>
          </a:prstGeom>
          <a:noFill/>
          <a:ln/>
        </p:spPr>
        <p:txBody>
          <a:bodyPr wrap="square" lIns="91440" tIns="45720" rIns="91440" bIns="45720" rtlCol="0" anchor="ctr"/>
          <a:lstStyle/>
          <a:p>
            <a:pPr algn="just"/>
            <a:r>
              <a:rPr lang="en-US" sz="1600" b="1" dirty="0">
                <a:solidFill>
                  <a:srgbClr val="4472C4"/>
                </a:solidFill>
                <a:latin typeface="Times New Roman"/>
                <a:ea typeface="Calibri"/>
                <a:cs typeface="Times New Roman"/>
              </a:rPr>
              <a:t>Genel Kanı</a:t>
            </a:r>
            <a:endParaRPr lang="en-US" sz="1600">
              <a:ea typeface="Calibri"/>
              <a:cs typeface="Calibri"/>
            </a:endParaRPr>
          </a:p>
        </p:txBody>
      </p:sp>
      <p:sp>
        <p:nvSpPr>
          <p:cNvPr id="6" name="Text 2"/>
          <p:cNvSpPr/>
          <p:nvPr/>
        </p:nvSpPr>
        <p:spPr>
          <a:xfrm>
            <a:off x="8511471" y="1786856"/>
            <a:ext cx="3246537" cy="2968024"/>
          </a:xfrm>
          <a:prstGeom prst="rect">
            <a:avLst/>
          </a:prstGeom>
          <a:noFill/>
          <a:ln/>
        </p:spPr>
        <p:txBody>
          <a:bodyPr wrap="square" lIns="91440" tIns="45720" rIns="91440" bIns="45720" rtlCol="0" anchor="ctr"/>
          <a:lstStyle/>
          <a:p>
            <a:pPr algn="just">
              <a:lnSpc>
                <a:spcPct val="125000"/>
              </a:lnSpc>
            </a:pPr>
            <a:r>
              <a:rPr lang="en-US" sz="1400" dirty="0">
                <a:solidFill>
                  <a:srgbClr val="1A1A1A"/>
                </a:solidFill>
                <a:latin typeface="Times New Roman"/>
                <a:ea typeface="Times New Roman" pitchFamily="34" charset="-122"/>
                <a:cs typeface="Times New Roman"/>
              </a:rPr>
              <a:t>Dört göstergenin dördünde de "azaldı" cevabı baskındır. En yüksek gerileme algısı gençlerin tarımdaki </a:t>
            </a:r>
            <a:r>
              <a:rPr lang="en-US" sz="1400" dirty="0" err="1">
                <a:solidFill>
                  <a:srgbClr val="1A1A1A"/>
                </a:solidFill>
                <a:latin typeface="Times New Roman"/>
                <a:ea typeface="Times New Roman" pitchFamily="34" charset="-122"/>
                <a:cs typeface="Times New Roman"/>
              </a:rPr>
              <a:t>payında</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görülüyor</a:t>
            </a:r>
            <a:r>
              <a:rPr lang="en-US" sz="1400" dirty="0">
                <a:solidFill>
                  <a:srgbClr val="1A1A1A"/>
                </a:solidFill>
                <a:latin typeface="Times New Roman"/>
                <a:ea typeface="Times New Roman" pitchFamily="34" charset="-122"/>
                <a:cs typeface="Times New Roman"/>
              </a:rPr>
              <a:t> (%83,8).</a:t>
            </a:r>
            <a:endParaRPr lang="en-US" sz="1400" dirty="0">
              <a:solidFill>
                <a:srgbClr val="1A1A1A"/>
              </a:solidFill>
              <a:latin typeface="Times New Roman"/>
              <a:cs typeface="Times New Roman"/>
            </a:endParaRPr>
          </a:p>
        </p:txBody>
      </p:sp>
      <p:sp>
        <p:nvSpPr>
          <p:cNvPr id="7" name="Text 3"/>
          <p:cNvSpPr/>
          <p:nvPr/>
        </p:nvSpPr>
        <p:spPr>
          <a:xfrm>
            <a:off x="457200" y="6537960"/>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11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lIns="91440" tIns="45720" rIns="91440" bIns="45720" rtlCol="0" anchor="ctr"/>
          <a:lstStyle/>
          <a:p>
            <a:pPr marL="0" indent="0" algn="l">
              <a:buNone/>
            </a:pPr>
            <a:r>
              <a:rPr lang="en-US" sz="2200" b="1" dirty="0" err="1">
                <a:solidFill>
                  <a:srgbClr val="FFFFFF"/>
                </a:solidFill>
                <a:latin typeface="Times New Roman"/>
                <a:ea typeface="Times New Roman" pitchFamily="34" charset="-122"/>
                <a:cs typeface="Times New Roman"/>
              </a:rPr>
              <a:t>Tarımsal</a:t>
            </a:r>
            <a:r>
              <a:rPr lang="en-US" sz="2200" b="1" dirty="0">
                <a:solidFill>
                  <a:srgbClr val="FFFFFF"/>
                </a:solidFill>
                <a:latin typeface="Times New Roman"/>
                <a:ea typeface="Times New Roman" pitchFamily="34" charset="-122"/>
                <a:cs typeface="Times New Roman"/>
              </a:rPr>
              <a:t> </a:t>
            </a:r>
            <a:r>
              <a:rPr lang="en-US" sz="2200" b="1" dirty="0" err="1">
                <a:solidFill>
                  <a:srgbClr val="FFFFFF"/>
                </a:solidFill>
                <a:latin typeface="Times New Roman"/>
                <a:ea typeface="Times New Roman" pitchFamily="34" charset="-122"/>
                <a:cs typeface="Times New Roman"/>
              </a:rPr>
              <a:t>Tehditler</a:t>
            </a:r>
            <a:endParaRPr lang="en-US" sz="2200" dirty="0" err="1">
              <a:latin typeface="Times New Roman"/>
              <a:ea typeface="Calibri" panose="020F0502020204030204"/>
              <a:cs typeface="Calibri" panose="020F0502020204030204"/>
            </a:endParaRPr>
          </a:p>
        </p:txBody>
      </p:sp>
      <p:graphicFrame>
        <p:nvGraphicFramePr>
          <p:cNvPr id="4" name="Chart 0"/>
          <p:cNvGraphicFramePr/>
          <p:nvPr/>
        </p:nvGraphicFramePr>
        <p:xfrm>
          <a:off x="914400" y="1371600"/>
          <a:ext cx="6400800" cy="411480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 1"/>
          <p:cNvSpPr/>
          <p:nvPr/>
        </p:nvSpPr>
        <p:spPr>
          <a:xfrm>
            <a:off x="7498080" y="1463040"/>
            <a:ext cx="3749040" cy="320040"/>
          </a:xfrm>
          <a:prstGeom prst="rect">
            <a:avLst/>
          </a:prstGeom>
          <a:noFill/>
          <a:ln/>
        </p:spPr>
        <p:txBody>
          <a:bodyPr wrap="square" lIns="91440" tIns="45720" rIns="91440" bIns="45720" rtlCol="0" anchor="ctr"/>
          <a:lstStyle/>
          <a:p>
            <a:pPr algn="just"/>
            <a:r>
              <a:rPr lang="en-US" sz="1600" b="1" dirty="0">
                <a:solidFill>
                  <a:srgbClr val="4472C4"/>
                </a:solidFill>
                <a:latin typeface="Times New Roman"/>
                <a:cs typeface="Times New Roman"/>
              </a:rPr>
              <a:t>Genel Kanı</a:t>
            </a:r>
            <a:endParaRPr lang="en-US" sz="1600">
              <a:ea typeface="Calibri"/>
              <a:cs typeface="Calibri"/>
            </a:endParaRPr>
          </a:p>
        </p:txBody>
      </p:sp>
      <p:sp>
        <p:nvSpPr>
          <p:cNvPr id="6" name="Text 2"/>
          <p:cNvSpPr/>
          <p:nvPr/>
        </p:nvSpPr>
        <p:spPr>
          <a:xfrm>
            <a:off x="7498080" y="1828800"/>
            <a:ext cx="3749040" cy="2743200"/>
          </a:xfrm>
          <a:prstGeom prst="rect">
            <a:avLst/>
          </a:prstGeom>
          <a:noFill/>
          <a:ln/>
        </p:spPr>
        <p:txBody>
          <a:bodyPr wrap="square" lIns="91440" tIns="45720" rIns="91440" bIns="45720" rtlCol="0" anchor="ctr"/>
          <a:lstStyle/>
          <a:p>
            <a:pPr algn="just">
              <a:lnSpc>
                <a:spcPct val="125000"/>
              </a:lnSpc>
            </a:pPr>
            <a:r>
              <a:rPr lang="en-US" sz="1400" dirty="0" err="1">
                <a:solidFill>
                  <a:srgbClr val="1A1A1A"/>
                </a:solidFill>
                <a:latin typeface="Times New Roman"/>
                <a:ea typeface="Times New Roman" pitchFamily="34" charset="-122"/>
                <a:cs typeface="Times New Roman"/>
              </a:rPr>
              <a:t>Kayıtlarda</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su</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yoksunluğu</a:t>
            </a:r>
            <a:r>
              <a:rPr lang="en-US" sz="1400" dirty="0">
                <a:solidFill>
                  <a:srgbClr val="1A1A1A"/>
                </a:solidFill>
                <a:latin typeface="Times New Roman"/>
                <a:ea typeface="Times New Roman" pitchFamily="34" charset="-122"/>
                <a:cs typeface="Times New Roman"/>
              </a:rPr>
              <a:t> (%44,4) </a:t>
            </a:r>
            <a:r>
              <a:rPr lang="en-US" sz="1400" dirty="0" err="1">
                <a:solidFill>
                  <a:srgbClr val="1A1A1A"/>
                </a:solidFill>
                <a:latin typeface="Times New Roman"/>
                <a:ea typeface="Times New Roman" pitchFamily="34" charset="-122"/>
                <a:cs typeface="Times New Roman"/>
              </a:rPr>
              <a:t>ve</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girdi</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maliyeti</a:t>
            </a:r>
            <a:r>
              <a:rPr lang="en-US" sz="1400" dirty="0">
                <a:solidFill>
                  <a:srgbClr val="1A1A1A"/>
                </a:solidFill>
                <a:latin typeface="Times New Roman"/>
                <a:ea typeface="Times New Roman" pitchFamily="34" charset="-122"/>
                <a:cs typeface="Times New Roman"/>
              </a:rPr>
              <a:t> (%37,4) </a:t>
            </a:r>
            <a:r>
              <a:rPr lang="en-US" sz="1400" dirty="0" err="1">
                <a:solidFill>
                  <a:srgbClr val="1A1A1A"/>
                </a:solidFill>
                <a:latin typeface="Times New Roman"/>
                <a:ea typeface="Times New Roman" pitchFamily="34" charset="-122"/>
                <a:cs typeface="Times New Roman"/>
              </a:rPr>
              <a:t>en</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sık</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belirtilen</a:t>
            </a:r>
            <a:r>
              <a:rPr lang="en-US" sz="1400" dirty="0">
                <a:solidFill>
                  <a:srgbClr val="1A1A1A"/>
                </a:solidFill>
                <a:latin typeface="Times New Roman"/>
                <a:ea typeface="Times New Roman" pitchFamily="34" charset="-122"/>
                <a:cs typeface="Times New Roman"/>
              </a:rPr>
              <a:t> ilk </a:t>
            </a:r>
            <a:r>
              <a:rPr lang="en-US" sz="1400" dirty="0" err="1">
                <a:solidFill>
                  <a:srgbClr val="1A1A1A"/>
                </a:solidFill>
                <a:latin typeface="Times New Roman"/>
                <a:ea typeface="Times New Roman" pitchFamily="34" charset="-122"/>
                <a:cs typeface="Times New Roman"/>
              </a:rPr>
              <a:t>tehdit</a:t>
            </a:r>
            <a:r>
              <a:rPr lang="en-US" sz="1400" dirty="0">
                <a:solidFill>
                  <a:srgbClr val="1A1A1A"/>
                </a:solidFill>
                <a:latin typeface="Times New Roman"/>
                <a:ea typeface="Times New Roman" pitchFamily="34" charset="-122"/>
                <a:cs typeface="Times New Roman"/>
              </a:rPr>
              <a:t>. Her </a:t>
            </a:r>
            <a:r>
              <a:rPr lang="en-US" sz="1400" dirty="0" err="1">
                <a:solidFill>
                  <a:srgbClr val="1A1A1A"/>
                </a:solidFill>
                <a:latin typeface="Times New Roman"/>
                <a:ea typeface="Times New Roman" pitchFamily="34" charset="-122"/>
                <a:cs typeface="Times New Roman"/>
              </a:rPr>
              <a:t>üç</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ilde</a:t>
            </a:r>
            <a:r>
              <a:rPr lang="en-US" sz="1400" dirty="0">
                <a:solidFill>
                  <a:srgbClr val="1A1A1A"/>
                </a:solidFill>
                <a:latin typeface="Times New Roman"/>
                <a:ea typeface="Times New Roman" pitchFamily="34" charset="-122"/>
                <a:cs typeface="Times New Roman"/>
              </a:rPr>
              <a:t> de  </a:t>
            </a:r>
            <a:r>
              <a:rPr lang="en-US" sz="1400" dirty="0" err="1">
                <a:solidFill>
                  <a:srgbClr val="1A1A1A"/>
                </a:solidFill>
                <a:latin typeface="Times New Roman"/>
                <a:ea typeface="Times New Roman" pitchFamily="34" charset="-122"/>
                <a:cs typeface="Times New Roman"/>
              </a:rPr>
              <a:t>su</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yoksunluğu</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birinci</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sırada</a:t>
            </a:r>
            <a:r>
              <a:rPr lang="en-US" sz="1400" dirty="0">
                <a:solidFill>
                  <a:srgbClr val="1A1A1A"/>
                </a:solidFill>
                <a:latin typeface="Times New Roman"/>
                <a:ea typeface="Times New Roman" pitchFamily="34" charset="-122"/>
                <a:cs typeface="Times New Roman"/>
              </a:rPr>
              <a:t>.</a:t>
            </a:r>
            <a:endParaRPr lang="en-US" sz="1400" dirty="0">
              <a:solidFill>
                <a:srgbClr val="1A1A1A"/>
              </a:solidFill>
              <a:latin typeface="Times New Roman"/>
              <a:ea typeface="Calibri"/>
              <a:cs typeface="Times New Roman"/>
            </a:endParaRPr>
          </a:p>
        </p:txBody>
      </p:sp>
      <p:sp>
        <p:nvSpPr>
          <p:cNvPr id="7" name="Text 3"/>
          <p:cNvSpPr/>
          <p:nvPr/>
        </p:nvSpPr>
        <p:spPr>
          <a:xfrm>
            <a:off x="457200" y="6537960"/>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12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lIns="91440" tIns="45720" rIns="91440" bIns="45720" rtlCol="0" anchor="ctr"/>
          <a:lstStyle/>
          <a:p>
            <a:pPr marL="0" indent="0" algn="l">
              <a:buNone/>
            </a:pPr>
            <a:r>
              <a:rPr lang="en-US" sz="2400" b="1" dirty="0">
                <a:solidFill>
                  <a:srgbClr val="FFFFFF"/>
                </a:solidFill>
                <a:latin typeface="Times New Roman"/>
                <a:ea typeface="Times New Roman" pitchFamily="34" charset="-122"/>
                <a:cs typeface="Times New Roman"/>
              </a:rPr>
              <a:t>Ek </a:t>
            </a:r>
            <a:r>
              <a:rPr lang="en-US" sz="2400" b="1" dirty="0" err="1">
                <a:solidFill>
                  <a:srgbClr val="FFFFFF"/>
                </a:solidFill>
                <a:latin typeface="Times New Roman"/>
                <a:ea typeface="Times New Roman" pitchFamily="34" charset="-122"/>
                <a:cs typeface="Times New Roman"/>
              </a:rPr>
              <a:t>Bulgular</a:t>
            </a:r>
            <a:endParaRPr lang="en-US" sz="2400" dirty="0" err="1">
              <a:latin typeface="Times New Roman"/>
              <a:cs typeface="Times New Roman"/>
            </a:endParaRPr>
          </a:p>
        </p:txBody>
      </p:sp>
      <p:sp>
        <p:nvSpPr>
          <p:cNvPr id="4" name="Shape 1"/>
          <p:cNvSpPr/>
          <p:nvPr/>
        </p:nvSpPr>
        <p:spPr>
          <a:xfrm>
            <a:off x="914400" y="1463040"/>
            <a:ext cx="10332720" cy="1371600"/>
          </a:xfrm>
          <a:prstGeom prst="rect">
            <a:avLst/>
          </a:prstGeom>
          <a:solidFill>
            <a:srgbClr val="F2F2F2"/>
          </a:solidFill>
          <a:ln w="6350">
            <a:solidFill>
              <a:srgbClr val="D9D9D9"/>
            </a:solidFill>
            <a:prstDash val="solid"/>
          </a:ln>
        </p:spPr>
      </p:sp>
      <p:sp>
        <p:nvSpPr>
          <p:cNvPr id="5" name="Shape 2"/>
          <p:cNvSpPr/>
          <p:nvPr/>
        </p:nvSpPr>
        <p:spPr>
          <a:xfrm>
            <a:off x="1097280" y="1627632"/>
            <a:ext cx="1188720" cy="347472"/>
          </a:xfrm>
          <a:prstGeom prst="rect">
            <a:avLst/>
          </a:prstGeom>
          <a:solidFill>
            <a:srgbClr val="4472C4"/>
          </a:solidFill>
          <a:ln/>
        </p:spPr>
      </p:sp>
      <p:sp>
        <p:nvSpPr>
          <p:cNvPr id="6" name="Text 3"/>
          <p:cNvSpPr/>
          <p:nvPr/>
        </p:nvSpPr>
        <p:spPr>
          <a:xfrm>
            <a:off x="1097280" y="1627632"/>
            <a:ext cx="1188720" cy="347472"/>
          </a:xfrm>
          <a:prstGeom prst="rect">
            <a:avLst/>
          </a:prstGeom>
          <a:noFill/>
          <a:ln/>
        </p:spPr>
        <p:txBody>
          <a:bodyPr wrap="square" lIns="91440" tIns="45720" rIns="91440" bIns="45720" rtlCol="0" anchor="ctr"/>
          <a:lstStyle/>
          <a:p>
            <a:pPr algn="ctr"/>
            <a:r>
              <a:rPr lang="en-US" sz="1600" b="1" dirty="0">
                <a:solidFill>
                  <a:srgbClr val="FFFFFF"/>
                </a:solidFill>
                <a:latin typeface="Times New Roman"/>
                <a:cs typeface="Times New Roman"/>
              </a:rPr>
              <a:t>Soru 17</a:t>
            </a:r>
            <a:endParaRPr lang="en-US" sz="1600">
              <a:latin typeface="Times New Roman"/>
              <a:ea typeface="Calibri"/>
              <a:cs typeface="Times New Roman"/>
            </a:endParaRPr>
          </a:p>
        </p:txBody>
      </p:sp>
      <p:sp>
        <p:nvSpPr>
          <p:cNvPr id="7" name="Text 4"/>
          <p:cNvSpPr/>
          <p:nvPr/>
        </p:nvSpPr>
        <p:spPr>
          <a:xfrm>
            <a:off x="2468880" y="1572768"/>
            <a:ext cx="8595360" cy="365760"/>
          </a:xfrm>
          <a:prstGeom prst="rect">
            <a:avLst/>
          </a:prstGeom>
          <a:noFill/>
          <a:ln/>
        </p:spPr>
        <p:txBody>
          <a:bodyPr wrap="square" lIns="91440" tIns="45720" rIns="91440" bIns="45720" rtlCol="0" anchor="ctr"/>
          <a:lstStyle/>
          <a:p>
            <a:pPr marL="0" indent="0" algn="just">
              <a:buNone/>
            </a:pPr>
            <a:r>
              <a:rPr lang="en-US" sz="1600" b="1" dirty="0">
                <a:solidFill>
                  <a:srgbClr val="1A1A1A"/>
                </a:solidFill>
                <a:latin typeface="Times New Roman"/>
                <a:ea typeface="Times New Roman" pitchFamily="34" charset="-122"/>
                <a:cs typeface="Times New Roman"/>
              </a:rPr>
              <a:t>Elektrik altyapısı, Şanlıurfa'nın en önemli sorunu</a:t>
            </a:r>
            <a:endParaRPr lang="en-US" sz="1600">
              <a:latin typeface="Times New Roman"/>
              <a:ea typeface="Calibri"/>
              <a:cs typeface="Times New Roman"/>
            </a:endParaRPr>
          </a:p>
        </p:txBody>
      </p:sp>
      <p:sp>
        <p:nvSpPr>
          <p:cNvPr id="8" name="Text 5"/>
          <p:cNvSpPr/>
          <p:nvPr/>
        </p:nvSpPr>
        <p:spPr>
          <a:xfrm>
            <a:off x="2468880" y="1965960"/>
            <a:ext cx="8595360" cy="777240"/>
          </a:xfrm>
          <a:prstGeom prst="rect">
            <a:avLst/>
          </a:prstGeom>
          <a:noFill/>
          <a:ln/>
        </p:spPr>
        <p:txBody>
          <a:bodyPr wrap="square" lIns="91440" tIns="45720" rIns="91440" bIns="45720" rtlCol="0" anchor="ctr"/>
          <a:lstStyle/>
          <a:p>
            <a:pPr algn="just">
              <a:lnSpc>
                <a:spcPct val="120000"/>
              </a:lnSpc>
            </a:pPr>
            <a:r>
              <a:rPr lang="en-US" sz="1400" dirty="0">
                <a:solidFill>
                  <a:srgbClr val="1A1A1A"/>
                </a:solidFill>
                <a:ea typeface="+mn-lt"/>
                <a:cs typeface="+mn-lt"/>
              </a:rPr>
              <a:t>Genel </a:t>
            </a:r>
            <a:r>
              <a:rPr lang="en-US" sz="1400" dirty="0" err="1">
                <a:solidFill>
                  <a:srgbClr val="1A1A1A"/>
                </a:solidFill>
                <a:ea typeface="+mn-lt"/>
                <a:cs typeface="+mn-lt"/>
              </a:rPr>
              <a:t>olarak</a:t>
            </a:r>
            <a:r>
              <a:rPr lang="en-US" sz="1400" dirty="0">
                <a:solidFill>
                  <a:srgbClr val="1A1A1A"/>
                </a:solidFill>
                <a:ea typeface="+mn-lt"/>
                <a:cs typeface="+mn-lt"/>
              </a:rPr>
              <a:t> %26,9 </a:t>
            </a:r>
            <a:r>
              <a:rPr lang="en-US" sz="1400" dirty="0" err="1">
                <a:solidFill>
                  <a:srgbClr val="1A1A1A"/>
                </a:solidFill>
                <a:ea typeface="+mn-lt"/>
                <a:cs typeface="+mn-lt"/>
              </a:rPr>
              <a:t>düzeyinde</a:t>
            </a:r>
            <a:r>
              <a:rPr lang="en-US" sz="1400" dirty="0">
                <a:solidFill>
                  <a:srgbClr val="1A1A1A"/>
                </a:solidFill>
                <a:ea typeface="+mn-lt"/>
                <a:cs typeface="+mn-lt"/>
              </a:rPr>
              <a:t> </a:t>
            </a:r>
            <a:r>
              <a:rPr lang="en-US" sz="1400" dirty="0" err="1">
                <a:solidFill>
                  <a:srgbClr val="1A1A1A"/>
                </a:solidFill>
                <a:ea typeface="+mn-lt"/>
                <a:cs typeface="+mn-lt"/>
              </a:rPr>
              <a:t>olan</a:t>
            </a:r>
            <a:r>
              <a:rPr lang="en-US" sz="1400" dirty="0">
                <a:solidFill>
                  <a:srgbClr val="1A1A1A"/>
                </a:solidFill>
                <a:ea typeface="+mn-lt"/>
                <a:cs typeface="+mn-lt"/>
              </a:rPr>
              <a:t> </a:t>
            </a:r>
            <a:r>
              <a:rPr lang="en-US" sz="1400" dirty="0" err="1">
                <a:solidFill>
                  <a:srgbClr val="1A1A1A"/>
                </a:solidFill>
                <a:ea typeface="+mn-lt"/>
                <a:cs typeface="+mn-lt"/>
              </a:rPr>
              <a:t>elektrik</a:t>
            </a:r>
            <a:r>
              <a:rPr lang="en-US" sz="1400" dirty="0">
                <a:solidFill>
                  <a:srgbClr val="1A1A1A"/>
                </a:solidFill>
                <a:ea typeface="+mn-lt"/>
                <a:cs typeface="+mn-lt"/>
              </a:rPr>
              <a:t> </a:t>
            </a:r>
            <a:r>
              <a:rPr lang="en-US" sz="1400" dirty="0" err="1">
                <a:solidFill>
                  <a:srgbClr val="1A1A1A"/>
                </a:solidFill>
                <a:ea typeface="+mn-lt"/>
                <a:cs typeface="+mn-lt"/>
              </a:rPr>
              <a:t>altyapısı</a:t>
            </a:r>
            <a:r>
              <a:rPr lang="en-US" sz="1400" dirty="0">
                <a:solidFill>
                  <a:srgbClr val="1A1A1A"/>
                </a:solidFill>
                <a:ea typeface="+mn-lt"/>
                <a:cs typeface="+mn-lt"/>
              </a:rPr>
              <a:t> </a:t>
            </a:r>
            <a:r>
              <a:rPr lang="en-US" sz="1400" dirty="0" err="1">
                <a:solidFill>
                  <a:srgbClr val="1A1A1A"/>
                </a:solidFill>
                <a:ea typeface="+mn-lt"/>
                <a:cs typeface="+mn-lt"/>
              </a:rPr>
              <a:t>sorunu</a:t>
            </a:r>
            <a:r>
              <a:rPr lang="en-US" sz="1400" dirty="0">
                <a:solidFill>
                  <a:srgbClr val="1A1A1A"/>
                </a:solidFill>
                <a:ea typeface="+mn-lt"/>
                <a:cs typeface="+mn-lt"/>
              </a:rPr>
              <a:t>, </a:t>
            </a:r>
            <a:r>
              <a:rPr lang="en-US" sz="1400" dirty="0" err="1">
                <a:solidFill>
                  <a:srgbClr val="1A1A1A"/>
                </a:solidFill>
                <a:ea typeface="+mn-lt"/>
                <a:cs typeface="+mn-lt"/>
              </a:rPr>
              <a:t>Şanlıurfa’da</a:t>
            </a:r>
            <a:r>
              <a:rPr lang="en-US" sz="1400" dirty="0">
                <a:solidFill>
                  <a:srgbClr val="1A1A1A"/>
                </a:solidFill>
                <a:ea typeface="+mn-lt"/>
                <a:cs typeface="+mn-lt"/>
              </a:rPr>
              <a:t> %44,2’ye </a:t>
            </a:r>
            <a:r>
              <a:rPr lang="en-US" sz="1400" dirty="0" err="1">
                <a:solidFill>
                  <a:srgbClr val="1A1A1A"/>
                </a:solidFill>
                <a:ea typeface="+mn-lt"/>
                <a:cs typeface="+mn-lt"/>
              </a:rPr>
              <a:t>yükselmektedir</a:t>
            </a:r>
            <a:r>
              <a:rPr lang="en-US" sz="1400" dirty="0">
                <a:solidFill>
                  <a:srgbClr val="1A1A1A"/>
                </a:solidFill>
                <a:ea typeface="+mn-lt"/>
                <a:cs typeface="+mn-lt"/>
              </a:rPr>
              <a:t>. </a:t>
            </a:r>
            <a:r>
              <a:rPr lang="en-US" sz="1400" dirty="0" err="1">
                <a:solidFill>
                  <a:srgbClr val="1A1A1A"/>
                </a:solidFill>
                <a:ea typeface="+mn-lt"/>
                <a:cs typeface="+mn-lt"/>
              </a:rPr>
              <a:t>Gaziantep’te</a:t>
            </a:r>
            <a:r>
              <a:rPr lang="en-US" sz="1400" dirty="0">
                <a:solidFill>
                  <a:srgbClr val="1A1A1A"/>
                </a:solidFill>
                <a:ea typeface="+mn-lt"/>
                <a:cs typeface="+mn-lt"/>
              </a:rPr>
              <a:t> </a:t>
            </a:r>
            <a:r>
              <a:rPr lang="en-US" sz="1400" dirty="0" err="1">
                <a:solidFill>
                  <a:srgbClr val="1A1A1A"/>
                </a:solidFill>
                <a:ea typeface="+mn-lt"/>
                <a:cs typeface="+mn-lt"/>
              </a:rPr>
              <a:t>yol</a:t>
            </a:r>
            <a:r>
              <a:rPr lang="en-US" sz="1400" dirty="0">
                <a:solidFill>
                  <a:srgbClr val="1A1A1A"/>
                </a:solidFill>
                <a:ea typeface="+mn-lt"/>
                <a:cs typeface="+mn-lt"/>
              </a:rPr>
              <a:t> </a:t>
            </a:r>
            <a:r>
              <a:rPr lang="en-US" sz="1400" dirty="0" err="1">
                <a:solidFill>
                  <a:srgbClr val="1A1A1A"/>
                </a:solidFill>
                <a:ea typeface="+mn-lt"/>
                <a:cs typeface="+mn-lt"/>
              </a:rPr>
              <a:t>sorunları</a:t>
            </a:r>
            <a:r>
              <a:rPr lang="en-US" sz="1400" dirty="0">
                <a:solidFill>
                  <a:srgbClr val="1A1A1A"/>
                </a:solidFill>
                <a:ea typeface="+mn-lt"/>
                <a:cs typeface="+mn-lt"/>
              </a:rPr>
              <a:t>, </a:t>
            </a:r>
            <a:r>
              <a:rPr lang="en-US" sz="1400" dirty="0" err="1">
                <a:solidFill>
                  <a:srgbClr val="1A1A1A"/>
                </a:solidFill>
                <a:ea typeface="+mn-lt"/>
                <a:cs typeface="+mn-lt"/>
              </a:rPr>
              <a:t>Kilis’te</a:t>
            </a:r>
            <a:r>
              <a:rPr lang="en-US" sz="1400" dirty="0">
                <a:solidFill>
                  <a:srgbClr val="1A1A1A"/>
                </a:solidFill>
                <a:ea typeface="+mn-lt"/>
                <a:cs typeface="+mn-lt"/>
              </a:rPr>
              <a:t> </a:t>
            </a:r>
            <a:r>
              <a:rPr lang="en-US" sz="1400" dirty="0" err="1">
                <a:solidFill>
                  <a:srgbClr val="1A1A1A"/>
                </a:solidFill>
                <a:ea typeface="+mn-lt"/>
                <a:cs typeface="+mn-lt"/>
              </a:rPr>
              <a:t>ise</a:t>
            </a:r>
            <a:r>
              <a:rPr lang="en-US" sz="1400" dirty="0">
                <a:solidFill>
                  <a:srgbClr val="1A1A1A"/>
                </a:solidFill>
                <a:ea typeface="+mn-lt"/>
                <a:cs typeface="+mn-lt"/>
              </a:rPr>
              <a:t> </a:t>
            </a:r>
            <a:r>
              <a:rPr lang="en-US" sz="1400" dirty="0" err="1">
                <a:solidFill>
                  <a:srgbClr val="1A1A1A"/>
                </a:solidFill>
                <a:ea typeface="+mn-lt"/>
                <a:cs typeface="+mn-lt"/>
              </a:rPr>
              <a:t>şebeke</a:t>
            </a:r>
            <a:r>
              <a:rPr lang="en-US" sz="1400" dirty="0">
                <a:solidFill>
                  <a:srgbClr val="1A1A1A"/>
                </a:solidFill>
                <a:ea typeface="+mn-lt"/>
                <a:cs typeface="+mn-lt"/>
              </a:rPr>
              <a:t> </a:t>
            </a:r>
            <a:r>
              <a:rPr lang="en-US" sz="1400" dirty="0" err="1">
                <a:solidFill>
                  <a:srgbClr val="1A1A1A"/>
                </a:solidFill>
                <a:ea typeface="+mn-lt"/>
                <a:cs typeface="+mn-lt"/>
              </a:rPr>
              <a:t>ve</a:t>
            </a:r>
            <a:r>
              <a:rPr lang="en-US" sz="1400" dirty="0">
                <a:solidFill>
                  <a:srgbClr val="1A1A1A"/>
                </a:solidFill>
                <a:ea typeface="+mn-lt"/>
                <a:cs typeface="+mn-lt"/>
              </a:rPr>
              <a:t> </a:t>
            </a:r>
            <a:r>
              <a:rPr lang="en-US" sz="1400" dirty="0" err="1">
                <a:solidFill>
                  <a:srgbClr val="1A1A1A"/>
                </a:solidFill>
                <a:ea typeface="+mn-lt"/>
                <a:cs typeface="+mn-lt"/>
              </a:rPr>
              <a:t>içme</a:t>
            </a:r>
            <a:r>
              <a:rPr lang="en-US" sz="1400" dirty="0">
                <a:solidFill>
                  <a:srgbClr val="1A1A1A"/>
                </a:solidFill>
                <a:ea typeface="+mn-lt"/>
                <a:cs typeface="+mn-lt"/>
              </a:rPr>
              <a:t> </a:t>
            </a:r>
            <a:r>
              <a:rPr lang="en-US" sz="1400" dirty="0" err="1">
                <a:solidFill>
                  <a:srgbClr val="1A1A1A"/>
                </a:solidFill>
                <a:ea typeface="+mn-lt"/>
                <a:cs typeface="+mn-lt"/>
              </a:rPr>
              <a:t>suyu</a:t>
            </a:r>
            <a:r>
              <a:rPr lang="en-US" sz="1400" dirty="0">
                <a:solidFill>
                  <a:srgbClr val="1A1A1A"/>
                </a:solidFill>
                <a:ea typeface="+mn-lt"/>
                <a:cs typeface="+mn-lt"/>
              </a:rPr>
              <a:t> </a:t>
            </a:r>
            <a:r>
              <a:rPr lang="en-US" sz="1400" dirty="0" err="1">
                <a:solidFill>
                  <a:srgbClr val="1A1A1A"/>
                </a:solidFill>
                <a:ea typeface="+mn-lt"/>
                <a:cs typeface="+mn-lt"/>
              </a:rPr>
              <a:t>altyapısına</a:t>
            </a:r>
            <a:r>
              <a:rPr lang="en-US" sz="1400" dirty="0">
                <a:solidFill>
                  <a:srgbClr val="1A1A1A"/>
                </a:solidFill>
                <a:ea typeface="+mn-lt"/>
                <a:cs typeface="+mn-lt"/>
              </a:rPr>
              <a:t> </a:t>
            </a:r>
            <a:r>
              <a:rPr lang="en-US" sz="1400" dirty="0" err="1">
                <a:solidFill>
                  <a:srgbClr val="1A1A1A"/>
                </a:solidFill>
                <a:ea typeface="+mn-lt"/>
                <a:cs typeface="+mn-lt"/>
              </a:rPr>
              <a:t>ilişkin</a:t>
            </a:r>
            <a:r>
              <a:rPr lang="en-US" sz="1400" dirty="0">
                <a:solidFill>
                  <a:srgbClr val="1A1A1A"/>
                </a:solidFill>
                <a:ea typeface="+mn-lt"/>
                <a:cs typeface="+mn-lt"/>
              </a:rPr>
              <a:t> </a:t>
            </a:r>
            <a:r>
              <a:rPr lang="en-US" sz="1400" dirty="0" err="1">
                <a:solidFill>
                  <a:srgbClr val="1A1A1A"/>
                </a:solidFill>
                <a:ea typeface="+mn-lt"/>
                <a:cs typeface="+mn-lt"/>
              </a:rPr>
              <a:t>sorunlar</a:t>
            </a:r>
            <a:r>
              <a:rPr lang="en-US" sz="1400" dirty="0">
                <a:solidFill>
                  <a:srgbClr val="1A1A1A"/>
                </a:solidFill>
                <a:ea typeface="+mn-lt"/>
                <a:cs typeface="+mn-lt"/>
              </a:rPr>
              <a:t> </a:t>
            </a:r>
            <a:r>
              <a:rPr lang="en-US" sz="1400" dirty="0" err="1">
                <a:solidFill>
                  <a:srgbClr val="1A1A1A"/>
                </a:solidFill>
                <a:ea typeface="+mn-lt"/>
                <a:cs typeface="+mn-lt"/>
              </a:rPr>
              <a:t>öne</a:t>
            </a:r>
            <a:r>
              <a:rPr lang="en-US" sz="1400" dirty="0">
                <a:solidFill>
                  <a:srgbClr val="1A1A1A"/>
                </a:solidFill>
                <a:ea typeface="+mn-lt"/>
                <a:cs typeface="+mn-lt"/>
              </a:rPr>
              <a:t> </a:t>
            </a:r>
            <a:r>
              <a:rPr lang="en-US" sz="1400" dirty="0" err="1">
                <a:solidFill>
                  <a:srgbClr val="1A1A1A"/>
                </a:solidFill>
                <a:ea typeface="+mn-lt"/>
                <a:cs typeface="+mn-lt"/>
              </a:rPr>
              <a:t>çıkmaktadır</a:t>
            </a:r>
            <a:r>
              <a:rPr lang="en-US" sz="1400" dirty="0">
                <a:solidFill>
                  <a:srgbClr val="1A1A1A"/>
                </a:solidFill>
                <a:ea typeface="+mn-lt"/>
                <a:cs typeface="+mn-lt"/>
              </a:rPr>
              <a:t>.</a:t>
            </a:r>
            <a:endParaRPr lang="en-US" sz="1400" dirty="0">
              <a:latin typeface="Times New Roman"/>
              <a:ea typeface="Calibri"/>
              <a:cs typeface="Times New Roman"/>
            </a:endParaRPr>
          </a:p>
        </p:txBody>
      </p:sp>
      <p:sp>
        <p:nvSpPr>
          <p:cNvPr id="9" name="Shape 6"/>
          <p:cNvSpPr/>
          <p:nvPr/>
        </p:nvSpPr>
        <p:spPr>
          <a:xfrm>
            <a:off x="914400" y="2999232"/>
            <a:ext cx="10332720" cy="1371600"/>
          </a:xfrm>
          <a:prstGeom prst="rect">
            <a:avLst/>
          </a:prstGeom>
          <a:solidFill>
            <a:srgbClr val="F2F2F2"/>
          </a:solidFill>
          <a:ln w="6350">
            <a:solidFill>
              <a:srgbClr val="D9D9D9"/>
            </a:solidFill>
            <a:prstDash val="solid"/>
          </a:ln>
        </p:spPr>
      </p:sp>
      <p:sp>
        <p:nvSpPr>
          <p:cNvPr id="10" name="Shape 7"/>
          <p:cNvSpPr/>
          <p:nvPr/>
        </p:nvSpPr>
        <p:spPr>
          <a:xfrm>
            <a:off x="1097280" y="3163824"/>
            <a:ext cx="1188720" cy="347472"/>
          </a:xfrm>
          <a:prstGeom prst="rect">
            <a:avLst/>
          </a:prstGeom>
          <a:solidFill>
            <a:srgbClr val="4472C4"/>
          </a:solidFill>
          <a:ln/>
        </p:spPr>
      </p:sp>
      <p:sp>
        <p:nvSpPr>
          <p:cNvPr id="11" name="Text 8"/>
          <p:cNvSpPr/>
          <p:nvPr/>
        </p:nvSpPr>
        <p:spPr>
          <a:xfrm>
            <a:off x="1097280" y="3163824"/>
            <a:ext cx="1188720" cy="347472"/>
          </a:xfrm>
          <a:prstGeom prst="rect">
            <a:avLst/>
          </a:prstGeom>
          <a:noFill/>
          <a:ln/>
        </p:spPr>
        <p:txBody>
          <a:bodyPr wrap="square" lIns="91440" tIns="45720" rIns="91440" bIns="45720" rtlCol="0" anchor="ctr"/>
          <a:lstStyle/>
          <a:p>
            <a:pPr marL="0" indent="0" algn="ctr">
              <a:buNone/>
            </a:pPr>
            <a:r>
              <a:rPr lang="en-US" sz="1600" b="1" dirty="0">
                <a:solidFill>
                  <a:srgbClr val="FFFFFF"/>
                </a:solidFill>
                <a:latin typeface="Times New Roman"/>
                <a:ea typeface="Times New Roman" pitchFamily="34" charset="-122"/>
                <a:cs typeface="Times New Roman"/>
              </a:rPr>
              <a:t>Soru 16</a:t>
            </a:r>
            <a:endParaRPr lang="en-US" sz="1600">
              <a:latin typeface="Times New Roman"/>
              <a:ea typeface="Calibri"/>
              <a:cs typeface="Times New Roman"/>
            </a:endParaRPr>
          </a:p>
        </p:txBody>
      </p:sp>
      <p:sp>
        <p:nvSpPr>
          <p:cNvPr id="12" name="Text 9"/>
          <p:cNvSpPr/>
          <p:nvPr/>
        </p:nvSpPr>
        <p:spPr>
          <a:xfrm>
            <a:off x="2468880" y="3108960"/>
            <a:ext cx="8595360" cy="365760"/>
          </a:xfrm>
          <a:prstGeom prst="rect">
            <a:avLst/>
          </a:prstGeom>
          <a:noFill/>
          <a:ln/>
        </p:spPr>
        <p:txBody>
          <a:bodyPr wrap="square" lIns="91440" tIns="45720" rIns="91440" bIns="45720" rtlCol="0" anchor="ctr"/>
          <a:lstStyle/>
          <a:p>
            <a:pPr algn="just"/>
            <a:r>
              <a:rPr lang="en-US" sz="1600" b="1" dirty="0" err="1">
                <a:solidFill>
                  <a:srgbClr val="1A1A1A"/>
                </a:solidFill>
                <a:latin typeface="Times New Roman"/>
                <a:ea typeface="Times New Roman" pitchFamily="34" charset="-122"/>
                <a:cs typeface="Times New Roman"/>
              </a:rPr>
              <a:t>Sosyal</a:t>
            </a:r>
            <a:r>
              <a:rPr lang="en-US" sz="1600" b="1" dirty="0">
                <a:solidFill>
                  <a:srgbClr val="1A1A1A"/>
                </a:solidFill>
                <a:latin typeface="Times New Roman"/>
                <a:ea typeface="Times New Roman" pitchFamily="34" charset="-122"/>
                <a:cs typeface="Times New Roman"/>
              </a:rPr>
              <a:t> </a:t>
            </a:r>
            <a:r>
              <a:rPr lang="en-US" sz="1600" b="1" dirty="0" err="1">
                <a:solidFill>
                  <a:srgbClr val="1A1A1A"/>
                </a:solidFill>
                <a:latin typeface="Times New Roman"/>
                <a:ea typeface="Times New Roman" pitchFamily="34" charset="-122"/>
                <a:cs typeface="Times New Roman"/>
              </a:rPr>
              <a:t>tesis</a:t>
            </a:r>
            <a:r>
              <a:rPr lang="en-US" sz="1600" b="1" dirty="0">
                <a:solidFill>
                  <a:srgbClr val="1A1A1A"/>
                </a:solidFill>
                <a:latin typeface="Times New Roman"/>
                <a:ea typeface="Times New Roman" pitchFamily="34" charset="-122"/>
                <a:cs typeface="Times New Roman"/>
              </a:rPr>
              <a:t> </a:t>
            </a:r>
            <a:r>
              <a:rPr lang="en-US" sz="1600" b="1" dirty="0" err="1">
                <a:solidFill>
                  <a:srgbClr val="1A1A1A"/>
                </a:solidFill>
                <a:latin typeface="Times New Roman"/>
                <a:ea typeface="Times New Roman" pitchFamily="34" charset="-122"/>
                <a:cs typeface="Times New Roman"/>
              </a:rPr>
              <a:t>talebi</a:t>
            </a:r>
            <a:r>
              <a:rPr lang="en-US" sz="1600" b="1" dirty="0">
                <a:solidFill>
                  <a:srgbClr val="1A1A1A"/>
                </a:solidFill>
                <a:latin typeface="Times New Roman"/>
                <a:ea typeface="Times New Roman" pitchFamily="34" charset="-122"/>
                <a:cs typeface="Times New Roman"/>
              </a:rPr>
              <a:t> </a:t>
            </a:r>
            <a:r>
              <a:rPr lang="en-US" sz="1600" b="1" dirty="0" err="1">
                <a:solidFill>
                  <a:srgbClr val="1A1A1A"/>
                </a:solidFill>
                <a:latin typeface="Times New Roman"/>
                <a:ea typeface="Times New Roman" pitchFamily="34" charset="-122"/>
                <a:cs typeface="Times New Roman"/>
              </a:rPr>
              <a:t>büyük</a:t>
            </a:r>
            <a:r>
              <a:rPr lang="en-US" sz="1600" b="1" dirty="0">
                <a:solidFill>
                  <a:srgbClr val="1A1A1A"/>
                </a:solidFill>
                <a:latin typeface="Times New Roman"/>
                <a:ea typeface="Times New Roman" pitchFamily="34" charset="-122"/>
                <a:cs typeface="Times New Roman"/>
              </a:rPr>
              <a:t> </a:t>
            </a:r>
            <a:r>
              <a:rPr lang="en-US" sz="1600" b="1" dirty="0" err="1">
                <a:solidFill>
                  <a:srgbClr val="1A1A1A"/>
                </a:solidFill>
                <a:latin typeface="Times New Roman"/>
                <a:ea typeface="Times New Roman" pitchFamily="34" charset="-122"/>
                <a:cs typeface="Times New Roman"/>
              </a:rPr>
              <a:t>bir</a:t>
            </a:r>
            <a:r>
              <a:rPr lang="en-US" sz="1600" b="1" dirty="0">
                <a:solidFill>
                  <a:srgbClr val="1A1A1A"/>
                </a:solidFill>
                <a:latin typeface="Times New Roman"/>
                <a:ea typeface="Times New Roman" pitchFamily="34" charset="-122"/>
                <a:cs typeface="Times New Roman"/>
              </a:rPr>
              <a:t> </a:t>
            </a:r>
            <a:r>
              <a:rPr lang="en-US" sz="1600" b="1" dirty="0" err="1">
                <a:solidFill>
                  <a:srgbClr val="1A1A1A"/>
                </a:solidFill>
                <a:latin typeface="Times New Roman"/>
                <a:ea typeface="Times New Roman" pitchFamily="34" charset="-122"/>
                <a:cs typeface="Times New Roman"/>
              </a:rPr>
              <a:t>çoğunlukta</a:t>
            </a:r>
            <a:endParaRPr lang="en-US" sz="1600" dirty="0">
              <a:solidFill>
                <a:srgbClr val="1A1A1A"/>
              </a:solidFill>
              <a:latin typeface="Times New Roman"/>
              <a:ea typeface="Calibri"/>
              <a:cs typeface="Calibri"/>
            </a:endParaRPr>
          </a:p>
        </p:txBody>
      </p:sp>
      <p:sp>
        <p:nvSpPr>
          <p:cNvPr id="13" name="Text 10"/>
          <p:cNvSpPr/>
          <p:nvPr/>
        </p:nvSpPr>
        <p:spPr>
          <a:xfrm>
            <a:off x="2468880" y="3502152"/>
            <a:ext cx="8595360" cy="777240"/>
          </a:xfrm>
          <a:prstGeom prst="rect">
            <a:avLst/>
          </a:prstGeom>
          <a:noFill/>
          <a:ln/>
        </p:spPr>
        <p:txBody>
          <a:bodyPr wrap="square" lIns="91440" tIns="45720" rIns="91440" bIns="45720" rtlCol="0" anchor="ctr"/>
          <a:lstStyle/>
          <a:p>
            <a:pPr algn="just">
              <a:lnSpc>
                <a:spcPct val="120000"/>
              </a:lnSpc>
            </a:pPr>
            <a:r>
              <a:rPr lang="en-US" sz="1400" dirty="0" err="1">
                <a:solidFill>
                  <a:srgbClr val="1A1A1A"/>
                </a:solidFill>
                <a:ea typeface="+mn-lt"/>
                <a:cs typeface="+mn-lt"/>
              </a:rPr>
              <a:t>Yanıtların</a:t>
            </a:r>
            <a:r>
              <a:rPr lang="en-US" sz="1400" dirty="0">
                <a:solidFill>
                  <a:srgbClr val="1A1A1A"/>
                </a:solidFill>
                <a:ea typeface="+mn-lt"/>
                <a:cs typeface="+mn-lt"/>
              </a:rPr>
              <a:t> %87,4’ünde </a:t>
            </a:r>
            <a:r>
              <a:rPr lang="en-US" sz="1400" dirty="0" err="1">
                <a:solidFill>
                  <a:srgbClr val="1A1A1A"/>
                </a:solidFill>
                <a:ea typeface="+mn-lt"/>
                <a:cs typeface="+mn-lt"/>
              </a:rPr>
              <a:t>sosyal</a:t>
            </a:r>
            <a:r>
              <a:rPr lang="en-US" sz="1400" dirty="0">
                <a:solidFill>
                  <a:srgbClr val="1A1A1A"/>
                </a:solidFill>
                <a:ea typeface="+mn-lt"/>
                <a:cs typeface="+mn-lt"/>
              </a:rPr>
              <a:t> </a:t>
            </a:r>
            <a:r>
              <a:rPr lang="en-US" sz="1400" dirty="0" err="1">
                <a:solidFill>
                  <a:srgbClr val="1A1A1A"/>
                </a:solidFill>
                <a:ea typeface="+mn-lt"/>
                <a:cs typeface="+mn-lt"/>
              </a:rPr>
              <a:t>tesis</a:t>
            </a:r>
            <a:r>
              <a:rPr lang="en-US" sz="1400" dirty="0">
                <a:solidFill>
                  <a:srgbClr val="1A1A1A"/>
                </a:solidFill>
                <a:ea typeface="+mn-lt"/>
                <a:cs typeface="+mn-lt"/>
              </a:rPr>
              <a:t> </a:t>
            </a:r>
            <a:r>
              <a:rPr lang="en-US" sz="1400" dirty="0" err="1">
                <a:solidFill>
                  <a:srgbClr val="1A1A1A"/>
                </a:solidFill>
                <a:ea typeface="+mn-lt"/>
                <a:cs typeface="+mn-lt"/>
              </a:rPr>
              <a:t>talebi</a:t>
            </a:r>
            <a:r>
              <a:rPr lang="en-US" sz="1400" dirty="0">
                <a:solidFill>
                  <a:srgbClr val="1A1A1A"/>
                </a:solidFill>
                <a:ea typeface="+mn-lt"/>
                <a:cs typeface="+mn-lt"/>
              </a:rPr>
              <a:t> </a:t>
            </a:r>
            <a:r>
              <a:rPr lang="en-US" sz="1400" dirty="0" err="1">
                <a:solidFill>
                  <a:srgbClr val="1A1A1A"/>
                </a:solidFill>
                <a:ea typeface="+mn-lt"/>
                <a:cs typeface="+mn-lt"/>
              </a:rPr>
              <a:t>öne</a:t>
            </a:r>
            <a:r>
              <a:rPr lang="en-US" sz="1400" dirty="0">
                <a:solidFill>
                  <a:srgbClr val="1A1A1A"/>
                </a:solidFill>
                <a:ea typeface="+mn-lt"/>
                <a:cs typeface="+mn-lt"/>
              </a:rPr>
              <a:t> </a:t>
            </a:r>
            <a:r>
              <a:rPr lang="en-US" sz="1400" dirty="0" err="1">
                <a:solidFill>
                  <a:srgbClr val="1A1A1A"/>
                </a:solidFill>
                <a:ea typeface="+mn-lt"/>
                <a:cs typeface="+mn-lt"/>
              </a:rPr>
              <a:t>çıkarken</a:t>
            </a:r>
            <a:r>
              <a:rPr lang="en-US" sz="1400" dirty="0">
                <a:solidFill>
                  <a:srgbClr val="1A1A1A"/>
                </a:solidFill>
                <a:ea typeface="+mn-lt"/>
                <a:cs typeface="+mn-lt"/>
              </a:rPr>
              <a:t>, </a:t>
            </a:r>
            <a:r>
              <a:rPr lang="en-US" sz="1400" dirty="0" err="1">
                <a:solidFill>
                  <a:srgbClr val="1A1A1A"/>
                </a:solidFill>
                <a:ea typeface="+mn-lt"/>
                <a:cs typeface="+mn-lt"/>
              </a:rPr>
              <a:t>bunu</a:t>
            </a:r>
            <a:r>
              <a:rPr lang="en-US" sz="1400" dirty="0">
                <a:solidFill>
                  <a:srgbClr val="1A1A1A"/>
                </a:solidFill>
                <a:ea typeface="+mn-lt"/>
                <a:cs typeface="+mn-lt"/>
              </a:rPr>
              <a:t> </a:t>
            </a:r>
            <a:r>
              <a:rPr lang="en-US" sz="1400" dirty="0" err="1">
                <a:solidFill>
                  <a:srgbClr val="1A1A1A"/>
                </a:solidFill>
                <a:ea typeface="+mn-lt"/>
                <a:cs typeface="+mn-lt"/>
              </a:rPr>
              <a:t>sırasıyla</a:t>
            </a:r>
            <a:r>
              <a:rPr lang="en-US" sz="1400" dirty="0">
                <a:solidFill>
                  <a:srgbClr val="1A1A1A"/>
                </a:solidFill>
                <a:ea typeface="+mn-lt"/>
                <a:cs typeface="+mn-lt"/>
              </a:rPr>
              <a:t> </a:t>
            </a:r>
            <a:r>
              <a:rPr lang="en-US" sz="1400" dirty="0" err="1">
                <a:solidFill>
                  <a:srgbClr val="1A1A1A"/>
                </a:solidFill>
                <a:ea typeface="+mn-lt"/>
                <a:cs typeface="+mn-lt"/>
              </a:rPr>
              <a:t>fabrika</a:t>
            </a:r>
            <a:r>
              <a:rPr lang="en-US" sz="1400" dirty="0">
                <a:solidFill>
                  <a:srgbClr val="1A1A1A"/>
                </a:solidFill>
                <a:ea typeface="+mn-lt"/>
                <a:cs typeface="+mn-lt"/>
              </a:rPr>
              <a:t>/</a:t>
            </a:r>
            <a:r>
              <a:rPr lang="en-US" sz="1400" dirty="0" err="1">
                <a:solidFill>
                  <a:srgbClr val="1A1A1A"/>
                </a:solidFill>
                <a:ea typeface="+mn-lt"/>
                <a:cs typeface="+mn-lt"/>
              </a:rPr>
              <a:t>atölye</a:t>
            </a:r>
            <a:r>
              <a:rPr lang="en-US" sz="1400" dirty="0">
                <a:solidFill>
                  <a:srgbClr val="1A1A1A"/>
                </a:solidFill>
                <a:ea typeface="+mn-lt"/>
                <a:cs typeface="+mn-lt"/>
              </a:rPr>
              <a:t> </a:t>
            </a:r>
            <a:r>
              <a:rPr lang="en-US" sz="1400" dirty="0" err="1">
                <a:solidFill>
                  <a:srgbClr val="1A1A1A"/>
                </a:solidFill>
                <a:ea typeface="+mn-lt"/>
                <a:cs typeface="+mn-lt"/>
              </a:rPr>
              <a:t>ve</a:t>
            </a:r>
            <a:r>
              <a:rPr lang="en-US" sz="1400" dirty="0">
                <a:solidFill>
                  <a:srgbClr val="1A1A1A"/>
                </a:solidFill>
                <a:ea typeface="+mn-lt"/>
                <a:cs typeface="+mn-lt"/>
              </a:rPr>
              <a:t> </a:t>
            </a:r>
            <a:r>
              <a:rPr lang="en-US" sz="1400" dirty="0" err="1">
                <a:solidFill>
                  <a:srgbClr val="1A1A1A"/>
                </a:solidFill>
                <a:ea typeface="+mn-lt"/>
                <a:cs typeface="+mn-lt"/>
              </a:rPr>
              <a:t>soğuk</a:t>
            </a:r>
            <a:r>
              <a:rPr lang="en-US" sz="1400" dirty="0">
                <a:solidFill>
                  <a:srgbClr val="1A1A1A"/>
                </a:solidFill>
                <a:ea typeface="+mn-lt"/>
                <a:cs typeface="+mn-lt"/>
              </a:rPr>
              <a:t> </a:t>
            </a:r>
            <a:r>
              <a:rPr lang="en-US" sz="1400" dirty="0" err="1">
                <a:solidFill>
                  <a:srgbClr val="1A1A1A"/>
                </a:solidFill>
                <a:ea typeface="+mn-lt"/>
                <a:cs typeface="+mn-lt"/>
              </a:rPr>
              <a:t>hava</a:t>
            </a:r>
            <a:r>
              <a:rPr lang="en-US" sz="1400" dirty="0">
                <a:solidFill>
                  <a:srgbClr val="1A1A1A"/>
                </a:solidFill>
                <a:ea typeface="+mn-lt"/>
                <a:cs typeface="+mn-lt"/>
              </a:rPr>
              <a:t> </a:t>
            </a:r>
            <a:r>
              <a:rPr lang="en-US" sz="1400" dirty="0" err="1">
                <a:solidFill>
                  <a:srgbClr val="1A1A1A"/>
                </a:solidFill>
                <a:ea typeface="+mn-lt"/>
                <a:cs typeface="+mn-lt"/>
              </a:rPr>
              <a:t>deposu</a:t>
            </a:r>
            <a:r>
              <a:rPr lang="en-US" sz="1400" dirty="0">
                <a:solidFill>
                  <a:srgbClr val="1A1A1A"/>
                </a:solidFill>
                <a:ea typeface="+mn-lt"/>
                <a:cs typeface="+mn-lt"/>
              </a:rPr>
              <a:t> </a:t>
            </a:r>
            <a:r>
              <a:rPr lang="en-US" sz="1400" dirty="0" err="1">
                <a:solidFill>
                  <a:srgbClr val="1A1A1A"/>
                </a:solidFill>
                <a:ea typeface="+mn-lt"/>
                <a:cs typeface="+mn-lt"/>
              </a:rPr>
              <a:t>talepleri</a:t>
            </a:r>
            <a:r>
              <a:rPr lang="en-US" sz="1400" dirty="0">
                <a:solidFill>
                  <a:srgbClr val="1A1A1A"/>
                </a:solidFill>
                <a:ea typeface="+mn-lt"/>
                <a:cs typeface="+mn-lt"/>
              </a:rPr>
              <a:t> </a:t>
            </a:r>
            <a:r>
              <a:rPr lang="en-US" sz="1400" dirty="0" err="1">
                <a:solidFill>
                  <a:srgbClr val="1A1A1A"/>
                </a:solidFill>
                <a:ea typeface="+mn-lt"/>
                <a:cs typeface="+mn-lt"/>
              </a:rPr>
              <a:t>izlemektedir</a:t>
            </a:r>
            <a:r>
              <a:rPr lang="en-US" sz="1400" dirty="0">
                <a:solidFill>
                  <a:srgbClr val="1A1A1A"/>
                </a:solidFill>
                <a:ea typeface="+mn-lt"/>
                <a:cs typeface="+mn-lt"/>
              </a:rPr>
              <a:t>.</a:t>
            </a:r>
            <a:endParaRPr lang="en-US" dirty="0">
              <a:ea typeface="+mn-lt"/>
              <a:cs typeface="+mn-lt"/>
            </a:endParaRPr>
          </a:p>
        </p:txBody>
      </p:sp>
      <p:sp>
        <p:nvSpPr>
          <p:cNvPr id="14" name="Shape 11"/>
          <p:cNvSpPr/>
          <p:nvPr/>
        </p:nvSpPr>
        <p:spPr>
          <a:xfrm>
            <a:off x="914400" y="4535424"/>
            <a:ext cx="10332720" cy="1371600"/>
          </a:xfrm>
          <a:prstGeom prst="rect">
            <a:avLst/>
          </a:prstGeom>
          <a:solidFill>
            <a:srgbClr val="F2F2F2"/>
          </a:solidFill>
          <a:ln w="6350">
            <a:solidFill>
              <a:srgbClr val="D9D9D9"/>
            </a:solidFill>
            <a:prstDash val="solid"/>
          </a:ln>
        </p:spPr>
      </p:sp>
      <p:sp>
        <p:nvSpPr>
          <p:cNvPr id="15" name="Shape 12"/>
          <p:cNvSpPr/>
          <p:nvPr/>
        </p:nvSpPr>
        <p:spPr>
          <a:xfrm>
            <a:off x="1097280" y="4700016"/>
            <a:ext cx="1188720" cy="347472"/>
          </a:xfrm>
          <a:prstGeom prst="rect">
            <a:avLst/>
          </a:prstGeom>
          <a:solidFill>
            <a:srgbClr val="4472C4"/>
          </a:solidFill>
          <a:ln/>
        </p:spPr>
      </p:sp>
      <p:sp>
        <p:nvSpPr>
          <p:cNvPr id="16" name="Text 13"/>
          <p:cNvSpPr/>
          <p:nvPr/>
        </p:nvSpPr>
        <p:spPr>
          <a:xfrm>
            <a:off x="1097280" y="4700016"/>
            <a:ext cx="1188720" cy="347472"/>
          </a:xfrm>
          <a:prstGeom prst="rect">
            <a:avLst/>
          </a:prstGeom>
          <a:noFill/>
          <a:ln/>
        </p:spPr>
        <p:txBody>
          <a:bodyPr wrap="square" lIns="91440" tIns="45720" rIns="91440" bIns="45720" rtlCol="0" anchor="ctr"/>
          <a:lstStyle/>
          <a:p>
            <a:pPr marL="0" indent="0" algn="ctr">
              <a:buNone/>
            </a:pPr>
            <a:r>
              <a:rPr lang="en-US" sz="1600" b="1" dirty="0">
                <a:solidFill>
                  <a:srgbClr val="FFFFFF"/>
                </a:solidFill>
                <a:latin typeface="Times New Roman"/>
                <a:ea typeface="Times New Roman" pitchFamily="34" charset="-122"/>
                <a:cs typeface="Times New Roman"/>
              </a:rPr>
              <a:t>Soru 18-19</a:t>
            </a:r>
            <a:endParaRPr lang="en-US" sz="1600">
              <a:latin typeface="Times New Roman"/>
              <a:ea typeface="Calibri"/>
              <a:cs typeface="Calibri"/>
            </a:endParaRPr>
          </a:p>
        </p:txBody>
      </p:sp>
      <p:sp>
        <p:nvSpPr>
          <p:cNvPr id="17" name="Text 14"/>
          <p:cNvSpPr/>
          <p:nvPr/>
        </p:nvSpPr>
        <p:spPr>
          <a:xfrm>
            <a:off x="2468880" y="4645152"/>
            <a:ext cx="8595360" cy="365760"/>
          </a:xfrm>
          <a:prstGeom prst="rect">
            <a:avLst/>
          </a:prstGeom>
          <a:noFill/>
          <a:ln/>
        </p:spPr>
        <p:txBody>
          <a:bodyPr wrap="square" lIns="91440" tIns="45720" rIns="91440" bIns="45720" rtlCol="0" anchor="ctr"/>
          <a:lstStyle/>
          <a:p>
            <a:pPr marL="0" indent="0">
              <a:buNone/>
            </a:pPr>
            <a:r>
              <a:rPr lang="en-US" sz="1600" b="1" dirty="0">
                <a:solidFill>
                  <a:srgbClr val="1A1A1A"/>
                </a:solidFill>
                <a:latin typeface="Times New Roman"/>
                <a:ea typeface="Times New Roman" pitchFamily="34" charset="-122"/>
                <a:cs typeface="Times New Roman"/>
              </a:rPr>
              <a:t>Atıl tesis oranı çok düşük</a:t>
            </a:r>
            <a:endParaRPr lang="en-US" sz="1600">
              <a:latin typeface="Times New Roman"/>
              <a:ea typeface="Calibri"/>
              <a:cs typeface="Calibri"/>
            </a:endParaRPr>
          </a:p>
        </p:txBody>
      </p:sp>
      <p:sp>
        <p:nvSpPr>
          <p:cNvPr id="18" name="Text 15"/>
          <p:cNvSpPr/>
          <p:nvPr/>
        </p:nvSpPr>
        <p:spPr>
          <a:xfrm>
            <a:off x="2468880" y="5038344"/>
            <a:ext cx="8595360" cy="777240"/>
          </a:xfrm>
          <a:prstGeom prst="rect">
            <a:avLst/>
          </a:prstGeom>
          <a:noFill/>
          <a:ln/>
        </p:spPr>
        <p:txBody>
          <a:bodyPr wrap="square" lIns="91440" tIns="45720" rIns="91440" bIns="45720" rtlCol="0" anchor="ctr"/>
          <a:lstStyle/>
          <a:p>
            <a:pPr algn="just">
              <a:lnSpc>
                <a:spcPct val="120000"/>
              </a:lnSpc>
            </a:pPr>
            <a:r>
              <a:rPr lang="en-US" sz="1400" dirty="0" err="1">
                <a:solidFill>
                  <a:srgbClr val="1A1A1A"/>
                </a:solidFill>
                <a:latin typeface="Times New Roman"/>
                <a:ea typeface="Times New Roman" pitchFamily="34" charset="-122"/>
                <a:cs typeface="Times New Roman"/>
              </a:rPr>
              <a:t>İncelenen</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tesis</a:t>
            </a:r>
            <a:r>
              <a:rPr lang="en-US" sz="1400" dirty="0">
                <a:solidFill>
                  <a:srgbClr val="1A1A1A"/>
                </a:solidFill>
                <a:latin typeface="Times New Roman"/>
                <a:ea typeface="Times New Roman" pitchFamily="34" charset="-122"/>
                <a:cs typeface="Times New Roman"/>
              </a:rPr>
              <a:t>/</a:t>
            </a:r>
            <a:r>
              <a:rPr lang="en-US" sz="1400" dirty="0" err="1">
                <a:solidFill>
                  <a:srgbClr val="1A1A1A"/>
                </a:solidFill>
                <a:latin typeface="Times New Roman"/>
                <a:ea typeface="Times New Roman" pitchFamily="34" charset="-122"/>
                <a:cs typeface="Times New Roman"/>
              </a:rPr>
              <a:t>hizmet</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kayıtlarının</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yalnızca</a:t>
            </a:r>
            <a:r>
              <a:rPr lang="en-US" sz="1400" dirty="0">
                <a:solidFill>
                  <a:srgbClr val="1A1A1A"/>
                </a:solidFill>
                <a:latin typeface="Times New Roman"/>
                <a:ea typeface="Times New Roman" pitchFamily="34" charset="-122"/>
                <a:cs typeface="Times New Roman"/>
              </a:rPr>
              <a:t> %5,5'i "</a:t>
            </a:r>
            <a:r>
              <a:rPr lang="en-US" sz="1400" dirty="0" err="1">
                <a:solidFill>
                  <a:srgbClr val="1A1A1A"/>
                </a:solidFill>
                <a:latin typeface="Times New Roman"/>
                <a:ea typeface="Times New Roman" pitchFamily="34" charset="-122"/>
                <a:cs typeface="Times New Roman"/>
              </a:rPr>
              <a:t>atıl</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olarak</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işaretlenmiş</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bu</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nedenle</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atıl</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tesis</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kullanımı</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derinlemesine</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analiz</a:t>
            </a:r>
            <a:r>
              <a:rPr lang="en-US" sz="1400" dirty="0">
                <a:solidFill>
                  <a:srgbClr val="1A1A1A"/>
                </a:solidFill>
                <a:latin typeface="Times New Roman"/>
                <a:ea typeface="Times New Roman" pitchFamily="34" charset="-122"/>
                <a:cs typeface="Times New Roman"/>
              </a:rPr>
              <a:t> edilmemiştir.</a:t>
            </a:r>
            <a:endParaRPr lang="en-US" sz="1400">
              <a:latin typeface="Times New Roman"/>
              <a:ea typeface="Calibri"/>
              <a:cs typeface="Times New Roman"/>
            </a:endParaRPr>
          </a:p>
        </p:txBody>
      </p:sp>
      <p:sp>
        <p:nvSpPr>
          <p:cNvPr id="19" name="Text 16"/>
          <p:cNvSpPr/>
          <p:nvPr/>
        </p:nvSpPr>
        <p:spPr>
          <a:xfrm>
            <a:off x="457200" y="6537960"/>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13</a:t>
            </a:r>
            <a:endParaRPr lang="en-US" sz="850" dirty="0"/>
          </a:p>
        </p:txBody>
      </p:sp>
      <p:sp>
        <p:nvSpPr>
          <p:cNvPr id="20" name="Minor Note"/>
          <p:cNvSpPr/>
          <p:nvPr/>
        </p:nvSpPr>
        <p:spPr>
          <a:xfrm>
            <a:off x="914400" y="6060312"/>
            <a:ext cx="10332720" cy="365760"/>
          </a:xfrm>
          <a:prstGeom prst="rect">
            <a:avLst/>
          </a:prstGeom>
          <a:noFill/>
          <a:ln/>
        </p:spPr>
        <p:txBody>
          <a:bodyPr wrap="square" lIns="91440" tIns="45720" rIns="91440" bIns="45720" rtlCol="0" anchor="ctr"/>
          <a:lstStyle/>
          <a:p>
            <a:pPr marL="0" indent="0">
              <a:buNone/>
            </a:pPr>
            <a:endParaRPr lang="tr-TR" sz="950" i="1" dirty="0">
              <a:solidFill>
                <a:srgbClr val="808080"/>
              </a:solidFill>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3"/>
          <a:stretch>
            <a:fillRect/>
          </a:stretch>
        </p:blipFill>
        <p:spPr>
          <a:xfrm>
            <a:off x="0" y="-1"/>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lIns="91440" tIns="45720" rIns="91440" bIns="45720" rtlCol="0" anchor="ctr"/>
          <a:lstStyle/>
          <a:p>
            <a:pPr marL="0" indent="0" algn="l">
              <a:buNone/>
            </a:pPr>
            <a:r>
              <a:rPr lang="en-US" sz="2400" b="1" dirty="0">
                <a:solidFill>
                  <a:srgbClr val="FFFFFF"/>
                </a:solidFill>
                <a:latin typeface="Times New Roman"/>
                <a:ea typeface="Times New Roman" pitchFamily="34" charset="-122"/>
                <a:cs typeface="Times New Roman"/>
              </a:rPr>
              <a:t>Genel </a:t>
            </a:r>
            <a:r>
              <a:rPr lang="en-US" sz="2400" b="1" dirty="0" err="1">
                <a:solidFill>
                  <a:srgbClr val="FFFFFF"/>
                </a:solidFill>
                <a:latin typeface="Times New Roman"/>
                <a:ea typeface="Times New Roman" pitchFamily="34" charset="-122"/>
                <a:cs typeface="Times New Roman"/>
              </a:rPr>
              <a:t>Değerlendirme</a:t>
            </a:r>
            <a:endParaRPr lang="en-US" sz="2400" dirty="0" err="1">
              <a:latin typeface="Times New Roman"/>
              <a:cs typeface="Times New Roman"/>
            </a:endParaRPr>
          </a:p>
        </p:txBody>
      </p:sp>
      <p:sp>
        <p:nvSpPr>
          <p:cNvPr id="4" name="Text 1"/>
          <p:cNvSpPr/>
          <p:nvPr/>
        </p:nvSpPr>
        <p:spPr>
          <a:xfrm>
            <a:off x="914400" y="1508760"/>
            <a:ext cx="10416609" cy="594360"/>
          </a:xfrm>
          <a:prstGeom prst="rect">
            <a:avLst/>
          </a:prstGeom>
          <a:noFill/>
          <a:ln/>
        </p:spPr>
        <p:txBody>
          <a:bodyPr wrap="square" lIns="91440" tIns="45720" rIns="91440" bIns="45720" rtlCol="0" anchor="ctr"/>
          <a:lstStyle/>
          <a:p>
            <a:pPr algn="just">
              <a:lnSpc>
                <a:spcPct val="114999"/>
              </a:lnSpc>
            </a:pPr>
            <a:r>
              <a:rPr lang="en-US" sz="1400" dirty="0">
                <a:solidFill>
                  <a:srgbClr val="1A1A1A"/>
                </a:solidFill>
                <a:latin typeface="Times New Roman"/>
                <a:ea typeface="+mn-lt"/>
                <a:cs typeface="Times New Roman"/>
              </a:rPr>
              <a:t>•  </a:t>
            </a:r>
            <a:r>
              <a:rPr lang="en-US" sz="1400" dirty="0" err="1">
                <a:solidFill>
                  <a:srgbClr val="1A1A1A"/>
                </a:solidFill>
                <a:latin typeface="Calibri"/>
                <a:ea typeface="+mn-lt"/>
                <a:cs typeface="Calibri"/>
              </a:rPr>
              <a:t>Üç</a:t>
            </a:r>
            <a:r>
              <a:rPr lang="en-US" sz="1400" dirty="0">
                <a:solidFill>
                  <a:srgbClr val="1A1A1A"/>
                </a:solidFill>
                <a:ea typeface="+mn-lt"/>
                <a:cs typeface="+mn-lt"/>
              </a:rPr>
              <a:t> </a:t>
            </a:r>
            <a:r>
              <a:rPr lang="en-US" sz="1400" dirty="0" err="1">
                <a:solidFill>
                  <a:srgbClr val="1A1A1A"/>
                </a:solidFill>
                <a:ea typeface="+mn-lt"/>
                <a:cs typeface="+mn-lt"/>
              </a:rPr>
              <a:t>ilde</a:t>
            </a:r>
            <a:r>
              <a:rPr lang="en-US" sz="1400" dirty="0">
                <a:solidFill>
                  <a:srgbClr val="1A1A1A"/>
                </a:solidFill>
                <a:ea typeface="+mn-lt"/>
                <a:cs typeface="+mn-lt"/>
              </a:rPr>
              <a:t> de </a:t>
            </a:r>
            <a:r>
              <a:rPr lang="en-US" sz="1400" dirty="0" err="1">
                <a:solidFill>
                  <a:srgbClr val="1A1A1A"/>
                </a:solidFill>
                <a:ea typeface="+mn-lt"/>
                <a:cs typeface="+mn-lt"/>
              </a:rPr>
              <a:t>ekonomik</a:t>
            </a:r>
            <a:r>
              <a:rPr lang="en-US" sz="1400" dirty="0">
                <a:solidFill>
                  <a:srgbClr val="1A1A1A"/>
                </a:solidFill>
                <a:ea typeface="+mn-lt"/>
                <a:cs typeface="+mn-lt"/>
              </a:rPr>
              <a:t> </a:t>
            </a:r>
            <a:r>
              <a:rPr lang="en-US" sz="1400" dirty="0" err="1">
                <a:solidFill>
                  <a:srgbClr val="1A1A1A"/>
                </a:solidFill>
                <a:ea typeface="+mn-lt"/>
                <a:cs typeface="+mn-lt"/>
              </a:rPr>
              <a:t>yapı</a:t>
            </a:r>
            <a:r>
              <a:rPr lang="en-US" sz="1400" dirty="0">
                <a:solidFill>
                  <a:srgbClr val="1A1A1A"/>
                </a:solidFill>
                <a:ea typeface="+mn-lt"/>
                <a:cs typeface="+mn-lt"/>
              </a:rPr>
              <a:t> </a:t>
            </a:r>
            <a:r>
              <a:rPr lang="en-US" sz="1400" dirty="0" err="1">
                <a:solidFill>
                  <a:srgbClr val="1A1A1A"/>
                </a:solidFill>
                <a:ea typeface="+mn-lt"/>
                <a:cs typeface="+mn-lt"/>
              </a:rPr>
              <a:t>tarım</a:t>
            </a:r>
            <a:r>
              <a:rPr lang="en-US" sz="1400" dirty="0">
                <a:solidFill>
                  <a:srgbClr val="1A1A1A"/>
                </a:solidFill>
                <a:ea typeface="+mn-lt"/>
                <a:cs typeface="+mn-lt"/>
              </a:rPr>
              <a:t> </a:t>
            </a:r>
            <a:r>
              <a:rPr lang="en-US" sz="1400" dirty="0" err="1">
                <a:solidFill>
                  <a:srgbClr val="1A1A1A"/>
                </a:solidFill>
                <a:ea typeface="+mn-lt"/>
                <a:cs typeface="+mn-lt"/>
              </a:rPr>
              <a:t>ve</a:t>
            </a:r>
            <a:r>
              <a:rPr lang="en-US" sz="1400" dirty="0">
                <a:solidFill>
                  <a:srgbClr val="1A1A1A"/>
                </a:solidFill>
                <a:ea typeface="+mn-lt"/>
                <a:cs typeface="+mn-lt"/>
              </a:rPr>
              <a:t> </a:t>
            </a:r>
            <a:r>
              <a:rPr lang="en-US" sz="1400" dirty="0" err="1">
                <a:solidFill>
                  <a:srgbClr val="1A1A1A"/>
                </a:solidFill>
                <a:ea typeface="+mn-lt"/>
                <a:cs typeface="+mn-lt"/>
              </a:rPr>
              <a:t>hayvancılığa</a:t>
            </a:r>
            <a:r>
              <a:rPr lang="en-US" sz="1400" dirty="0">
                <a:solidFill>
                  <a:srgbClr val="1A1A1A"/>
                </a:solidFill>
                <a:ea typeface="+mn-lt"/>
                <a:cs typeface="+mn-lt"/>
              </a:rPr>
              <a:t> </a:t>
            </a:r>
            <a:r>
              <a:rPr lang="en-US" sz="1400" dirty="0" err="1">
                <a:solidFill>
                  <a:srgbClr val="1A1A1A"/>
                </a:solidFill>
                <a:ea typeface="+mn-lt"/>
                <a:cs typeface="+mn-lt"/>
              </a:rPr>
              <a:t>dayanmakta</a:t>
            </a:r>
            <a:r>
              <a:rPr lang="en-US" sz="1400" dirty="0">
                <a:solidFill>
                  <a:srgbClr val="1A1A1A"/>
                </a:solidFill>
                <a:ea typeface="+mn-lt"/>
                <a:cs typeface="+mn-lt"/>
              </a:rPr>
              <a:t>; </a:t>
            </a:r>
            <a:r>
              <a:rPr lang="en-US" sz="1400" dirty="0" err="1">
                <a:solidFill>
                  <a:srgbClr val="1A1A1A"/>
                </a:solidFill>
                <a:ea typeface="+mn-lt"/>
                <a:cs typeface="+mn-lt"/>
              </a:rPr>
              <a:t>Şanlıurfa’da</a:t>
            </a:r>
            <a:r>
              <a:rPr lang="en-US" sz="1400" dirty="0">
                <a:solidFill>
                  <a:srgbClr val="1A1A1A"/>
                </a:solidFill>
                <a:ea typeface="+mn-lt"/>
                <a:cs typeface="+mn-lt"/>
              </a:rPr>
              <a:t> </a:t>
            </a:r>
            <a:r>
              <a:rPr lang="en-US" sz="1400" dirty="0" err="1">
                <a:solidFill>
                  <a:srgbClr val="1A1A1A"/>
                </a:solidFill>
                <a:ea typeface="+mn-lt"/>
                <a:cs typeface="+mn-lt"/>
              </a:rPr>
              <a:t>hayvancılığın</a:t>
            </a:r>
            <a:r>
              <a:rPr lang="en-US" sz="1400" dirty="0">
                <a:solidFill>
                  <a:srgbClr val="1A1A1A"/>
                </a:solidFill>
                <a:ea typeface="+mn-lt"/>
                <a:cs typeface="+mn-lt"/>
              </a:rPr>
              <a:t> </a:t>
            </a:r>
            <a:r>
              <a:rPr lang="en-US" sz="1400" dirty="0" err="1">
                <a:solidFill>
                  <a:srgbClr val="1A1A1A"/>
                </a:solidFill>
                <a:ea typeface="+mn-lt"/>
                <a:cs typeface="+mn-lt"/>
              </a:rPr>
              <a:t>payı</a:t>
            </a:r>
            <a:r>
              <a:rPr lang="en-US" sz="1400" dirty="0">
                <a:solidFill>
                  <a:srgbClr val="1A1A1A"/>
                </a:solidFill>
                <a:ea typeface="+mn-lt"/>
                <a:cs typeface="+mn-lt"/>
              </a:rPr>
              <a:t> </a:t>
            </a:r>
            <a:r>
              <a:rPr lang="en-US" sz="1400" dirty="0" err="1">
                <a:solidFill>
                  <a:srgbClr val="1A1A1A"/>
                </a:solidFill>
                <a:ea typeface="+mn-lt"/>
                <a:cs typeface="+mn-lt"/>
              </a:rPr>
              <a:t>diğer</a:t>
            </a:r>
            <a:r>
              <a:rPr lang="en-US" sz="1400" dirty="0">
                <a:solidFill>
                  <a:srgbClr val="1A1A1A"/>
                </a:solidFill>
                <a:ea typeface="+mn-lt"/>
                <a:cs typeface="+mn-lt"/>
              </a:rPr>
              <a:t> </a:t>
            </a:r>
            <a:r>
              <a:rPr lang="en-US" sz="1400" dirty="0" err="1">
                <a:solidFill>
                  <a:srgbClr val="1A1A1A"/>
                </a:solidFill>
                <a:ea typeface="+mn-lt"/>
                <a:cs typeface="+mn-lt"/>
              </a:rPr>
              <a:t>illere</a:t>
            </a:r>
            <a:r>
              <a:rPr lang="en-US" sz="1400" dirty="0">
                <a:solidFill>
                  <a:srgbClr val="1A1A1A"/>
                </a:solidFill>
                <a:ea typeface="+mn-lt"/>
                <a:cs typeface="+mn-lt"/>
              </a:rPr>
              <a:t> </a:t>
            </a:r>
            <a:r>
              <a:rPr lang="en-US" sz="1400" dirty="0" err="1">
                <a:solidFill>
                  <a:srgbClr val="1A1A1A"/>
                </a:solidFill>
                <a:ea typeface="+mn-lt"/>
                <a:cs typeface="+mn-lt"/>
              </a:rPr>
              <a:t>kıyasla</a:t>
            </a:r>
            <a:r>
              <a:rPr lang="en-US" sz="1400" dirty="0">
                <a:solidFill>
                  <a:srgbClr val="1A1A1A"/>
                </a:solidFill>
                <a:ea typeface="+mn-lt"/>
                <a:cs typeface="+mn-lt"/>
              </a:rPr>
              <a:t> </a:t>
            </a:r>
            <a:r>
              <a:rPr lang="en-US" sz="1400" dirty="0" err="1">
                <a:solidFill>
                  <a:srgbClr val="1A1A1A"/>
                </a:solidFill>
                <a:ea typeface="+mn-lt"/>
                <a:cs typeface="+mn-lt"/>
              </a:rPr>
              <a:t>belirgin</a:t>
            </a:r>
            <a:r>
              <a:rPr lang="en-US" sz="1400" dirty="0">
                <a:solidFill>
                  <a:srgbClr val="1A1A1A"/>
                </a:solidFill>
                <a:ea typeface="+mn-lt"/>
                <a:cs typeface="+mn-lt"/>
              </a:rPr>
              <a:t> </a:t>
            </a:r>
            <a:r>
              <a:rPr lang="en-US" sz="1400" dirty="0" err="1">
                <a:solidFill>
                  <a:srgbClr val="1A1A1A"/>
                </a:solidFill>
                <a:ea typeface="+mn-lt"/>
                <a:cs typeface="+mn-lt"/>
              </a:rPr>
              <a:t>biçimde</a:t>
            </a:r>
            <a:r>
              <a:rPr lang="en-US" sz="1400" dirty="0">
                <a:solidFill>
                  <a:srgbClr val="1A1A1A"/>
                </a:solidFill>
                <a:ea typeface="+mn-lt"/>
                <a:cs typeface="+mn-lt"/>
              </a:rPr>
              <a:t> </a:t>
            </a:r>
            <a:r>
              <a:rPr lang="en-US" sz="1400" dirty="0" err="1">
                <a:solidFill>
                  <a:srgbClr val="1A1A1A"/>
                </a:solidFill>
                <a:ea typeface="+mn-lt"/>
                <a:cs typeface="+mn-lt"/>
              </a:rPr>
              <a:t>daha</a:t>
            </a:r>
            <a:r>
              <a:rPr lang="en-US" sz="1400" dirty="0">
                <a:solidFill>
                  <a:srgbClr val="1A1A1A"/>
                </a:solidFill>
                <a:ea typeface="+mn-lt"/>
                <a:cs typeface="+mn-lt"/>
              </a:rPr>
              <a:t> </a:t>
            </a:r>
            <a:r>
              <a:rPr lang="en-US" sz="1400" dirty="0" err="1">
                <a:solidFill>
                  <a:srgbClr val="1A1A1A"/>
                </a:solidFill>
                <a:ea typeface="+mn-lt"/>
                <a:cs typeface="+mn-lt"/>
              </a:rPr>
              <a:t>yüksek</a:t>
            </a:r>
            <a:r>
              <a:rPr lang="en-US" sz="1400" dirty="0">
                <a:solidFill>
                  <a:srgbClr val="1A1A1A"/>
                </a:solidFill>
                <a:ea typeface="+mn-lt"/>
                <a:cs typeface="+mn-lt"/>
              </a:rPr>
              <a:t> </a:t>
            </a:r>
            <a:r>
              <a:rPr lang="en-US" sz="1400" dirty="0" err="1">
                <a:solidFill>
                  <a:srgbClr val="1A1A1A"/>
                </a:solidFill>
                <a:ea typeface="+mn-lt"/>
                <a:cs typeface="+mn-lt"/>
              </a:rPr>
              <a:t>görünmektedir</a:t>
            </a:r>
            <a:r>
              <a:rPr lang="en-US" sz="1400" dirty="0">
                <a:solidFill>
                  <a:srgbClr val="1A1A1A"/>
                </a:solidFill>
                <a:ea typeface="+mn-lt"/>
                <a:cs typeface="+mn-lt"/>
              </a:rPr>
              <a:t>.</a:t>
            </a:r>
            <a:endParaRPr lang="en-US" sz="1400" dirty="0">
              <a:ea typeface="+mn-lt"/>
              <a:cs typeface="+mn-lt"/>
            </a:endParaRPr>
          </a:p>
        </p:txBody>
      </p:sp>
      <p:sp>
        <p:nvSpPr>
          <p:cNvPr id="5" name="Text 2"/>
          <p:cNvSpPr/>
          <p:nvPr/>
        </p:nvSpPr>
        <p:spPr>
          <a:xfrm>
            <a:off x="914400" y="2202082"/>
            <a:ext cx="10332720" cy="594360"/>
          </a:xfrm>
          <a:prstGeom prst="rect">
            <a:avLst/>
          </a:prstGeom>
          <a:noFill/>
          <a:ln/>
        </p:spPr>
        <p:txBody>
          <a:bodyPr wrap="square" lIns="91440" tIns="45720" rIns="91440" bIns="45720" rtlCol="0" anchor="ctr"/>
          <a:lstStyle/>
          <a:p>
            <a:pPr algn="just">
              <a:lnSpc>
                <a:spcPct val="115000"/>
              </a:lnSpc>
            </a:pPr>
            <a:r>
              <a:rPr lang="en-US" sz="1400" dirty="0">
                <a:solidFill>
                  <a:srgbClr val="1A1A1A"/>
                </a:solidFill>
                <a:latin typeface="Times New Roman"/>
                <a:ea typeface="Times New Roman" pitchFamily="34" charset="-122"/>
                <a:cs typeface="Times New Roman"/>
              </a:rPr>
              <a:t>•  </a:t>
            </a:r>
            <a:r>
              <a:rPr lang="en-US" sz="1400" dirty="0">
                <a:solidFill>
                  <a:srgbClr val="1A1A1A"/>
                </a:solidFill>
                <a:ea typeface="+mn-lt"/>
                <a:cs typeface="+mn-lt"/>
              </a:rPr>
              <a:t>Temel </a:t>
            </a:r>
            <a:r>
              <a:rPr lang="en-US" sz="1400" dirty="0" err="1">
                <a:solidFill>
                  <a:srgbClr val="1A1A1A"/>
                </a:solidFill>
                <a:ea typeface="+mn-lt"/>
                <a:cs typeface="+mn-lt"/>
              </a:rPr>
              <a:t>eğitim</a:t>
            </a:r>
            <a:r>
              <a:rPr lang="en-US" sz="1400" dirty="0">
                <a:solidFill>
                  <a:srgbClr val="1A1A1A"/>
                </a:solidFill>
                <a:ea typeface="+mn-lt"/>
                <a:cs typeface="+mn-lt"/>
              </a:rPr>
              <a:t> </a:t>
            </a:r>
            <a:r>
              <a:rPr lang="en-US" sz="1400" dirty="0" err="1">
                <a:solidFill>
                  <a:srgbClr val="1A1A1A"/>
                </a:solidFill>
                <a:ea typeface="+mn-lt"/>
                <a:cs typeface="+mn-lt"/>
              </a:rPr>
              <a:t>hizmetleri</a:t>
            </a:r>
            <a:r>
              <a:rPr lang="en-US" sz="1400" dirty="0">
                <a:solidFill>
                  <a:srgbClr val="1A1A1A"/>
                </a:solidFill>
                <a:ea typeface="+mn-lt"/>
                <a:cs typeface="+mn-lt"/>
              </a:rPr>
              <a:t> </a:t>
            </a:r>
            <a:r>
              <a:rPr lang="en-US" sz="1400" dirty="0" err="1">
                <a:solidFill>
                  <a:srgbClr val="1A1A1A"/>
                </a:solidFill>
                <a:ea typeface="+mn-lt"/>
                <a:cs typeface="+mn-lt"/>
              </a:rPr>
              <a:t>köy</a:t>
            </a:r>
            <a:r>
              <a:rPr lang="en-US" sz="1400" dirty="0">
                <a:solidFill>
                  <a:srgbClr val="1A1A1A"/>
                </a:solidFill>
                <a:ea typeface="+mn-lt"/>
                <a:cs typeface="+mn-lt"/>
              </a:rPr>
              <a:t> </a:t>
            </a:r>
            <a:r>
              <a:rPr lang="en-US" sz="1400" dirty="0" err="1">
                <a:solidFill>
                  <a:srgbClr val="1A1A1A"/>
                </a:solidFill>
                <a:ea typeface="+mn-lt"/>
                <a:cs typeface="+mn-lt"/>
              </a:rPr>
              <a:t>düzeyinde</a:t>
            </a:r>
            <a:r>
              <a:rPr lang="en-US" sz="1400" dirty="0">
                <a:solidFill>
                  <a:srgbClr val="1A1A1A"/>
                </a:solidFill>
                <a:ea typeface="+mn-lt"/>
                <a:cs typeface="+mn-lt"/>
              </a:rPr>
              <a:t> </a:t>
            </a:r>
            <a:r>
              <a:rPr lang="en-US" sz="1400" dirty="0" err="1">
                <a:solidFill>
                  <a:srgbClr val="1A1A1A"/>
                </a:solidFill>
                <a:ea typeface="+mn-lt"/>
                <a:cs typeface="+mn-lt"/>
              </a:rPr>
              <a:t>karşılanırken</a:t>
            </a:r>
            <a:r>
              <a:rPr lang="en-US" sz="1400" dirty="0">
                <a:solidFill>
                  <a:srgbClr val="1A1A1A"/>
                </a:solidFill>
                <a:ea typeface="+mn-lt"/>
                <a:cs typeface="+mn-lt"/>
              </a:rPr>
              <a:t>, </a:t>
            </a:r>
            <a:r>
              <a:rPr lang="en-US" sz="1400" dirty="0" err="1">
                <a:solidFill>
                  <a:srgbClr val="1A1A1A"/>
                </a:solidFill>
                <a:ea typeface="+mn-lt"/>
                <a:cs typeface="+mn-lt"/>
              </a:rPr>
              <a:t>sağlık</a:t>
            </a:r>
            <a:r>
              <a:rPr lang="en-US" sz="1400" dirty="0">
                <a:solidFill>
                  <a:srgbClr val="1A1A1A"/>
                </a:solidFill>
                <a:ea typeface="+mn-lt"/>
                <a:cs typeface="+mn-lt"/>
              </a:rPr>
              <a:t> </a:t>
            </a:r>
            <a:r>
              <a:rPr lang="en-US" sz="1400" dirty="0" err="1">
                <a:solidFill>
                  <a:srgbClr val="1A1A1A"/>
                </a:solidFill>
                <a:ea typeface="+mn-lt"/>
                <a:cs typeface="+mn-lt"/>
              </a:rPr>
              <a:t>hizmetleri</a:t>
            </a:r>
            <a:r>
              <a:rPr lang="en-US" sz="1400" dirty="0">
                <a:solidFill>
                  <a:srgbClr val="1A1A1A"/>
                </a:solidFill>
                <a:ea typeface="+mn-lt"/>
                <a:cs typeface="+mn-lt"/>
              </a:rPr>
              <a:t> </a:t>
            </a:r>
            <a:r>
              <a:rPr lang="en-US" sz="1400" dirty="0" err="1">
                <a:solidFill>
                  <a:srgbClr val="1A1A1A"/>
                </a:solidFill>
                <a:ea typeface="+mn-lt"/>
                <a:cs typeface="+mn-lt"/>
              </a:rPr>
              <a:t>ve</a:t>
            </a:r>
            <a:r>
              <a:rPr lang="en-US" sz="1400" dirty="0">
                <a:solidFill>
                  <a:srgbClr val="1A1A1A"/>
                </a:solidFill>
                <a:ea typeface="+mn-lt"/>
                <a:cs typeface="+mn-lt"/>
              </a:rPr>
              <a:t> </a:t>
            </a:r>
            <a:r>
              <a:rPr lang="en-US" sz="1400" dirty="0" err="1">
                <a:solidFill>
                  <a:srgbClr val="1A1A1A"/>
                </a:solidFill>
                <a:ea typeface="+mn-lt"/>
                <a:cs typeface="+mn-lt"/>
              </a:rPr>
              <a:t>üst</a:t>
            </a:r>
            <a:r>
              <a:rPr lang="en-US" sz="1400" dirty="0">
                <a:solidFill>
                  <a:srgbClr val="1A1A1A"/>
                </a:solidFill>
                <a:ea typeface="+mn-lt"/>
                <a:cs typeface="+mn-lt"/>
              </a:rPr>
              <a:t> </a:t>
            </a:r>
            <a:r>
              <a:rPr lang="en-US" sz="1400" dirty="0" err="1">
                <a:solidFill>
                  <a:srgbClr val="1A1A1A"/>
                </a:solidFill>
                <a:ea typeface="+mn-lt"/>
                <a:cs typeface="+mn-lt"/>
              </a:rPr>
              <a:t>kademe</a:t>
            </a:r>
            <a:r>
              <a:rPr lang="en-US" sz="1400" dirty="0">
                <a:solidFill>
                  <a:srgbClr val="1A1A1A"/>
                </a:solidFill>
                <a:ea typeface="+mn-lt"/>
                <a:cs typeface="+mn-lt"/>
              </a:rPr>
              <a:t> </a:t>
            </a:r>
            <a:r>
              <a:rPr lang="en-US" sz="1400" dirty="0" err="1">
                <a:solidFill>
                  <a:srgbClr val="1A1A1A"/>
                </a:solidFill>
                <a:ea typeface="+mn-lt"/>
                <a:cs typeface="+mn-lt"/>
              </a:rPr>
              <a:t>eğitim</a:t>
            </a:r>
            <a:r>
              <a:rPr lang="en-US" sz="1400" dirty="0">
                <a:solidFill>
                  <a:srgbClr val="1A1A1A"/>
                </a:solidFill>
                <a:ea typeface="+mn-lt"/>
                <a:cs typeface="+mn-lt"/>
              </a:rPr>
              <a:t> </a:t>
            </a:r>
            <a:r>
              <a:rPr lang="en-US" sz="1400" dirty="0" err="1">
                <a:solidFill>
                  <a:srgbClr val="1A1A1A"/>
                </a:solidFill>
                <a:ea typeface="+mn-lt"/>
                <a:cs typeface="+mn-lt"/>
              </a:rPr>
              <a:t>açısından</a:t>
            </a:r>
            <a:r>
              <a:rPr lang="en-US" sz="1400" dirty="0">
                <a:solidFill>
                  <a:srgbClr val="1A1A1A"/>
                </a:solidFill>
                <a:ea typeface="+mn-lt"/>
                <a:cs typeface="+mn-lt"/>
              </a:rPr>
              <a:t> </a:t>
            </a:r>
            <a:r>
              <a:rPr lang="en-US" sz="1400" dirty="0" err="1">
                <a:solidFill>
                  <a:srgbClr val="1A1A1A"/>
                </a:solidFill>
                <a:ea typeface="+mn-lt"/>
                <a:cs typeface="+mn-lt"/>
              </a:rPr>
              <a:t>ilçe</a:t>
            </a:r>
            <a:r>
              <a:rPr lang="en-US" sz="1400" dirty="0">
                <a:solidFill>
                  <a:srgbClr val="1A1A1A"/>
                </a:solidFill>
                <a:ea typeface="+mn-lt"/>
                <a:cs typeface="+mn-lt"/>
              </a:rPr>
              <a:t> </a:t>
            </a:r>
            <a:r>
              <a:rPr lang="en-US" sz="1400" dirty="0" err="1">
                <a:solidFill>
                  <a:srgbClr val="1A1A1A"/>
                </a:solidFill>
                <a:ea typeface="+mn-lt"/>
                <a:cs typeface="+mn-lt"/>
              </a:rPr>
              <a:t>merkezlerine</a:t>
            </a:r>
            <a:r>
              <a:rPr lang="en-US" sz="1400" dirty="0">
                <a:solidFill>
                  <a:srgbClr val="1A1A1A"/>
                </a:solidFill>
                <a:ea typeface="+mn-lt"/>
                <a:cs typeface="+mn-lt"/>
              </a:rPr>
              <a:t> </a:t>
            </a:r>
            <a:r>
              <a:rPr lang="en-US" sz="1400" dirty="0" err="1">
                <a:solidFill>
                  <a:srgbClr val="1A1A1A"/>
                </a:solidFill>
                <a:ea typeface="+mn-lt"/>
                <a:cs typeface="+mn-lt"/>
              </a:rPr>
              <a:t>bağımlılık</a:t>
            </a:r>
            <a:r>
              <a:rPr lang="en-US" sz="1400" dirty="0">
                <a:solidFill>
                  <a:srgbClr val="1A1A1A"/>
                </a:solidFill>
                <a:ea typeface="+mn-lt"/>
                <a:cs typeface="+mn-lt"/>
              </a:rPr>
              <a:t> </a:t>
            </a:r>
            <a:r>
              <a:rPr lang="en-US" sz="1400" dirty="0" err="1">
                <a:solidFill>
                  <a:srgbClr val="1A1A1A"/>
                </a:solidFill>
                <a:ea typeface="+mn-lt"/>
                <a:cs typeface="+mn-lt"/>
              </a:rPr>
              <a:t>devam</a:t>
            </a:r>
            <a:r>
              <a:rPr lang="en-US" sz="1400" dirty="0">
                <a:solidFill>
                  <a:srgbClr val="1A1A1A"/>
                </a:solidFill>
                <a:ea typeface="+mn-lt"/>
                <a:cs typeface="+mn-lt"/>
              </a:rPr>
              <a:t> </a:t>
            </a:r>
            <a:r>
              <a:rPr lang="en-US" sz="1400" dirty="0" err="1">
                <a:solidFill>
                  <a:srgbClr val="1A1A1A"/>
                </a:solidFill>
                <a:ea typeface="+mn-lt"/>
                <a:cs typeface="+mn-lt"/>
              </a:rPr>
              <a:t>etmektedir</a:t>
            </a:r>
            <a:r>
              <a:rPr lang="en-US" sz="1400" dirty="0">
                <a:solidFill>
                  <a:srgbClr val="1A1A1A"/>
                </a:solidFill>
                <a:ea typeface="+mn-lt"/>
                <a:cs typeface="+mn-lt"/>
              </a:rPr>
              <a:t>.</a:t>
            </a:r>
            <a:endParaRPr lang="en-US" sz="1400" dirty="0">
              <a:ea typeface="+mn-lt"/>
              <a:cs typeface="+mn-lt"/>
            </a:endParaRPr>
          </a:p>
        </p:txBody>
      </p:sp>
      <p:sp>
        <p:nvSpPr>
          <p:cNvPr id="6" name="Text 3"/>
          <p:cNvSpPr/>
          <p:nvPr/>
        </p:nvSpPr>
        <p:spPr>
          <a:xfrm>
            <a:off x="914400" y="2895404"/>
            <a:ext cx="10332720" cy="594360"/>
          </a:xfrm>
          <a:prstGeom prst="rect">
            <a:avLst/>
          </a:prstGeom>
          <a:noFill/>
          <a:ln/>
        </p:spPr>
        <p:txBody>
          <a:bodyPr wrap="square" lIns="91440" tIns="45720" rIns="91440" bIns="45720" rtlCol="0" anchor="ctr"/>
          <a:lstStyle/>
          <a:p>
            <a:pPr marL="0" indent="0" algn="just">
              <a:lnSpc>
                <a:spcPct val="115000"/>
              </a:lnSpc>
              <a:buNone/>
            </a:pPr>
            <a:r>
              <a:rPr lang="en-US" sz="1400" dirty="0">
                <a:solidFill>
                  <a:srgbClr val="1A1A1A"/>
                </a:solidFill>
                <a:latin typeface="Times New Roman" pitchFamily="34" charset="0"/>
                <a:ea typeface="Times New Roman" pitchFamily="34" charset="-122"/>
                <a:cs typeface="Times New Roman" pitchFamily="34" charset="-120"/>
              </a:rPr>
              <a:t>•  Mevsimlik tarım işçiliğine dayalı güçlü bir iş gücü hareketliliği var; Kilis'te içe ve dışa hareketlilik neredeyse eşit — bölgesel bir çekim merkezi olabileceğine işaret ediyor.</a:t>
            </a:r>
            <a:endParaRPr lang="en-US" sz="1400" dirty="0"/>
          </a:p>
        </p:txBody>
      </p:sp>
      <p:sp>
        <p:nvSpPr>
          <p:cNvPr id="7" name="Text 4"/>
          <p:cNvSpPr/>
          <p:nvPr/>
        </p:nvSpPr>
        <p:spPr>
          <a:xfrm>
            <a:off x="914400" y="3588726"/>
            <a:ext cx="10332720" cy="594360"/>
          </a:xfrm>
          <a:prstGeom prst="rect">
            <a:avLst/>
          </a:prstGeom>
          <a:noFill/>
          <a:ln/>
        </p:spPr>
        <p:txBody>
          <a:bodyPr wrap="square" lIns="91440" tIns="45720" rIns="91440" bIns="45720" rtlCol="0" anchor="ctr"/>
          <a:lstStyle/>
          <a:p>
            <a:pPr algn="just">
              <a:lnSpc>
                <a:spcPct val="115000"/>
              </a:lnSpc>
            </a:pPr>
            <a:r>
              <a:rPr lang="en-US" sz="1400" dirty="0">
                <a:solidFill>
                  <a:srgbClr val="1A1A1A"/>
                </a:solidFill>
                <a:latin typeface="Times New Roman"/>
                <a:ea typeface="Times New Roman" pitchFamily="34" charset="-122"/>
                <a:cs typeface="Times New Roman"/>
              </a:rPr>
              <a:t>•  </a:t>
            </a:r>
            <a:r>
              <a:rPr lang="en-US" sz="1400" dirty="0">
                <a:solidFill>
                  <a:srgbClr val="1A1A1A"/>
                </a:solidFill>
                <a:ea typeface="+mn-lt"/>
                <a:cs typeface="+mn-lt"/>
              </a:rPr>
              <a:t>Son </a:t>
            </a:r>
            <a:r>
              <a:rPr lang="en-US" sz="1400" dirty="0" err="1">
                <a:solidFill>
                  <a:srgbClr val="1A1A1A"/>
                </a:solidFill>
                <a:ea typeface="+mn-lt"/>
                <a:cs typeface="+mn-lt"/>
              </a:rPr>
              <a:t>beş</a:t>
            </a:r>
            <a:r>
              <a:rPr lang="en-US" sz="1400" dirty="0">
                <a:solidFill>
                  <a:srgbClr val="1A1A1A"/>
                </a:solidFill>
                <a:ea typeface="+mn-lt"/>
                <a:cs typeface="+mn-lt"/>
              </a:rPr>
              <a:t> </a:t>
            </a:r>
            <a:r>
              <a:rPr lang="en-US" sz="1400" dirty="0" err="1">
                <a:solidFill>
                  <a:srgbClr val="1A1A1A"/>
                </a:solidFill>
                <a:ea typeface="+mn-lt"/>
                <a:cs typeface="+mn-lt"/>
              </a:rPr>
              <a:t>yılda</a:t>
            </a:r>
            <a:r>
              <a:rPr lang="en-US" sz="1400" dirty="0">
                <a:solidFill>
                  <a:srgbClr val="1A1A1A"/>
                </a:solidFill>
                <a:ea typeface="+mn-lt"/>
                <a:cs typeface="+mn-lt"/>
              </a:rPr>
              <a:t> </a:t>
            </a:r>
            <a:r>
              <a:rPr lang="en-US" sz="1400" dirty="0" err="1">
                <a:solidFill>
                  <a:srgbClr val="1A1A1A"/>
                </a:solidFill>
                <a:ea typeface="+mn-lt"/>
                <a:cs typeface="+mn-lt"/>
              </a:rPr>
              <a:t>incelenen</a:t>
            </a:r>
            <a:r>
              <a:rPr lang="en-US" sz="1400" dirty="0">
                <a:solidFill>
                  <a:srgbClr val="1A1A1A"/>
                </a:solidFill>
                <a:ea typeface="+mn-lt"/>
                <a:cs typeface="+mn-lt"/>
              </a:rPr>
              <a:t> </a:t>
            </a:r>
            <a:r>
              <a:rPr lang="en-US" sz="1400" dirty="0" err="1">
                <a:solidFill>
                  <a:srgbClr val="1A1A1A"/>
                </a:solidFill>
                <a:ea typeface="+mn-lt"/>
                <a:cs typeface="+mn-lt"/>
              </a:rPr>
              <a:t>dört</a:t>
            </a:r>
            <a:r>
              <a:rPr lang="en-US" sz="1400" dirty="0">
                <a:solidFill>
                  <a:srgbClr val="1A1A1A"/>
                </a:solidFill>
                <a:ea typeface="+mn-lt"/>
                <a:cs typeface="+mn-lt"/>
              </a:rPr>
              <a:t> </a:t>
            </a:r>
            <a:r>
              <a:rPr lang="en-US" sz="1400" dirty="0" err="1">
                <a:solidFill>
                  <a:srgbClr val="1A1A1A"/>
                </a:solidFill>
                <a:ea typeface="+mn-lt"/>
                <a:cs typeface="+mn-lt"/>
              </a:rPr>
              <a:t>göstergenin</a:t>
            </a:r>
            <a:r>
              <a:rPr lang="en-US" sz="1400" dirty="0">
                <a:solidFill>
                  <a:srgbClr val="1A1A1A"/>
                </a:solidFill>
                <a:ea typeface="+mn-lt"/>
                <a:cs typeface="+mn-lt"/>
              </a:rPr>
              <a:t> </a:t>
            </a:r>
            <a:r>
              <a:rPr lang="en-US" sz="1400" dirty="0" err="1">
                <a:solidFill>
                  <a:srgbClr val="1A1A1A"/>
                </a:solidFill>
                <a:ea typeface="+mn-lt"/>
                <a:cs typeface="+mn-lt"/>
              </a:rPr>
              <a:t>tamamında</a:t>
            </a:r>
            <a:r>
              <a:rPr lang="en-US" sz="1400" dirty="0">
                <a:solidFill>
                  <a:srgbClr val="1A1A1A"/>
                </a:solidFill>
                <a:ea typeface="+mn-lt"/>
                <a:cs typeface="+mn-lt"/>
              </a:rPr>
              <a:t> </a:t>
            </a:r>
            <a:r>
              <a:rPr lang="en-US" sz="1400" dirty="0" err="1">
                <a:solidFill>
                  <a:srgbClr val="1A1A1A"/>
                </a:solidFill>
                <a:ea typeface="+mn-lt"/>
                <a:cs typeface="+mn-lt"/>
              </a:rPr>
              <a:t>gerileme</a:t>
            </a:r>
            <a:r>
              <a:rPr lang="en-US" sz="1400" dirty="0">
                <a:solidFill>
                  <a:srgbClr val="1A1A1A"/>
                </a:solidFill>
                <a:ea typeface="+mn-lt"/>
                <a:cs typeface="+mn-lt"/>
              </a:rPr>
              <a:t> </a:t>
            </a:r>
            <a:r>
              <a:rPr lang="en-US" sz="1400" dirty="0" err="1">
                <a:solidFill>
                  <a:srgbClr val="1A1A1A"/>
                </a:solidFill>
                <a:ea typeface="+mn-lt"/>
                <a:cs typeface="+mn-lt"/>
              </a:rPr>
              <a:t>algısı</a:t>
            </a:r>
            <a:r>
              <a:rPr lang="en-US" sz="1400" dirty="0">
                <a:solidFill>
                  <a:srgbClr val="1A1A1A"/>
                </a:solidFill>
                <a:ea typeface="+mn-lt"/>
                <a:cs typeface="+mn-lt"/>
              </a:rPr>
              <a:t> </a:t>
            </a:r>
            <a:r>
              <a:rPr lang="en-US" sz="1400" dirty="0" err="1">
                <a:solidFill>
                  <a:srgbClr val="1A1A1A"/>
                </a:solidFill>
                <a:ea typeface="+mn-lt"/>
                <a:cs typeface="+mn-lt"/>
              </a:rPr>
              <a:t>baskındır</a:t>
            </a:r>
            <a:r>
              <a:rPr lang="en-US" sz="1400" dirty="0">
                <a:solidFill>
                  <a:srgbClr val="1A1A1A"/>
                </a:solidFill>
                <a:ea typeface="+mn-lt"/>
                <a:cs typeface="+mn-lt"/>
              </a:rPr>
              <a:t>. </a:t>
            </a:r>
            <a:r>
              <a:rPr lang="en-US" sz="1400" dirty="0" err="1">
                <a:solidFill>
                  <a:srgbClr val="1A1A1A"/>
                </a:solidFill>
                <a:ea typeface="+mn-lt"/>
                <a:cs typeface="+mn-lt"/>
              </a:rPr>
              <a:t>Özellikle</a:t>
            </a:r>
            <a:r>
              <a:rPr lang="en-US" sz="1400" dirty="0">
                <a:solidFill>
                  <a:srgbClr val="1A1A1A"/>
                </a:solidFill>
                <a:ea typeface="+mn-lt"/>
                <a:cs typeface="+mn-lt"/>
              </a:rPr>
              <a:t> </a:t>
            </a:r>
            <a:r>
              <a:rPr lang="en-US" sz="1400" dirty="0" err="1">
                <a:solidFill>
                  <a:srgbClr val="1A1A1A"/>
                </a:solidFill>
                <a:ea typeface="+mn-lt"/>
                <a:cs typeface="+mn-lt"/>
              </a:rPr>
              <a:t>gençlerin</a:t>
            </a:r>
            <a:r>
              <a:rPr lang="en-US" sz="1400" dirty="0">
                <a:solidFill>
                  <a:srgbClr val="1A1A1A"/>
                </a:solidFill>
                <a:ea typeface="+mn-lt"/>
                <a:cs typeface="+mn-lt"/>
              </a:rPr>
              <a:t> </a:t>
            </a:r>
            <a:r>
              <a:rPr lang="en-US" sz="1400" dirty="0" err="1">
                <a:solidFill>
                  <a:srgbClr val="1A1A1A"/>
                </a:solidFill>
                <a:ea typeface="+mn-lt"/>
                <a:cs typeface="+mn-lt"/>
              </a:rPr>
              <a:t>tarımdaki</a:t>
            </a:r>
            <a:r>
              <a:rPr lang="en-US" sz="1400" dirty="0">
                <a:solidFill>
                  <a:srgbClr val="1A1A1A"/>
                </a:solidFill>
                <a:ea typeface="+mn-lt"/>
                <a:cs typeface="+mn-lt"/>
              </a:rPr>
              <a:t> </a:t>
            </a:r>
            <a:r>
              <a:rPr lang="en-US" sz="1400" dirty="0" err="1">
                <a:solidFill>
                  <a:srgbClr val="1A1A1A"/>
                </a:solidFill>
                <a:ea typeface="+mn-lt"/>
                <a:cs typeface="+mn-lt"/>
              </a:rPr>
              <a:t>payının</a:t>
            </a:r>
            <a:r>
              <a:rPr lang="en-US" sz="1400" dirty="0">
                <a:solidFill>
                  <a:srgbClr val="1A1A1A"/>
                </a:solidFill>
                <a:ea typeface="+mn-lt"/>
                <a:cs typeface="+mn-lt"/>
              </a:rPr>
              <a:t> </a:t>
            </a:r>
            <a:r>
              <a:rPr lang="en-US" sz="1400" dirty="0" err="1">
                <a:solidFill>
                  <a:srgbClr val="1A1A1A"/>
                </a:solidFill>
                <a:ea typeface="+mn-lt"/>
                <a:cs typeface="+mn-lt"/>
              </a:rPr>
              <a:t>azalması</a:t>
            </a:r>
            <a:r>
              <a:rPr lang="en-US" sz="1400" dirty="0">
                <a:solidFill>
                  <a:srgbClr val="1A1A1A"/>
                </a:solidFill>
                <a:ea typeface="+mn-lt"/>
                <a:cs typeface="+mn-lt"/>
              </a:rPr>
              <a:t> </a:t>
            </a:r>
            <a:r>
              <a:rPr lang="en-US" sz="1400" dirty="0" err="1">
                <a:solidFill>
                  <a:srgbClr val="1A1A1A"/>
                </a:solidFill>
                <a:ea typeface="+mn-lt"/>
                <a:cs typeface="+mn-lt"/>
              </a:rPr>
              <a:t>dikkat</a:t>
            </a:r>
            <a:r>
              <a:rPr lang="en-US" sz="1400" dirty="0">
                <a:solidFill>
                  <a:srgbClr val="1A1A1A"/>
                </a:solidFill>
                <a:ea typeface="+mn-lt"/>
                <a:cs typeface="+mn-lt"/>
              </a:rPr>
              <a:t> </a:t>
            </a:r>
            <a:r>
              <a:rPr lang="en-US" sz="1400" dirty="0" err="1">
                <a:solidFill>
                  <a:srgbClr val="1A1A1A"/>
                </a:solidFill>
                <a:ea typeface="+mn-lt"/>
                <a:cs typeface="+mn-lt"/>
              </a:rPr>
              <a:t>çekmektedir</a:t>
            </a:r>
            <a:r>
              <a:rPr lang="en-US" sz="1400" dirty="0">
                <a:solidFill>
                  <a:srgbClr val="1A1A1A"/>
                </a:solidFill>
                <a:ea typeface="+mn-lt"/>
                <a:cs typeface="+mn-lt"/>
              </a:rPr>
              <a:t>.</a:t>
            </a:r>
            <a:endParaRPr lang="en-US" sz="1400" dirty="0">
              <a:ea typeface="+mn-lt"/>
              <a:cs typeface="+mn-lt"/>
            </a:endParaRPr>
          </a:p>
        </p:txBody>
      </p:sp>
      <p:sp>
        <p:nvSpPr>
          <p:cNvPr id="8" name="Text 5"/>
          <p:cNvSpPr/>
          <p:nvPr/>
        </p:nvSpPr>
        <p:spPr>
          <a:xfrm>
            <a:off x="914400" y="4282048"/>
            <a:ext cx="10332720" cy="594360"/>
          </a:xfrm>
          <a:prstGeom prst="rect">
            <a:avLst/>
          </a:prstGeom>
          <a:noFill/>
          <a:ln/>
        </p:spPr>
        <p:txBody>
          <a:bodyPr wrap="square" lIns="91440" tIns="45720" rIns="91440" bIns="45720" rtlCol="0" anchor="ctr"/>
          <a:lstStyle/>
          <a:p>
            <a:pPr algn="just">
              <a:lnSpc>
                <a:spcPct val="115000"/>
              </a:lnSpc>
            </a:pPr>
            <a:r>
              <a:rPr lang="en-US" sz="1400" dirty="0">
                <a:solidFill>
                  <a:srgbClr val="1A1A1A"/>
                </a:solidFill>
                <a:latin typeface="Times New Roman"/>
                <a:ea typeface="Times New Roman" pitchFamily="34" charset="-122"/>
                <a:cs typeface="Times New Roman"/>
              </a:rPr>
              <a:t>•  </a:t>
            </a:r>
            <a:r>
              <a:rPr lang="en-US" sz="1400" dirty="0">
                <a:solidFill>
                  <a:srgbClr val="1A1A1A"/>
                </a:solidFill>
                <a:ea typeface="+mn-lt"/>
                <a:cs typeface="+mn-lt"/>
              </a:rPr>
              <a:t>Su </a:t>
            </a:r>
            <a:r>
              <a:rPr lang="en-US" sz="1400" dirty="0" err="1">
                <a:solidFill>
                  <a:srgbClr val="1A1A1A"/>
                </a:solidFill>
                <a:ea typeface="+mn-lt"/>
                <a:cs typeface="+mn-lt"/>
              </a:rPr>
              <a:t>yetersizliği</a:t>
            </a:r>
            <a:r>
              <a:rPr lang="en-US" sz="1400" dirty="0">
                <a:solidFill>
                  <a:srgbClr val="1A1A1A"/>
                </a:solidFill>
                <a:ea typeface="+mn-lt"/>
                <a:cs typeface="+mn-lt"/>
              </a:rPr>
              <a:t> </a:t>
            </a:r>
            <a:r>
              <a:rPr lang="en-US" sz="1400" dirty="0" err="1">
                <a:solidFill>
                  <a:srgbClr val="1A1A1A"/>
                </a:solidFill>
                <a:ea typeface="+mn-lt"/>
                <a:cs typeface="+mn-lt"/>
              </a:rPr>
              <a:t>ve</a:t>
            </a:r>
            <a:r>
              <a:rPr lang="en-US" sz="1400" dirty="0">
                <a:solidFill>
                  <a:srgbClr val="1A1A1A"/>
                </a:solidFill>
                <a:ea typeface="+mn-lt"/>
                <a:cs typeface="+mn-lt"/>
              </a:rPr>
              <a:t> </a:t>
            </a:r>
            <a:r>
              <a:rPr lang="en-US" sz="1400" dirty="0" err="1">
                <a:solidFill>
                  <a:srgbClr val="1A1A1A"/>
                </a:solidFill>
                <a:ea typeface="+mn-lt"/>
                <a:cs typeface="+mn-lt"/>
              </a:rPr>
              <a:t>girdi</a:t>
            </a:r>
            <a:r>
              <a:rPr lang="en-US" sz="1400" dirty="0">
                <a:solidFill>
                  <a:srgbClr val="1A1A1A"/>
                </a:solidFill>
                <a:ea typeface="+mn-lt"/>
                <a:cs typeface="+mn-lt"/>
              </a:rPr>
              <a:t> </a:t>
            </a:r>
            <a:r>
              <a:rPr lang="en-US" sz="1400" dirty="0" err="1">
                <a:solidFill>
                  <a:srgbClr val="1A1A1A"/>
                </a:solidFill>
                <a:ea typeface="+mn-lt"/>
                <a:cs typeface="+mn-lt"/>
              </a:rPr>
              <a:t>maliyetleri</a:t>
            </a:r>
            <a:r>
              <a:rPr lang="en-US" sz="1400" dirty="0">
                <a:solidFill>
                  <a:srgbClr val="1A1A1A"/>
                </a:solidFill>
                <a:ea typeface="+mn-lt"/>
                <a:cs typeface="+mn-lt"/>
              </a:rPr>
              <a:t>, </a:t>
            </a:r>
            <a:r>
              <a:rPr lang="en-US" sz="1400" dirty="0" err="1">
                <a:solidFill>
                  <a:srgbClr val="1A1A1A"/>
                </a:solidFill>
                <a:ea typeface="+mn-lt"/>
                <a:cs typeface="+mn-lt"/>
              </a:rPr>
              <a:t>üç</a:t>
            </a:r>
            <a:r>
              <a:rPr lang="en-US" sz="1400" dirty="0">
                <a:solidFill>
                  <a:srgbClr val="1A1A1A"/>
                </a:solidFill>
                <a:ea typeface="+mn-lt"/>
                <a:cs typeface="+mn-lt"/>
              </a:rPr>
              <a:t> </a:t>
            </a:r>
            <a:r>
              <a:rPr lang="en-US" sz="1400" dirty="0" err="1">
                <a:solidFill>
                  <a:srgbClr val="1A1A1A"/>
                </a:solidFill>
                <a:ea typeface="+mn-lt"/>
                <a:cs typeface="+mn-lt"/>
              </a:rPr>
              <a:t>ilde</a:t>
            </a:r>
            <a:r>
              <a:rPr lang="en-US" sz="1400" dirty="0">
                <a:solidFill>
                  <a:srgbClr val="1A1A1A"/>
                </a:solidFill>
                <a:ea typeface="+mn-lt"/>
                <a:cs typeface="+mn-lt"/>
              </a:rPr>
              <a:t> de </a:t>
            </a:r>
            <a:r>
              <a:rPr lang="en-US" sz="1400" dirty="0" err="1">
                <a:solidFill>
                  <a:srgbClr val="1A1A1A"/>
                </a:solidFill>
                <a:ea typeface="+mn-lt"/>
                <a:cs typeface="+mn-lt"/>
              </a:rPr>
              <a:t>öne</a:t>
            </a:r>
            <a:r>
              <a:rPr lang="en-US" sz="1400" dirty="0">
                <a:solidFill>
                  <a:srgbClr val="1A1A1A"/>
                </a:solidFill>
                <a:ea typeface="+mn-lt"/>
                <a:cs typeface="+mn-lt"/>
              </a:rPr>
              <a:t> </a:t>
            </a:r>
            <a:r>
              <a:rPr lang="en-US" sz="1400" dirty="0" err="1">
                <a:solidFill>
                  <a:srgbClr val="1A1A1A"/>
                </a:solidFill>
                <a:ea typeface="+mn-lt"/>
                <a:cs typeface="+mn-lt"/>
              </a:rPr>
              <a:t>çıkan</a:t>
            </a:r>
            <a:r>
              <a:rPr lang="en-US" sz="1400" dirty="0">
                <a:solidFill>
                  <a:srgbClr val="1A1A1A"/>
                </a:solidFill>
                <a:ea typeface="+mn-lt"/>
                <a:cs typeface="+mn-lt"/>
              </a:rPr>
              <a:t> </a:t>
            </a:r>
            <a:r>
              <a:rPr lang="en-US" sz="1400" dirty="0" err="1">
                <a:solidFill>
                  <a:srgbClr val="1A1A1A"/>
                </a:solidFill>
                <a:ea typeface="+mn-lt"/>
                <a:cs typeface="+mn-lt"/>
              </a:rPr>
              <a:t>tarımsal</a:t>
            </a:r>
            <a:r>
              <a:rPr lang="en-US" sz="1400" dirty="0">
                <a:solidFill>
                  <a:srgbClr val="1A1A1A"/>
                </a:solidFill>
                <a:ea typeface="+mn-lt"/>
                <a:cs typeface="+mn-lt"/>
              </a:rPr>
              <a:t> </a:t>
            </a:r>
            <a:r>
              <a:rPr lang="en-US" sz="1400" dirty="0" err="1">
                <a:solidFill>
                  <a:srgbClr val="1A1A1A"/>
                </a:solidFill>
                <a:ea typeface="+mn-lt"/>
                <a:cs typeface="+mn-lt"/>
              </a:rPr>
              <a:t>tehditlerdir</a:t>
            </a:r>
            <a:r>
              <a:rPr lang="en-US" sz="1400" dirty="0">
                <a:solidFill>
                  <a:srgbClr val="1A1A1A"/>
                </a:solidFill>
                <a:ea typeface="+mn-lt"/>
                <a:cs typeface="+mn-lt"/>
              </a:rPr>
              <a:t>. </a:t>
            </a:r>
            <a:r>
              <a:rPr lang="en-US" sz="1400" dirty="0" err="1">
                <a:solidFill>
                  <a:srgbClr val="1A1A1A"/>
                </a:solidFill>
                <a:ea typeface="+mn-lt"/>
                <a:cs typeface="+mn-lt"/>
              </a:rPr>
              <a:t>Kilis’te</a:t>
            </a:r>
            <a:r>
              <a:rPr lang="en-US" sz="1400" dirty="0">
                <a:solidFill>
                  <a:srgbClr val="1A1A1A"/>
                </a:solidFill>
                <a:ea typeface="+mn-lt"/>
                <a:cs typeface="+mn-lt"/>
              </a:rPr>
              <a:t> </a:t>
            </a:r>
            <a:r>
              <a:rPr lang="en-US" sz="1400" dirty="0" err="1">
                <a:solidFill>
                  <a:srgbClr val="1A1A1A"/>
                </a:solidFill>
                <a:ea typeface="+mn-lt"/>
                <a:cs typeface="+mn-lt"/>
              </a:rPr>
              <a:t>ise</a:t>
            </a:r>
            <a:r>
              <a:rPr lang="en-US" sz="1400" dirty="0">
                <a:solidFill>
                  <a:srgbClr val="1A1A1A"/>
                </a:solidFill>
                <a:ea typeface="+mn-lt"/>
                <a:cs typeface="+mn-lt"/>
              </a:rPr>
              <a:t> </a:t>
            </a:r>
            <a:r>
              <a:rPr lang="en-US" sz="1400" dirty="0" err="1">
                <a:solidFill>
                  <a:srgbClr val="1A1A1A"/>
                </a:solidFill>
                <a:ea typeface="+mn-lt"/>
                <a:cs typeface="+mn-lt"/>
              </a:rPr>
              <a:t>bu</a:t>
            </a:r>
            <a:r>
              <a:rPr lang="en-US" sz="1400" dirty="0">
                <a:solidFill>
                  <a:srgbClr val="1A1A1A"/>
                </a:solidFill>
                <a:ea typeface="+mn-lt"/>
                <a:cs typeface="+mn-lt"/>
              </a:rPr>
              <a:t> </a:t>
            </a:r>
            <a:r>
              <a:rPr lang="en-US" sz="1400" dirty="0" err="1">
                <a:solidFill>
                  <a:srgbClr val="1A1A1A"/>
                </a:solidFill>
                <a:ea typeface="+mn-lt"/>
                <a:cs typeface="+mn-lt"/>
              </a:rPr>
              <a:t>iki</a:t>
            </a:r>
            <a:r>
              <a:rPr lang="en-US" sz="1400" dirty="0">
                <a:solidFill>
                  <a:srgbClr val="1A1A1A"/>
                </a:solidFill>
                <a:ea typeface="+mn-lt"/>
                <a:cs typeface="+mn-lt"/>
              </a:rPr>
              <a:t> </a:t>
            </a:r>
            <a:r>
              <a:rPr lang="en-US" sz="1400" dirty="0" err="1">
                <a:solidFill>
                  <a:srgbClr val="1A1A1A"/>
                </a:solidFill>
                <a:ea typeface="+mn-lt"/>
                <a:cs typeface="+mn-lt"/>
              </a:rPr>
              <a:t>sorun</a:t>
            </a:r>
            <a:r>
              <a:rPr lang="en-US" sz="1400" dirty="0">
                <a:solidFill>
                  <a:srgbClr val="1A1A1A"/>
                </a:solidFill>
                <a:ea typeface="+mn-lt"/>
                <a:cs typeface="+mn-lt"/>
              </a:rPr>
              <a:t> </a:t>
            </a:r>
            <a:r>
              <a:rPr lang="en-US" sz="1400" dirty="0" err="1">
                <a:solidFill>
                  <a:srgbClr val="1A1A1A"/>
                </a:solidFill>
                <a:ea typeface="+mn-lt"/>
                <a:cs typeface="+mn-lt"/>
              </a:rPr>
              <a:t>benzer</a:t>
            </a:r>
            <a:r>
              <a:rPr lang="en-US" sz="1400" dirty="0">
                <a:solidFill>
                  <a:srgbClr val="1A1A1A"/>
                </a:solidFill>
                <a:ea typeface="+mn-lt"/>
                <a:cs typeface="+mn-lt"/>
              </a:rPr>
              <a:t> </a:t>
            </a:r>
            <a:r>
              <a:rPr lang="en-US" sz="1400" dirty="0" err="1">
                <a:solidFill>
                  <a:srgbClr val="1A1A1A"/>
                </a:solidFill>
                <a:ea typeface="+mn-lt"/>
                <a:cs typeface="+mn-lt"/>
              </a:rPr>
              <a:t>düzeyde</a:t>
            </a:r>
            <a:r>
              <a:rPr lang="en-US" sz="1400" dirty="0">
                <a:solidFill>
                  <a:srgbClr val="1A1A1A"/>
                </a:solidFill>
                <a:ea typeface="+mn-lt"/>
                <a:cs typeface="+mn-lt"/>
              </a:rPr>
              <a:t> </a:t>
            </a:r>
            <a:r>
              <a:rPr lang="en-US" sz="1400" dirty="0" err="1">
                <a:solidFill>
                  <a:srgbClr val="1A1A1A"/>
                </a:solidFill>
                <a:ea typeface="+mn-lt"/>
                <a:cs typeface="+mn-lt"/>
              </a:rPr>
              <a:t>önem</a:t>
            </a:r>
            <a:r>
              <a:rPr lang="en-US" sz="1400" dirty="0">
                <a:solidFill>
                  <a:srgbClr val="1A1A1A"/>
                </a:solidFill>
                <a:ea typeface="+mn-lt"/>
                <a:cs typeface="+mn-lt"/>
              </a:rPr>
              <a:t> </a:t>
            </a:r>
            <a:r>
              <a:rPr lang="en-US" sz="1400" dirty="0" err="1">
                <a:solidFill>
                  <a:srgbClr val="1A1A1A"/>
                </a:solidFill>
                <a:ea typeface="+mn-lt"/>
                <a:cs typeface="+mn-lt"/>
              </a:rPr>
              <a:t>taşımaktadır</a:t>
            </a:r>
            <a:r>
              <a:rPr lang="en-US" sz="1400" dirty="0">
                <a:solidFill>
                  <a:srgbClr val="1A1A1A"/>
                </a:solidFill>
                <a:ea typeface="+mn-lt"/>
                <a:cs typeface="+mn-lt"/>
              </a:rPr>
              <a:t>.</a:t>
            </a:r>
            <a:endParaRPr lang="en-US" sz="1400" dirty="0">
              <a:ea typeface="+mn-lt"/>
              <a:cs typeface="+mn-lt"/>
            </a:endParaRPr>
          </a:p>
        </p:txBody>
      </p:sp>
      <p:sp>
        <p:nvSpPr>
          <p:cNvPr id="9" name="Text 6"/>
          <p:cNvSpPr/>
          <p:nvPr/>
        </p:nvSpPr>
        <p:spPr>
          <a:xfrm>
            <a:off x="914400" y="4975370"/>
            <a:ext cx="10332720" cy="594360"/>
          </a:xfrm>
          <a:prstGeom prst="rect">
            <a:avLst/>
          </a:prstGeom>
          <a:noFill/>
          <a:ln/>
        </p:spPr>
        <p:txBody>
          <a:bodyPr wrap="square" lIns="91440" tIns="45720" rIns="91440" bIns="45720" rtlCol="0" anchor="ctr"/>
          <a:lstStyle/>
          <a:p>
            <a:pPr algn="just">
              <a:lnSpc>
                <a:spcPct val="115000"/>
              </a:lnSpc>
            </a:pPr>
            <a:r>
              <a:rPr lang="en-US" sz="1400" dirty="0">
                <a:solidFill>
                  <a:srgbClr val="1A1A1A"/>
                </a:solidFill>
                <a:latin typeface="Times New Roman"/>
                <a:ea typeface="Times New Roman" pitchFamily="34" charset="-122"/>
                <a:cs typeface="Times New Roman"/>
              </a:rPr>
              <a:t>•  </a:t>
            </a:r>
            <a:r>
              <a:rPr lang="en-US" sz="1400" dirty="0">
                <a:solidFill>
                  <a:srgbClr val="1A1A1A"/>
                </a:solidFill>
                <a:ea typeface="+mn-lt"/>
                <a:cs typeface="+mn-lt"/>
              </a:rPr>
              <a:t>Her </a:t>
            </a:r>
            <a:r>
              <a:rPr lang="en-US" sz="1400" dirty="0" err="1">
                <a:solidFill>
                  <a:srgbClr val="1A1A1A"/>
                </a:solidFill>
                <a:ea typeface="+mn-lt"/>
                <a:cs typeface="+mn-lt"/>
              </a:rPr>
              <a:t>üç</a:t>
            </a:r>
            <a:r>
              <a:rPr lang="en-US" sz="1400" dirty="0">
                <a:solidFill>
                  <a:srgbClr val="1A1A1A"/>
                </a:solidFill>
                <a:ea typeface="+mn-lt"/>
                <a:cs typeface="+mn-lt"/>
              </a:rPr>
              <a:t> il de </a:t>
            </a:r>
            <a:r>
              <a:rPr lang="en-US" sz="1400" dirty="0" err="1">
                <a:solidFill>
                  <a:srgbClr val="1A1A1A"/>
                </a:solidFill>
                <a:ea typeface="+mn-lt"/>
                <a:cs typeface="+mn-lt"/>
              </a:rPr>
              <a:t>temel</a:t>
            </a:r>
            <a:r>
              <a:rPr lang="en-US" sz="1400" dirty="0">
                <a:solidFill>
                  <a:srgbClr val="1A1A1A"/>
                </a:solidFill>
                <a:ea typeface="+mn-lt"/>
                <a:cs typeface="+mn-lt"/>
              </a:rPr>
              <a:t> </a:t>
            </a:r>
            <a:r>
              <a:rPr lang="en-US" sz="1400" dirty="0" err="1">
                <a:solidFill>
                  <a:srgbClr val="1A1A1A"/>
                </a:solidFill>
                <a:ea typeface="+mn-lt"/>
                <a:cs typeface="+mn-lt"/>
              </a:rPr>
              <a:t>ihtiyaçların</a:t>
            </a:r>
            <a:r>
              <a:rPr lang="en-US" sz="1400" dirty="0">
                <a:solidFill>
                  <a:srgbClr val="1A1A1A"/>
                </a:solidFill>
                <a:ea typeface="+mn-lt"/>
                <a:cs typeface="+mn-lt"/>
              </a:rPr>
              <a:t> </a:t>
            </a:r>
            <a:r>
              <a:rPr lang="en-US" sz="1400" dirty="0" err="1">
                <a:solidFill>
                  <a:srgbClr val="1A1A1A"/>
                </a:solidFill>
                <a:ea typeface="+mn-lt"/>
                <a:cs typeface="+mn-lt"/>
              </a:rPr>
              <a:t>temininde</a:t>
            </a:r>
            <a:r>
              <a:rPr lang="en-US" sz="1400" dirty="0">
                <a:solidFill>
                  <a:srgbClr val="1A1A1A"/>
                </a:solidFill>
                <a:ea typeface="+mn-lt"/>
                <a:cs typeface="+mn-lt"/>
              </a:rPr>
              <a:t> </a:t>
            </a:r>
            <a:r>
              <a:rPr lang="en-US" sz="1400" dirty="0" err="1">
                <a:solidFill>
                  <a:srgbClr val="1A1A1A"/>
                </a:solidFill>
                <a:ea typeface="+mn-lt"/>
                <a:cs typeface="+mn-lt"/>
              </a:rPr>
              <a:t>büyük</a:t>
            </a:r>
            <a:r>
              <a:rPr lang="en-US" sz="1400" dirty="0">
                <a:solidFill>
                  <a:srgbClr val="1A1A1A"/>
                </a:solidFill>
                <a:ea typeface="+mn-lt"/>
                <a:cs typeface="+mn-lt"/>
              </a:rPr>
              <a:t> </a:t>
            </a:r>
            <a:r>
              <a:rPr lang="en-US" sz="1400" dirty="0" err="1">
                <a:solidFill>
                  <a:srgbClr val="1A1A1A"/>
                </a:solidFill>
                <a:ea typeface="+mn-lt"/>
                <a:cs typeface="+mn-lt"/>
              </a:rPr>
              <a:t>ölçüde</a:t>
            </a:r>
            <a:r>
              <a:rPr lang="en-US" sz="1400" dirty="0">
                <a:solidFill>
                  <a:srgbClr val="1A1A1A"/>
                </a:solidFill>
                <a:ea typeface="+mn-lt"/>
                <a:cs typeface="+mn-lt"/>
              </a:rPr>
              <a:t> il </a:t>
            </a:r>
            <a:r>
              <a:rPr lang="en-US" sz="1400" dirty="0" err="1">
                <a:solidFill>
                  <a:srgbClr val="1A1A1A"/>
                </a:solidFill>
                <a:ea typeface="+mn-lt"/>
                <a:cs typeface="+mn-lt"/>
              </a:rPr>
              <a:t>içi</a:t>
            </a:r>
            <a:r>
              <a:rPr lang="en-US" sz="1400" dirty="0">
                <a:solidFill>
                  <a:srgbClr val="1A1A1A"/>
                </a:solidFill>
                <a:ea typeface="+mn-lt"/>
                <a:cs typeface="+mn-lt"/>
              </a:rPr>
              <a:t> </a:t>
            </a:r>
            <a:r>
              <a:rPr lang="en-US" sz="1400" dirty="0" err="1">
                <a:solidFill>
                  <a:srgbClr val="1A1A1A"/>
                </a:solidFill>
                <a:ea typeface="+mn-lt"/>
                <a:cs typeface="+mn-lt"/>
              </a:rPr>
              <a:t>kaynaklara</a:t>
            </a:r>
            <a:r>
              <a:rPr lang="en-US" sz="1400" dirty="0">
                <a:solidFill>
                  <a:srgbClr val="1A1A1A"/>
                </a:solidFill>
                <a:ea typeface="+mn-lt"/>
                <a:cs typeface="+mn-lt"/>
              </a:rPr>
              <a:t> </a:t>
            </a:r>
            <a:r>
              <a:rPr lang="en-US" sz="1400" dirty="0" err="1">
                <a:solidFill>
                  <a:srgbClr val="1A1A1A"/>
                </a:solidFill>
                <a:ea typeface="+mn-lt"/>
                <a:cs typeface="+mn-lt"/>
              </a:rPr>
              <a:t>dayalı</a:t>
            </a:r>
            <a:r>
              <a:rPr lang="en-US" sz="1400" dirty="0">
                <a:solidFill>
                  <a:srgbClr val="1A1A1A"/>
                </a:solidFill>
                <a:ea typeface="+mn-lt"/>
                <a:cs typeface="+mn-lt"/>
              </a:rPr>
              <a:t> </a:t>
            </a:r>
            <a:r>
              <a:rPr lang="en-US" sz="1400" dirty="0" err="1">
                <a:solidFill>
                  <a:srgbClr val="1A1A1A"/>
                </a:solidFill>
                <a:ea typeface="+mn-lt"/>
                <a:cs typeface="+mn-lt"/>
              </a:rPr>
              <a:t>ve</a:t>
            </a:r>
            <a:r>
              <a:rPr lang="en-US" sz="1400" dirty="0">
                <a:solidFill>
                  <a:srgbClr val="1A1A1A"/>
                </a:solidFill>
                <a:ea typeface="+mn-lt"/>
                <a:cs typeface="+mn-lt"/>
              </a:rPr>
              <a:t> </a:t>
            </a:r>
            <a:r>
              <a:rPr lang="en-US" sz="1400" dirty="0" err="1">
                <a:solidFill>
                  <a:srgbClr val="1A1A1A"/>
                </a:solidFill>
                <a:ea typeface="+mn-lt"/>
                <a:cs typeface="+mn-lt"/>
              </a:rPr>
              <a:t>kendine</a:t>
            </a:r>
            <a:r>
              <a:rPr lang="en-US" sz="1400" dirty="0">
                <a:solidFill>
                  <a:srgbClr val="1A1A1A"/>
                </a:solidFill>
                <a:ea typeface="+mn-lt"/>
                <a:cs typeface="+mn-lt"/>
              </a:rPr>
              <a:t> </a:t>
            </a:r>
            <a:r>
              <a:rPr lang="en-US" sz="1400" dirty="0" err="1">
                <a:solidFill>
                  <a:srgbClr val="1A1A1A"/>
                </a:solidFill>
                <a:ea typeface="+mn-lt"/>
                <a:cs typeface="+mn-lt"/>
              </a:rPr>
              <a:t>yeterli</a:t>
            </a:r>
            <a:r>
              <a:rPr lang="en-US" sz="1400" dirty="0">
                <a:solidFill>
                  <a:srgbClr val="1A1A1A"/>
                </a:solidFill>
                <a:ea typeface="+mn-lt"/>
                <a:cs typeface="+mn-lt"/>
              </a:rPr>
              <a:t> </a:t>
            </a:r>
            <a:r>
              <a:rPr lang="en-US" sz="1400" dirty="0" err="1">
                <a:solidFill>
                  <a:srgbClr val="1A1A1A"/>
                </a:solidFill>
                <a:ea typeface="+mn-lt"/>
                <a:cs typeface="+mn-lt"/>
              </a:rPr>
              <a:t>bir</a:t>
            </a:r>
            <a:r>
              <a:rPr lang="en-US" sz="1400" dirty="0">
                <a:solidFill>
                  <a:srgbClr val="1A1A1A"/>
                </a:solidFill>
                <a:ea typeface="+mn-lt"/>
                <a:cs typeface="+mn-lt"/>
              </a:rPr>
              <a:t> </a:t>
            </a:r>
            <a:r>
              <a:rPr lang="en-US" sz="1400" dirty="0" err="1">
                <a:solidFill>
                  <a:srgbClr val="1A1A1A"/>
                </a:solidFill>
                <a:ea typeface="+mn-lt"/>
                <a:cs typeface="+mn-lt"/>
              </a:rPr>
              <a:t>yapı</a:t>
            </a:r>
            <a:r>
              <a:rPr lang="en-US" sz="1400" dirty="0">
                <a:solidFill>
                  <a:srgbClr val="1A1A1A"/>
                </a:solidFill>
                <a:ea typeface="+mn-lt"/>
                <a:cs typeface="+mn-lt"/>
              </a:rPr>
              <a:t> </a:t>
            </a:r>
            <a:r>
              <a:rPr lang="en-US" sz="1400" dirty="0" err="1">
                <a:solidFill>
                  <a:srgbClr val="1A1A1A"/>
                </a:solidFill>
                <a:ea typeface="+mn-lt"/>
                <a:cs typeface="+mn-lt"/>
              </a:rPr>
              <a:t>sergilemektedir</a:t>
            </a:r>
            <a:r>
              <a:rPr lang="en-US" sz="1400" dirty="0">
                <a:solidFill>
                  <a:srgbClr val="1A1A1A"/>
                </a:solidFill>
                <a:ea typeface="+mn-lt"/>
                <a:cs typeface="+mn-lt"/>
              </a:rPr>
              <a:t> (%95’in </a:t>
            </a:r>
            <a:r>
              <a:rPr lang="en-US" sz="1400" dirty="0" err="1">
                <a:solidFill>
                  <a:srgbClr val="1A1A1A"/>
                </a:solidFill>
                <a:ea typeface="+mn-lt"/>
                <a:cs typeface="+mn-lt"/>
              </a:rPr>
              <a:t>üzerinde</a:t>
            </a:r>
            <a:r>
              <a:rPr lang="en-US" sz="1400" dirty="0">
                <a:solidFill>
                  <a:srgbClr val="1A1A1A"/>
                </a:solidFill>
                <a:ea typeface="+mn-lt"/>
                <a:cs typeface="+mn-lt"/>
              </a:rPr>
              <a:t>). Buna </a:t>
            </a:r>
            <a:r>
              <a:rPr lang="en-US" sz="1400" dirty="0" err="1">
                <a:solidFill>
                  <a:srgbClr val="1A1A1A"/>
                </a:solidFill>
                <a:ea typeface="+mn-lt"/>
                <a:cs typeface="+mn-lt"/>
              </a:rPr>
              <a:t>karşılık</a:t>
            </a:r>
            <a:r>
              <a:rPr lang="en-US" sz="1400" dirty="0">
                <a:solidFill>
                  <a:srgbClr val="1A1A1A"/>
                </a:solidFill>
                <a:ea typeface="+mn-lt"/>
                <a:cs typeface="+mn-lt"/>
              </a:rPr>
              <a:t> </a:t>
            </a:r>
            <a:r>
              <a:rPr lang="en-US" sz="1400" dirty="0" err="1">
                <a:solidFill>
                  <a:srgbClr val="1A1A1A"/>
                </a:solidFill>
                <a:ea typeface="+mn-lt"/>
                <a:cs typeface="+mn-lt"/>
              </a:rPr>
              <a:t>sosyal</a:t>
            </a:r>
            <a:r>
              <a:rPr lang="en-US" sz="1400" dirty="0">
                <a:solidFill>
                  <a:srgbClr val="1A1A1A"/>
                </a:solidFill>
                <a:ea typeface="+mn-lt"/>
                <a:cs typeface="+mn-lt"/>
              </a:rPr>
              <a:t> </a:t>
            </a:r>
            <a:r>
              <a:rPr lang="en-US" sz="1400" dirty="0" err="1">
                <a:solidFill>
                  <a:srgbClr val="1A1A1A"/>
                </a:solidFill>
                <a:ea typeface="+mn-lt"/>
                <a:cs typeface="+mn-lt"/>
              </a:rPr>
              <a:t>tesis</a:t>
            </a:r>
            <a:r>
              <a:rPr lang="en-US" sz="1400" dirty="0">
                <a:solidFill>
                  <a:srgbClr val="1A1A1A"/>
                </a:solidFill>
                <a:ea typeface="+mn-lt"/>
                <a:cs typeface="+mn-lt"/>
              </a:rPr>
              <a:t> </a:t>
            </a:r>
            <a:r>
              <a:rPr lang="en-US" sz="1400" dirty="0" err="1">
                <a:solidFill>
                  <a:srgbClr val="1A1A1A"/>
                </a:solidFill>
                <a:ea typeface="+mn-lt"/>
                <a:cs typeface="+mn-lt"/>
              </a:rPr>
              <a:t>ihtiyacı</a:t>
            </a:r>
            <a:r>
              <a:rPr lang="en-US" sz="1400" dirty="0">
                <a:solidFill>
                  <a:srgbClr val="1A1A1A"/>
                </a:solidFill>
                <a:ea typeface="+mn-lt"/>
                <a:cs typeface="+mn-lt"/>
              </a:rPr>
              <a:t>, </a:t>
            </a:r>
            <a:r>
              <a:rPr lang="en-US" sz="1400" dirty="0" err="1">
                <a:solidFill>
                  <a:srgbClr val="1A1A1A"/>
                </a:solidFill>
                <a:ea typeface="+mn-lt"/>
                <a:cs typeface="+mn-lt"/>
              </a:rPr>
              <a:t>illerin</a:t>
            </a:r>
            <a:r>
              <a:rPr lang="en-US" sz="1400" dirty="0">
                <a:solidFill>
                  <a:srgbClr val="1A1A1A"/>
                </a:solidFill>
                <a:ea typeface="+mn-lt"/>
                <a:cs typeface="+mn-lt"/>
              </a:rPr>
              <a:t> </a:t>
            </a:r>
            <a:r>
              <a:rPr lang="en-US" sz="1400" dirty="0" err="1">
                <a:solidFill>
                  <a:srgbClr val="1A1A1A"/>
                </a:solidFill>
                <a:ea typeface="+mn-lt"/>
                <a:cs typeface="+mn-lt"/>
              </a:rPr>
              <a:t>tamamında</a:t>
            </a:r>
            <a:r>
              <a:rPr lang="en-US" sz="1400" dirty="0">
                <a:solidFill>
                  <a:srgbClr val="1A1A1A"/>
                </a:solidFill>
                <a:ea typeface="+mn-lt"/>
                <a:cs typeface="+mn-lt"/>
              </a:rPr>
              <a:t> </a:t>
            </a:r>
            <a:r>
              <a:rPr lang="en-US" sz="1400" dirty="0" err="1">
                <a:solidFill>
                  <a:srgbClr val="1A1A1A"/>
                </a:solidFill>
                <a:ea typeface="+mn-lt"/>
                <a:cs typeface="+mn-lt"/>
              </a:rPr>
              <a:t>ortak</a:t>
            </a:r>
            <a:r>
              <a:rPr lang="en-US" sz="1400" dirty="0">
                <a:solidFill>
                  <a:srgbClr val="1A1A1A"/>
                </a:solidFill>
                <a:ea typeface="+mn-lt"/>
                <a:cs typeface="+mn-lt"/>
              </a:rPr>
              <a:t> </a:t>
            </a:r>
            <a:r>
              <a:rPr lang="en-US" sz="1400" dirty="0" err="1">
                <a:solidFill>
                  <a:srgbClr val="1A1A1A"/>
                </a:solidFill>
                <a:ea typeface="+mn-lt"/>
                <a:cs typeface="+mn-lt"/>
              </a:rPr>
              <a:t>ve</a:t>
            </a:r>
            <a:r>
              <a:rPr lang="en-US" sz="1400" dirty="0">
                <a:solidFill>
                  <a:srgbClr val="1A1A1A"/>
                </a:solidFill>
                <a:ea typeface="+mn-lt"/>
                <a:cs typeface="+mn-lt"/>
              </a:rPr>
              <a:t> </a:t>
            </a:r>
            <a:r>
              <a:rPr lang="en-US" sz="1400" dirty="0" err="1">
                <a:solidFill>
                  <a:srgbClr val="1A1A1A"/>
                </a:solidFill>
                <a:ea typeface="+mn-lt"/>
                <a:cs typeface="+mn-lt"/>
              </a:rPr>
              <a:t>baskın</a:t>
            </a:r>
            <a:r>
              <a:rPr lang="en-US" sz="1400" dirty="0">
                <a:solidFill>
                  <a:srgbClr val="1A1A1A"/>
                </a:solidFill>
                <a:ea typeface="+mn-lt"/>
                <a:cs typeface="+mn-lt"/>
              </a:rPr>
              <a:t> </a:t>
            </a:r>
            <a:r>
              <a:rPr lang="en-US" sz="1400" dirty="0" err="1">
                <a:solidFill>
                  <a:srgbClr val="1A1A1A"/>
                </a:solidFill>
                <a:ea typeface="+mn-lt"/>
                <a:cs typeface="+mn-lt"/>
              </a:rPr>
              <a:t>bir</a:t>
            </a:r>
            <a:r>
              <a:rPr lang="en-US" sz="1400" dirty="0">
                <a:solidFill>
                  <a:srgbClr val="1A1A1A"/>
                </a:solidFill>
                <a:ea typeface="+mn-lt"/>
                <a:cs typeface="+mn-lt"/>
              </a:rPr>
              <a:t> </a:t>
            </a:r>
            <a:r>
              <a:rPr lang="en-US" sz="1400" dirty="0" err="1">
                <a:solidFill>
                  <a:srgbClr val="1A1A1A"/>
                </a:solidFill>
                <a:ea typeface="+mn-lt"/>
                <a:cs typeface="+mn-lt"/>
              </a:rPr>
              <a:t>talep</a:t>
            </a:r>
            <a:r>
              <a:rPr lang="en-US" sz="1400" dirty="0">
                <a:solidFill>
                  <a:srgbClr val="1A1A1A"/>
                </a:solidFill>
                <a:ea typeface="+mn-lt"/>
                <a:cs typeface="+mn-lt"/>
              </a:rPr>
              <a:t> </a:t>
            </a:r>
            <a:r>
              <a:rPr lang="en-US" sz="1400" dirty="0" err="1">
                <a:solidFill>
                  <a:srgbClr val="1A1A1A"/>
                </a:solidFill>
                <a:ea typeface="+mn-lt"/>
                <a:cs typeface="+mn-lt"/>
              </a:rPr>
              <a:t>olarak</a:t>
            </a:r>
            <a:r>
              <a:rPr lang="en-US" sz="1400" dirty="0">
                <a:solidFill>
                  <a:srgbClr val="1A1A1A"/>
                </a:solidFill>
                <a:ea typeface="+mn-lt"/>
                <a:cs typeface="+mn-lt"/>
              </a:rPr>
              <a:t> </a:t>
            </a:r>
            <a:r>
              <a:rPr lang="en-US" sz="1400" dirty="0" err="1">
                <a:solidFill>
                  <a:srgbClr val="1A1A1A"/>
                </a:solidFill>
                <a:ea typeface="+mn-lt"/>
                <a:cs typeface="+mn-lt"/>
              </a:rPr>
              <a:t>öne</a:t>
            </a:r>
            <a:r>
              <a:rPr lang="en-US" sz="1400" dirty="0">
                <a:solidFill>
                  <a:srgbClr val="1A1A1A"/>
                </a:solidFill>
                <a:ea typeface="+mn-lt"/>
                <a:cs typeface="+mn-lt"/>
              </a:rPr>
              <a:t> </a:t>
            </a:r>
            <a:r>
              <a:rPr lang="en-US" sz="1400" dirty="0" err="1">
                <a:solidFill>
                  <a:srgbClr val="1A1A1A"/>
                </a:solidFill>
                <a:ea typeface="+mn-lt"/>
                <a:cs typeface="+mn-lt"/>
              </a:rPr>
              <a:t>çıkmaktadır</a:t>
            </a:r>
            <a:r>
              <a:rPr lang="en-US" sz="1400" dirty="0">
                <a:solidFill>
                  <a:srgbClr val="1A1A1A"/>
                </a:solidFill>
                <a:ea typeface="+mn-lt"/>
                <a:cs typeface="+mn-lt"/>
              </a:rPr>
              <a:t>.</a:t>
            </a:r>
            <a:endParaRPr lang="en-US" sz="1400" dirty="0">
              <a:ea typeface="+mn-lt"/>
              <a:cs typeface="+mn-lt"/>
            </a:endParaRPr>
          </a:p>
        </p:txBody>
      </p:sp>
      <p:sp>
        <p:nvSpPr>
          <p:cNvPr id="10" name="Text 7"/>
          <p:cNvSpPr/>
          <p:nvPr/>
        </p:nvSpPr>
        <p:spPr>
          <a:xfrm>
            <a:off x="457200" y="6468051"/>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14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assets/tmpl_content_bg.jpg"/>
          <p:cNvPicPr>
            <a:picLocks noChangeAspect="1"/>
          </p:cNvPicPr>
          <p:nvPr/>
        </p:nvPicPr>
        <p:blipFill>
          <a:blip r:embed="rId2"/>
          <a:stretch>
            <a:fillRect/>
          </a:stretch>
        </p:blipFill>
        <p:spPr>
          <a:xfrm>
            <a:off x="0" y="0"/>
            <a:ext cx="12188952" cy="6858000"/>
          </a:xfrm>
          <a:prstGeom prst="rect">
            <a:avLst/>
          </a:prstGeom>
        </p:spPr>
      </p:pic>
      <p:sp>
        <p:nvSpPr>
          <p:cNvPr id="3" name="Text 0"/>
          <p:cNvSpPr/>
          <p:nvPr/>
        </p:nvSpPr>
        <p:spPr>
          <a:xfrm>
            <a:off x="3246120" y="256032"/>
            <a:ext cx="8595360" cy="731520"/>
          </a:xfrm>
          <a:prstGeom prst="rect">
            <a:avLst/>
          </a:prstGeom>
          <a:noFill/>
          <a:ln/>
        </p:spPr>
        <p:txBody>
          <a:bodyPr wrap="square" lIns="91440" tIns="45720" rIns="91440" bIns="45720" rtlCol="0" anchor="ctr"/>
          <a:lstStyle/>
          <a:p>
            <a:pPr marL="0" indent="0" algn="l">
              <a:buNone/>
            </a:pPr>
            <a:r>
              <a:rPr lang="en-US" sz="2400" b="1" dirty="0">
                <a:solidFill>
                  <a:srgbClr val="FFFFFF"/>
                </a:solidFill>
                <a:latin typeface="Times New Roman"/>
                <a:ea typeface="Times New Roman" pitchFamily="34" charset="-122"/>
                <a:cs typeface="Times New Roman"/>
              </a:rPr>
              <a:t>Politika </a:t>
            </a:r>
            <a:r>
              <a:rPr lang="en-US" sz="2400" b="1" dirty="0" err="1">
                <a:solidFill>
                  <a:srgbClr val="FFFFFF"/>
                </a:solidFill>
                <a:latin typeface="Times New Roman"/>
                <a:ea typeface="Times New Roman" pitchFamily="34" charset="-122"/>
                <a:cs typeface="Times New Roman"/>
              </a:rPr>
              <a:t>Önerileri</a:t>
            </a:r>
            <a:endParaRPr lang="en-US" sz="2400" dirty="0" err="1">
              <a:latin typeface="Times New Roman"/>
              <a:cs typeface="Times New Roman"/>
            </a:endParaRPr>
          </a:p>
        </p:txBody>
      </p:sp>
      <p:sp>
        <p:nvSpPr>
          <p:cNvPr id="4" name="Text 1"/>
          <p:cNvSpPr/>
          <p:nvPr/>
        </p:nvSpPr>
        <p:spPr>
          <a:xfrm>
            <a:off x="914400" y="1508760"/>
            <a:ext cx="10332720" cy="594360"/>
          </a:xfrm>
          <a:prstGeom prst="rect">
            <a:avLst/>
          </a:prstGeom>
          <a:noFill/>
          <a:ln/>
        </p:spPr>
        <p:txBody>
          <a:bodyPr wrap="square" lIns="91440" tIns="45720" rIns="91440" bIns="45720" rtlCol="0" anchor="ctr"/>
          <a:lstStyle/>
          <a:p>
            <a:pPr marL="0" indent="0" algn="just">
              <a:lnSpc>
                <a:spcPct val="115000"/>
              </a:lnSpc>
              <a:buNone/>
            </a:pPr>
            <a:r>
              <a:rPr lang="en-US" sz="1400" dirty="0">
                <a:solidFill>
                  <a:srgbClr val="1A1A1A"/>
                </a:solidFill>
                <a:latin typeface="Times New Roman" pitchFamily="34" charset="0"/>
                <a:ea typeface="Times New Roman" pitchFamily="34" charset="-122"/>
                <a:cs typeface="Times New Roman" pitchFamily="34" charset="-120"/>
              </a:rPr>
              <a:t>•  Su yoksunluğu ve girdi maliyeti bölgenin ortak tarımsal riski: sulama altyapısı yatırımları ve girdi-maliyeti destekleri üç il için birlikte önceliklendirilebilir.</a:t>
            </a:r>
            <a:endParaRPr lang="en-US" sz="1400" dirty="0">
              <a:ea typeface="Calibri" panose="020F0502020204030204"/>
              <a:cs typeface="Calibri" panose="020F0502020204030204"/>
            </a:endParaRPr>
          </a:p>
        </p:txBody>
      </p:sp>
      <p:sp>
        <p:nvSpPr>
          <p:cNvPr id="5" name="Text 2"/>
          <p:cNvSpPr/>
          <p:nvPr/>
        </p:nvSpPr>
        <p:spPr>
          <a:xfrm>
            <a:off x="914400" y="2167128"/>
            <a:ext cx="10332720" cy="594360"/>
          </a:xfrm>
          <a:prstGeom prst="rect">
            <a:avLst/>
          </a:prstGeom>
          <a:noFill/>
          <a:ln/>
        </p:spPr>
        <p:txBody>
          <a:bodyPr wrap="square" lIns="91440" tIns="45720" rIns="91440" bIns="45720" rtlCol="0" anchor="ctr"/>
          <a:lstStyle/>
          <a:p>
            <a:pPr marL="0" indent="0" algn="just">
              <a:lnSpc>
                <a:spcPct val="115000"/>
              </a:lnSpc>
              <a:buNone/>
            </a:pPr>
            <a:r>
              <a:rPr lang="en-US" sz="1400" dirty="0">
                <a:solidFill>
                  <a:srgbClr val="1A1A1A"/>
                </a:solidFill>
                <a:latin typeface="Times New Roman" pitchFamily="34" charset="0"/>
                <a:ea typeface="Times New Roman" pitchFamily="34" charset="-122"/>
                <a:cs typeface="Times New Roman" pitchFamily="34" charset="-120"/>
              </a:rPr>
              <a:t>•  İl bazında öne çıkan altyapı sorunları (Şanlıurfa: elektrik, Gaziantep: yol, Kilis: içme suyu) hedefli, o ile özgü yatırım planlarıyla ele alınabilir.</a:t>
            </a:r>
            <a:endParaRPr lang="en-US" sz="1400" dirty="0">
              <a:ea typeface="Calibri" panose="020F0502020204030204"/>
              <a:cs typeface="Calibri" panose="020F0502020204030204"/>
            </a:endParaRPr>
          </a:p>
        </p:txBody>
      </p:sp>
      <p:sp>
        <p:nvSpPr>
          <p:cNvPr id="6" name="Text 3"/>
          <p:cNvSpPr/>
          <p:nvPr/>
        </p:nvSpPr>
        <p:spPr>
          <a:xfrm>
            <a:off x="914400" y="2825496"/>
            <a:ext cx="10332720" cy="594360"/>
          </a:xfrm>
          <a:prstGeom prst="rect">
            <a:avLst/>
          </a:prstGeom>
          <a:noFill/>
          <a:ln/>
        </p:spPr>
        <p:txBody>
          <a:bodyPr wrap="square" lIns="91440" tIns="45720" rIns="91440" bIns="45720" rtlCol="0" anchor="ctr"/>
          <a:lstStyle/>
          <a:p>
            <a:pPr marL="0" indent="0" algn="just">
              <a:lnSpc>
                <a:spcPct val="115000"/>
              </a:lnSpc>
              <a:buNone/>
            </a:pPr>
            <a:r>
              <a:rPr lang="en-US" sz="1400" dirty="0">
                <a:solidFill>
                  <a:srgbClr val="1A1A1A"/>
                </a:solidFill>
                <a:latin typeface="Times New Roman" pitchFamily="34" charset="0"/>
                <a:ea typeface="Times New Roman" pitchFamily="34" charset="-122"/>
                <a:cs typeface="Times New Roman" pitchFamily="34" charset="-120"/>
              </a:rPr>
              <a:t>•  Gençlerin tarımdaki payının belirgin biçimde azalması ve mevsimlik iş gücü göçü, genç istihdamını tarımda tutacak teşvik ve eğitim programlarını gerekli kılıyor.</a:t>
            </a:r>
            <a:endParaRPr lang="en-US" sz="1400" dirty="0"/>
          </a:p>
        </p:txBody>
      </p:sp>
      <p:sp>
        <p:nvSpPr>
          <p:cNvPr id="7" name="Text 4"/>
          <p:cNvSpPr/>
          <p:nvPr/>
        </p:nvSpPr>
        <p:spPr>
          <a:xfrm>
            <a:off x="914400" y="3483864"/>
            <a:ext cx="10332720" cy="594360"/>
          </a:xfrm>
          <a:prstGeom prst="rect">
            <a:avLst/>
          </a:prstGeom>
          <a:noFill/>
          <a:ln/>
        </p:spPr>
        <p:txBody>
          <a:bodyPr wrap="square" lIns="91440" tIns="45720" rIns="91440" bIns="45720" rtlCol="0" anchor="ctr"/>
          <a:lstStyle/>
          <a:p>
            <a:pPr marL="0" indent="0" algn="just">
              <a:lnSpc>
                <a:spcPct val="115000"/>
              </a:lnSpc>
              <a:buNone/>
            </a:pPr>
            <a:r>
              <a:rPr lang="en-US" sz="1400" dirty="0">
                <a:solidFill>
                  <a:srgbClr val="1A1A1A"/>
                </a:solidFill>
                <a:latin typeface="Times New Roman" pitchFamily="34" charset="0"/>
                <a:ea typeface="Times New Roman" pitchFamily="34" charset="-122"/>
                <a:cs typeface="Times New Roman" pitchFamily="34" charset="-120"/>
              </a:rPr>
              <a:t>•  Sağlık ve üst kademe eğitim hizmetlerinin ilçe merkezlerine yoğun bağımlılığı, kademelenme temelli hizmet erişimi planlamasını (hangi köyün hangi merkeze bağlanacağı) önceliklendirmeyi gerektiriyor.</a:t>
            </a:r>
            <a:endParaRPr lang="en-US" sz="1400" dirty="0">
              <a:ea typeface="Calibri" panose="020F0502020204030204"/>
              <a:cs typeface="Calibri" panose="020F0502020204030204"/>
            </a:endParaRPr>
          </a:p>
        </p:txBody>
      </p:sp>
      <p:sp>
        <p:nvSpPr>
          <p:cNvPr id="8" name="Text 5"/>
          <p:cNvSpPr/>
          <p:nvPr/>
        </p:nvSpPr>
        <p:spPr>
          <a:xfrm>
            <a:off x="914400" y="4142232"/>
            <a:ext cx="10332720" cy="594360"/>
          </a:xfrm>
          <a:prstGeom prst="rect">
            <a:avLst/>
          </a:prstGeom>
          <a:noFill/>
          <a:ln/>
        </p:spPr>
        <p:txBody>
          <a:bodyPr wrap="square" lIns="91440" tIns="45720" rIns="91440" bIns="45720" rtlCol="0" anchor="ctr"/>
          <a:lstStyle/>
          <a:p>
            <a:pPr algn="just">
              <a:lnSpc>
                <a:spcPct val="115000"/>
              </a:lnSpc>
            </a:pP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Sosyal</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tesis</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talebinin</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mn-lt"/>
                <a:cs typeface="Times New Roman"/>
              </a:rPr>
              <a:t>b</a:t>
            </a:r>
            <a:r>
              <a:rPr lang="en-US" sz="1400" dirty="0" err="1">
                <a:solidFill>
                  <a:srgbClr val="1A1A1A"/>
                </a:solidFill>
                <a:ea typeface="+mn-lt"/>
                <a:cs typeface="+mn-lt"/>
              </a:rPr>
              <a:t>üyük</a:t>
            </a:r>
            <a:r>
              <a:rPr lang="en-US" sz="1400" dirty="0">
                <a:solidFill>
                  <a:srgbClr val="1A1A1A"/>
                </a:solidFill>
                <a:ea typeface="+mn-lt"/>
                <a:cs typeface="+mn-lt"/>
              </a:rPr>
              <a:t> </a:t>
            </a:r>
            <a:r>
              <a:rPr lang="en-US" sz="1400" dirty="0" err="1">
                <a:solidFill>
                  <a:srgbClr val="1A1A1A"/>
                </a:solidFill>
                <a:ea typeface="+mn-lt"/>
                <a:cs typeface="+mn-lt"/>
              </a:rPr>
              <a:t>bir</a:t>
            </a:r>
            <a:r>
              <a:rPr lang="en-US" sz="1400" dirty="0">
                <a:solidFill>
                  <a:srgbClr val="1A1A1A"/>
                </a:solidFill>
                <a:ea typeface="+mn-lt"/>
                <a:cs typeface="+mn-lt"/>
              </a:rPr>
              <a:t> </a:t>
            </a:r>
            <a:r>
              <a:rPr lang="en-US" sz="1400" dirty="0" err="1">
                <a:solidFill>
                  <a:srgbClr val="1A1A1A"/>
                </a:solidFill>
                <a:ea typeface="+mn-lt"/>
                <a:cs typeface="+mn-lt"/>
              </a:rPr>
              <a:t>çoğunlukta</a:t>
            </a:r>
            <a:r>
              <a:rPr lang="en-US" sz="1400" dirty="0">
                <a:solidFill>
                  <a:srgbClr val="1A1A1A"/>
                </a:solidFill>
                <a:latin typeface="Calibri"/>
                <a:ea typeface="Calibri"/>
                <a:cs typeface="Calibri"/>
              </a:rPr>
              <a:t> </a:t>
            </a:r>
            <a:r>
              <a:rPr lang="en-US" sz="1400" dirty="0" err="1">
                <a:solidFill>
                  <a:srgbClr val="1A1A1A"/>
                </a:solidFill>
                <a:latin typeface="Calibri"/>
                <a:ea typeface="Calibri"/>
                <a:cs typeface="Calibri"/>
              </a:rPr>
              <a:t>olması</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görece</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düşük</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maliyetli</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çocuk</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parkı</a:t>
            </a:r>
            <a:r>
              <a:rPr lang="en-US" sz="1400" dirty="0">
                <a:solidFill>
                  <a:srgbClr val="1A1A1A"/>
                </a:solidFill>
                <a:latin typeface="Times New Roman"/>
                <a:ea typeface="Times New Roman" pitchFamily="34" charset="-122"/>
                <a:cs typeface="Times New Roman"/>
              </a:rPr>
              <a:t>/</a:t>
            </a:r>
            <a:r>
              <a:rPr lang="en-US" sz="1400" dirty="0" err="1">
                <a:solidFill>
                  <a:srgbClr val="1A1A1A"/>
                </a:solidFill>
                <a:latin typeface="Times New Roman"/>
                <a:ea typeface="Times New Roman" pitchFamily="34" charset="-122"/>
                <a:cs typeface="Times New Roman"/>
              </a:rPr>
              <a:t>spor</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sahası</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gibi</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yatırımların</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hızlı</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ve</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yaygın</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memnuniyet</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etkisi</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yaratabileceğini</a:t>
            </a:r>
            <a:r>
              <a:rPr lang="en-US" sz="1400" dirty="0">
                <a:solidFill>
                  <a:srgbClr val="1A1A1A"/>
                </a:solidFill>
                <a:latin typeface="Times New Roman"/>
                <a:ea typeface="Times New Roman" pitchFamily="34" charset="-122"/>
                <a:cs typeface="Times New Roman"/>
              </a:rPr>
              <a:t> </a:t>
            </a:r>
            <a:r>
              <a:rPr lang="en-US" sz="1400" dirty="0" err="1">
                <a:solidFill>
                  <a:srgbClr val="1A1A1A"/>
                </a:solidFill>
                <a:latin typeface="Times New Roman"/>
                <a:ea typeface="Times New Roman" pitchFamily="34" charset="-122"/>
                <a:cs typeface="Times New Roman"/>
              </a:rPr>
              <a:t>gösteriyor</a:t>
            </a:r>
            <a:r>
              <a:rPr lang="en-US" sz="1400" dirty="0">
                <a:solidFill>
                  <a:srgbClr val="1A1A1A"/>
                </a:solidFill>
                <a:latin typeface="Times New Roman"/>
                <a:ea typeface="Times New Roman" pitchFamily="34" charset="-122"/>
                <a:cs typeface="Times New Roman"/>
              </a:rPr>
              <a:t>.</a:t>
            </a:r>
            <a:endParaRPr lang="en-US" sz="1400" dirty="0">
              <a:latin typeface="Times New Roman"/>
              <a:cs typeface="Times New Roman"/>
            </a:endParaRPr>
          </a:p>
        </p:txBody>
      </p:sp>
      <p:sp>
        <p:nvSpPr>
          <p:cNvPr id="9" name="Text 6"/>
          <p:cNvSpPr/>
          <p:nvPr/>
        </p:nvSpPr>
        <p:spPr>
          <a:xfrm>
            <a:off x="914400" y="4800600"/>
            <a:ext cx="10332720" cy="594360"/>
          </a:xfrm>
          <a:prstGeom prst="rect">
            <a:avLst/>
          </a:prstGeom>
          <a:noFill/>
          <a:ln/>
        </p:spPr>
        <p:txBody>
          <a:bodyPr wrap="square" lIns="91440" tIns="45720" rIns="91440" bIns="45720" rtlCol="0" anchor="ctr"/>
          <a:lstStyle/>
          <a:p>
            <a:pPr marL="0" indent="0" algn="just">
              <a:lnSpc>
                <a:spcPct val="115000"/>
              </a:lnSpc>
              <a:buNone/>
            </a:pPr>
            <a:r>
              <a:rPr lang="en-US" sz="1400" dirty="0">
                <a:solidFill>
                  <a:srgbClr val="1A1A1A"/>
                </a:solidFill>
                <a:latin typeface="Times New Roman" pitchFamily="34" charset="0"/>
                <a:ea typeface="Times New Roman" pitchFamily="34" charset="-122"/>
                <a:cs typeface="Times New Roman" pitchFamily="34" charset="-120"/>
              </a:rPr>
              <a:t>•  Temel ihtiyaçlarda yüksek il-içi kendine yeterlilik, yerel tedarik zincirlerini güçlendirecek destek programlarının bölge ekonomisini büyütme potansiyeline işaret ediyor.</a:t>
            </a:r>
            <a:endParaRPr lang="en-US" sz="1400" dirty="0">
              <a:ea typeface="Calibri" panose="020F0502020204030204"/>
              <a:cs typeface="Calibri" panose="020F0502020204030204"/>
            </a:endParaRPr>
          </a:p>
        </p:txBody>
      </p:sp>
      <p:sp>
        <p:nvSpPr>
          <p:cNvPr id="10" name="Text 7"/>
          <p:cNvSpPr/>
          <p:nvPr/>
        </p:nvSpPr>
        <p:spPr>
          <a:xfrm>
            <a:off x="457200" y="6537960"/>
            <a:ext cx="5486400" cy="274320"/>
          </a:xfrm>
          <a:prstGeom prst="rect">
            <a:avLst/>
          </a:prstGeom>
          <a:noFill/>
          <a:ln/>
        </p:spPr>
        <p:txBody>
          <a:bodyPr wrap="square" rtlCol="0" anchor="ctr"/>
          <a:lstStyle/>
          <a:p>
            <a:pPr marL="0" indent="0">
              <a:buNone/>
            </a:pPr>
            <a:r>
              <a:rPr lang="en-US" sz="850" dirty="0">
                <a:solidFill>
                  <a:srgbClr val="595959"/>
                </a:solidFill>
                <a:latin typeface="Times New Roman" pitchFamily="34" charset="0"/>
                <a:ea typeface="Times New Roman" pitchFamily="34" charset="-122"/>
                <a:cs typeface="Times New Roman" pitchFamily="34" charset="-120"/>
              </a:rPr>
              <a:t>YER-SİS Anket Verileri — Sayfa 15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assets/tmpl_cover_bg.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700" y="2793814"/>
            <a:ext cx="12187803" cy="640080"/>
          </a:xfrm>
          <a:prstGeom prst="rect">
            <a:avLst/>
          </a:prstGeom>
          <a:noFill/>
          <a:ln/>
        </p:spPr>
        <p:txBody>
          <a:bodyPr wrap="square" lIns="91440" tIns="45720" rIns="91440" bIns="45720" rtlCol="0" anchor="ctr"/>
          <a:lstStyle/>
          <a:p>
            <a:pPr marL="0" indent="0" algn="ctr">
              <a:buNone/>
            </a:pPr>
            <a:r>
              <a:rPr lang="en-US" sz="3200" b="1" dirty="0">
                <a:solidFill>
                  <a:srgbClr val="FFFFFF"/>
                </a:solidFill>
                <a:latin typeface="Times New Roman"/>
                <a:ea typeface="Times New Roman" pitchFamily="34" charset="-122"/>
                <a:cs typeface="Times New Roman"/>
              </a:rPr>
              <a:t>Teşekkürler</a:t>
            </a:r>
            <a:endParaRPr lang="en-US" sz="3200" dirty="0">
              <a:latin typeface="Times New Roman"/>
              <a:ea typeface="Calibri" panose="020F0502020204030204"/>
              <a:cs typeface="Times New Roman"/>
            </a:endParaRPr>
          </a:p>
        </p:txBody>
      </p:sp>
      <p:sp>
        <p:nvSpPr>
          <p:cNvPr id="4" name="Text 1"/>
          <p:cNvSpPr/>
          <p:nvPr/>
        </p:nvSpPr>
        <p:spPr>
          <a:xfrm>
            <a:off x="-4313" y="3794760"/>
            <a:ext cx="12203502" cy="557841"/>
          </a:xfrm>
          <a:prstGeom prst="rect">
            <a:avLst/>
          </a:prstGeom>
          <a:noFill/>
          <a:ln/>
        </p:spPr>
        <p:txBody>
          <a:bodyPr wrap="square" lIns="91440" tIns="45720" rIns="91440" bIns="45720" rtlCol="0" anchor="ctr"/>
          <a:lstStyle/>
          <a:p>
            <a:pPr algn="ctr"/>
            <a:r>
              <a:rPr lang="en-US" sz="3000" dirty="0">
                <a:solidFill>
                  <a:srgbClr val="D8E0F0"/>
                </a:solidFill>
                <a:latin typeface="Times New Roman"/>
                <a:ea typeface="Calibri"/>
                <a:cs typeface="Times New Roman"/>
              </a:rPr>
              <a:t>Arz </a:t>
            </a:r>
            <a:r>
              <a:rPr lang="en-US" sz="3000" dirty="0" err="1">
                <a:solidFill>
                  <a:srgbClr val="D8E0F0"/>
                </a:solidFill>
                <a:latin typeface="Times New Roman"/>
                <a:ea typeface="Calibri"/>
                <a:cs typeface="Times New Roman"/>
              </a:rPr>
              <a:t>ederim</a:t>
            </a:r>
            <a:r>
              <a:rPr lang="en-US" sz="3000" dirty="0">
                <a:solidFill>
                  <a:srgbClr val="D8E0F0"/>
                </a:solidFill>
                <a:latin typeface="Times New Roman"/>
                <a:ea typeface="Calibri"/>
                <a:cs typeface="Times New Roman"/>
              </a:rPr>
              <a:t>.</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17</Slides>
  <Notes>15</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278</cp:revision>
  <dcterms:created xsi:type="dcterms:W3CDTF">2026-09-14T06:46:16Z</dcterms:created>
  <dcterms:modified xsi:type="dcterms:W3CDTF">2026-09-17T20:29:05Z</dcterms:modified>
</cp:coreProperties>
</file>